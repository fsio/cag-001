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2"/>
  </p:notesMasterIdLst>
  <p:sldIdLst>
    <p:sldId id="257" r:id="rId2"/>
    <p:sldId id="484" r:id="rId3"/>
    <p:sldId id="671" r:id="rId4"/>
    <p:sldId id="672" r:id="rId5"/>
    <p:sldId id="673" r:id="rId6"/>
    <p:sldId id="485" r:id="rId7"/>
    <p:sldId id="677" r:id="rId8"/>
    <p:sldId id="679" r:id="rId9"/>
    <p:sldId id="681" r:id="rId10"/>
    <p:sldId id="682" r:id="rId11"/>
    <p:sldId id="683" r:id="rId12"/>
    <p:sldId id="714" r:id="rId13"/>
    <p:sldId id="715" r:id="rId14"/>
    <p:sldId id="716" r:id="rId15"/>
    <p:sldId id="717" r:id="rId16"/>
    <p:sldId id="718" r:id="rId17"/>
    <p:sldId id="719" r:id="rId18"/>
    <p:sldId id="720" r:id="rId19"/>
    <p:sldId id="722" r:id="rId20"/>
    <p:sldId id="744" r:id="rId21"/>
    <p:sldId id="745" r:id="rId22"/>
    <p:sldId id="746" r:id="rId23"/>
    <p:sldId id="747" r:id="rId24"/>
    <p:sldId id="748" r:id="rId25"/>
    <p:sldId id="749" r:id="rId26"/>
    <p:sldId id="750" r:id="rId27"/>
    <p:sldId id="751" r:id="rId28"/>
    <p:sldId id="752" r:id="rId29"/>
    <p:sldId id="812" r:id="rId30"/>
    <p:sldId id="753" r:id="rId31"/>
    <p:sldId id="754" r:id="rId32"/>
    <p:sldId id="758" r:id="rId33"/>
    <p:sldId id="813" r:id="rId34"/>
    <p:sldId id="810" r:id="rId35"/>
    <p:sldId id="772" r:id="rId36"/>
    <p:sldId id="773" r:id="rId37"/>
    <p:sldId id="774" r:id="rId38"/>
    <p:sldId id="775" r:id="rId39"/>
    <p:sldId id="777" r:id="rId40"/>
    <p:sldId id="778" r:id="rId41"/>
    <p:sldId id="784" r:id="rId42"/>
    <p:sldId id="788" r:id="rId43"/>
    <p:sldId id="687" r:id="rId44"/>
    <p:sldId id="688" r:id="rId45"/>
    <p:sldId id="689" r:id="rId46"/>
    <p:sldId id="789" r:id="rId47"/>
    <p:sldId id="790" r:id="rId48"/>
    <p:sldId id="676" r:id="rId49"/>
    <p:sldId id="668" r:id="rId50"/>
    <p:sldId id="796" r:id="rId51"/>
    <p:sldId id="797" r:id="rId52"/>
    <p:sldId id="802" r:id="rId53"/>
    <p:sldId id="804" r:id="rId54"/>
    <p:sldId id="669" r:id="rId55"/>
    <p:sldId id="879" r:id="rId56"/>
    <p:sldId id="808" r:id="rId57"/>
    <p:sldId id="818" r:id="rId58"/>
    <p:sldId id="821" r:id="rId59"/>
    <p:sldId id="822" r:id="rId60"/>
    <p:sldId id="823" r:id="rId61"/>
    <p:sldId id="824" r:id="rId62"/>
    <p:sldId id="825" r:id="rId63"/>
    <p:sldId id="826" r:id="rId64"/>
    <p:sldId id="828" r:id="rId65"/>
    <p:sldId id="829" r:id="rId66"/>
    <p:sldId id="830" r:id="rId67"/>
    <p:sldId id="831" r:id="rId68"/>
    <p:sldId id="832" r:id="rId69"/>
    <p:sldId id="835" r:id="rId70"/>
    <p:sldId id="836" r:id="rId71"/>
    <p:sldId id="839" r:id="rId72"/>
    <p:sldId id="840" r:id="rId73"/>
    <p:sldId id="849" r:id="rId74"/>
    <p:sldId id="850" r:id="rId75"/>
    <p:sldId id="851" r:id="rId76"/>
    <p:sldId id="858" r:id="rId77"/>
    <p:sldId id="859" r:id="rId78"/>
    <p:sldId id="877" r:id="rId79"/>
    <p:sldId id="878" r:id="rId80"/>
    <p:sldId id="279" r:id="rId81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1650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312"/>
    </p:cViewPr>
  </p:notesTextViewPr>
  <p:sorterViewPr>
    <p:cViewPr varScale="1">
      <p:scale>
        <a:sx n="100" d="100"/>
        <a:sy n="100" d="100"/>
      </p:scale>
      <p:origin x="0" y="-153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.artana@outlook.es" userId="19a679da5fdde857" providerId="LiveId" clId="{3DB460B1-242F-4D40-854E-3F5AECF44CE4}"/>
    <pc:docChg chg="custSel addSld delSld modSld sldOrd">
      <pc:chgData name="daniel.artana@outlook.es" userId="19a679da5fdde857" providerId="LiveId" clId="{3DB460B1-242F-4D40-854E-3F5AECF44CE4}" dt="2021-02-25T18:32:22.282" v="229" actId="15"/>
      <pc:docMkLst>
        <pc:docMk/>
      </pc:docMkLst>
      <pc:sldChg chg="add">
        <pc:chgData name="daniel.artana@outlook.es" userId="19a679da5fdde857" providerId="LiveId" clId="{3DB460B1-242F-4D40-854E-3F5AECF44CE4}" dt="2021-02-25T18:26:22.693" v="217"/>
        <pc:sldMkLst>
          <pc:docMk/>
          <pc:sldMk cId="4269675522" sldId="279"/>
        </pc:sldMkLst>
      </pc:sldChg>
      <pc:sldChg chg="add">
        <pc:chgData name="daniel.artana@outlook.es" userId="19a679da5fdde857" providerId="LiveId" clId="{3DB460B1-242F-4D40-854E-3F5AECF44CE4}" dt="2021-02-25T18:26:40.670" v="219"/>
        <pc:sldMkLst>
          <pc:docMk/>
          <pc:sldMk cId="2669484966" sldId="280"/>
        </pc:sldMkLst>
      </pc:sldChg>
      <pc:sldChg chg="add del">
        <pc:chgData name="daniel.artana@outlook.es" userId="19a679da5fdde857" providerId="LiveId" clId="{3DB460B1-242F-4D40-854E-3F5AECF44CE4}" dt="2021-02-25T18:28:11.294" v="223"/>
        <pc:sldMkLst>
          <pc:docMk/>
          <pc:sldMk cId="1323006084" sldId="284"/>
        </pc:sldMkLst>
      </pc:sldChg>
      <pc:sldChg chg="modSp add mod">
        <pc:chgData name="daniel.artana@outlook.es" userId="19a679da5fdde857" providerId="LiveId" clId="{3DB460B1-242F-4D40-854E-3F5AECF44CE4}" dt="2021-02-25T18:32:22.282" v="229" actId="15"/>
        <pc:sldMkLst>
          <pc:docMk/>
          <pc:sldMk cId="794514234" sldId="285"/>
        </pc:sldMkLst>
      </pc:sldChg>
      <pc:sldChg chg="add">
        <pc:chgData name="daniel.artana@outlook.es" userId="19a679da5fdde857" providerId="LiveId" clId="{3DB460B1-242F-4D40-854E-3F5AECF44CE4}" dt="2021-02-25T18:28:49.970" v="226"/>
        <pc:sldMkLst>
          <pc:docMk/>
          <pc:sldMk cId="966517194" sldId="286"/>
        </pc:sldMkLst>
      </pc:sldChg>
      <pc:sldChg chg="add">
        <pc:chgData name="daniel.artana@outlook.es" userId="19a679da5fdde857" providerId="LiveId" clId="{3DB460B1-242F-4D40-854E-3F5AECF44CE4}" dt="2021-02-25T18:28:49.970" v="226"/>
        <pc:sldMkLst>
          <pc:docMk/>
          <pc:sldMk cId="112056953" sldId="287"/>
        </pc:sldMkLst>
      </pc:sldChg>
      <pc:sldChg chg="add">
        <pc:chgData name="daniel.artana@outlook.es" userId="19a679da5fdde857" providerId="LiveId" clId="{3DB460B1-242F-4D40-854E-3F5AECF44CE4}" dt="2021-02-25T18:28:49.970" v="226"/>
        <pc:sldMkLst>
          <pc:docMk/>
          <pc:sldMk cId="3556900783" sldId="288"/>
        </pc:sldMkLst>
      </pc:sldChg>
      <pc:sldChg chg="add">
        <pc:chgData name="daniel.artana@outlook.es" userId="19a679da5fdde857" providerId="LiveId" clId="{3DB460B1-242F-4D40-854E-3F5AECF44CE4}" dt="2021-02-25T18:28:49.970" v="226"/>
        <pc:sldMkLst>
          <pc:docMk/>
          <pc:sldMk cId="632843693" sldId="289"/>
        </pc:sldMkLst>
      </pc:sldChg>
      <pc:sldChg chg="add del">
        <pc:chgData name="daniel.artana@outlook.es" userId="19a679da5fdde857" providerId="LiveId" clId="{3DB460B1-242F-4D40-854E-3F5AECF44CE4}" dt="2021-02-25T18:30:14.101" v="227" actId="47"/>
        <pc:sldMkLst>
          <pc:docMk/>
          <pc:sldMk cId="1041703945" sldId="290"/>
        </pc:sldMkLst>
      </pc:sldChg>
      <pc:sldChg chg="add">
        <pc:chgData name="daniel.artana@outlook.es" userId="19a679da5fdde857" providerId="LiveId" clId="{3DB460B1-242F-4D40-854E-3F5AECF44CE4}" dt="2021-02-25T18:27:02.374" v="220"/>
        <pc:sldMkLst>
          <pc:docMk/>
          <pc:sldMk cId="248462189" sldId="310"/>
        </pc:sldMkLst>
      </pc:sldChg>
      <pc:sldChg chg="add">
        <pc:chgData name="daniel.artana@outlook.es" userId="19a679da5fdde857" providerId="LiveId" clId="{3DB460B1-242F-4D40-854E-3F5AECF44CE4}" dt="2021-02-25T18:28:20.760" v="225"/>
        <pc:sldMkLst>
          <pc:docMk/>
          <pc:sldMk cId="816583589" sldId="311"/>
        </pc:sldMkLst>
      </pc:sldChg>
      <pc:sldChg chg="add del">
        <pc:chgData name="daniel.artana@outlook.es" userId="19a679da5fdde857" providerId="LiveId" clId="{3DB460B1-242F-4D40-854E-3F5AECF44CE4}" dt="2021-02-25T18:28:16.340" v="224" actId="2696"/>
        <pc:sldMkLst>
          <pc:docMk/>
          <pc:sldMk cId="4013089994" sldId="311"/>
        </pc:sldMkLst>
      </pc:sldChg>
      <pc:sldChg chg="add">
        <pc:chgData name="daniel.artana@outlook.es" userId="19a679da5fdde857" providerId="LiveId" clId="{3DB460B1-242F-4D40-854E-3F5AECF44CE4}" dt="2021-02-25T18:28:20.760" v="225"/>
        <pc:sldMkLst>
          <pc:docMk/>
          <pc:sldMk cId="2950309675" sldId="312"/>
        </pc:sldMkLst>
      </pc:sldChg>
      <pc:sldChg chg="add del">
        <pc:chgData name="daniel.artana@outlook.es" userId="19a679da5fdde857" providerId="LiveId" clId="{3DB460B1-242F-4D40-854E-3F5AECF44CE4}" dt="2021-02-25T18:28:16.340" v="224" actId="2696"/>
        <pc:sldMkLst>
          <pc:docMk/>
          <pc:sldMk cId="4201374156" sldId="312"/>
        </pc:sldMkLst>
      </pc:sldChg>
      <pc:sldChg chg="add del">
        <pc:chgData name="daniel.artana@outlook.es" userId="19a679da5fdde857" providerId="LiveId" clId="{3DB460B1-242F-4D40-854E-3F5AECF44CE4}" dt="2021-02-25T18:28:16.340" v="224" actId="2696"/>
        <pc:sldMkLst>
          <pc:docMk/>
          <pc:sldMk cId="137675380" sldId="313"/>
        </pc:sldMkLst>
      </pc:sldChg>
      <pc:sldChg chg="add">
        <pc:chgData name="daniel.artana@outlook.es" userId="19a679da5fdde857" providerId="LiveId" clId="{3DB460B1-242F-4D40-854E-3F5AECF44CE4}" dt="2021-02-25T18:28:20.760" v="225"/>
        <pc:sldMkLst>
          <pc:docMk/>
          <pc:sldMk cId="2986897454" sldId="313"/>
        </pc:sldMkLst>
      </pc:sldChg>
      <pc:sldChg chg="add del">
        <pc:chgData name="daniel.artana@outlook.es" userId="19a679da5fdde857" providerId="LiveId" clId="{3DB460B1-242F-4D40-854E-3F5AECF44CE4}" dt="2021-02-25T18:28:11.294" v="223"/>
        <pc:sldMkLst>
          <pc:docMk/>
          <pc:sldMk cId="3469004183" sldId="316"/>
        </pc:sldMkLst>
      </pc:sldChg>
      <pc:sldChg chg="del">
        <pc:chgData name="daniel.artana@outlook.es" userId="19a679da5fdde857" providerId="LiveId" clId="{3DB460B1-242F-4D40-854E-3F5AECF44CE4}" dt="2021-02-25T13:53:30.296" v="210" actId="47"/>
        <pc:sldMkLst>
          <pc:docMk/>
          <pc:sldMk cId="0" sldId="670"/>
        </pc:sldMkLst>
      </pc:sldChg>
      <pc:sldChg chg="del">
        <pc:chgData name="daniel.artana@outlook.es" userId="19a679da5fdde857" providerId="LiveId" clId="{3DB460B1-242F-4D40-854E-3F5AECF44CE4}" dt="2021-02-25T13:51:25.627" v="202" actId="47"/>
        <pc:sldMkLst>
          <pc:docMk/>
          <pc:sldMk cId="0" sldId="686"/>
        </pc:sldMkLst>
      </pc:sldChg>
      <pc:sldChg chg="del">
        <pc:chgData name="daniel.artana@outlook.es" userId="19a679da5fdde857" providerId="LiveId" clId="{3DB460B1-242F-4D40-854E-3F5AECF44CE4}" dt="2021-02-25T13:52:02.554" v="203" actId="47"/>
        <pc:sldMkLst>
          <pc:docMk/>
          <pc:sldMk cId="0" sldId="696"/>
        </pc:sldMkLst>
      </pc:sldChg>
      <pc:sldChg chg="del">
        <pc:chgData name="daniel.artana@outlook.es" userId="19a679da5fdde857" providerId="LiveId" clId="{3DB460B1-242F-4D40-854E-3F5AECF44CE4}" dt="2021-02-25T13:52:02.554" v="203" actId="47"/>
        <pc:sldMkLst>
          <pc:docMk/>
          <pc:sldMk cId="0" sldId="697"/>
        </pc:sldMkLst>
      </pc:sldChg>
      <pc:sldChg chg="del">
        <pc:chgData name="daniel.artana@outlook.es" userId="19a679da5fdde857" providerId="LiveId" clId="{3DB460B1-242F-4D40-854E-3F5AECF44CE4}" dt="2021-02-25T13:52:02.554" v="203" actId="47"/>
        <pc:sldMkLst>
          <pc:docMk/>
          <pc:sldMk cId="0" sldId="698"/>
        </pc:sldMkLst>
      </pc:sldChg>
      <pc:sldChg chg="del">
        <pc:chgData name="daniel.artana@outlook.es" userId="19a679da5fdde857" providerId="LiveId" clId="{3DB460B1-242F-4D40-854E-3F5AECF44CE4}" dt="2021-02-25T13:52:02.554" v="203" actId="47"/>
        <pc:sldMkLst>
          <pc:docMk/>
          <pc:sldMk cId="0" sldId="699"/>
        </pc:sldMkLst>
      </pc:sldChg>
      <pc:sldChg chg="del">
        <pc:chgData name="daniel.artana@outlook.es" userId="19a679da5fdde857" providerId="LiveId" clId="{3DB460B1-242F-4D40-854E-3F5AECF44CE4}" dt="2021-02-25T13:44:14.564" v="0" actId="47"/>
        <pc:sldMkLst>
          <pc:docMk/>
          <pc:sldMk cId="0" sldId="721"/>
        </pc:sldMkLst>
      </pc:sldChg>
      <pc:sldChg chg="del">
        <pc:chgData name="daniel.artana@outlook.es" userId="19a679da5fdde857" providerId="LiveId" clId="{3DB460B1-242F-4D40-854E-3F5AECF44CE4}" dt="2021-02-25T13:45:30.448" v="1" actId="47"/>
        <pc:sldMkLst>
          <pc:docMk/>
          <pc:sldMk cId="0" sldId="760"/>
        </pc:sldMkLst>
      </pc:sldChg>
      <pc:sldChg chg="del">
        <pc:chgData name="daniel.artana@outlook.es" userId="19a679da5fdde857" providerId="LiveId" clId="{3DB460B1-242F-4D40-854E-3F5AECF44CE4}" dt="2021-02-25T13:45:31.557" v="2" actId="47"/>
        <pc:sldMkLst>
          <pc:docMk/>
          <pc:sldMk cId="0" sldId="761"/>
        </pc:sldMkLst>
      </pc:sldChg>
      <pc:sldChg chg="del">
        <pc:chgData name="daniel.artana@outlook.es" userId="19a679da5fdde857" providerId="LiveId" clId="{3DB460B1-242F-4D40-854E-3F5AECF44CE4}" dt="2021-02-25T13:46:42.854" v="146" actId="47"/>
        <pc:sldMkLst>
          <pc:docMk/>
          <pc:sldMk cId="0" sldId="765"/>
        </pc:sldMkLst>
      </pc:sldChg>
      <pc:sldChg chg="addSp delSp modSp mod delAnim modAnim">
        <pc:chgData name="daniel.artana@outlook.es" userId="19a679da5fdde857" providerId="LiveId" clId="{3DB460B1-242F-4D40-854E-3F5AECF44CE4}" dt="2021-02-25T13:47:10.736" v="149" actId="478"/>
        <pc:sldMkLst>
          <pc:docMk/>
          <pc:sldMk cId="0" sldId="766"/>
        </pc:sldMkLst>
      </pc:sldChg>
      <pc:sldChg chg="del">
        <pc:chgData name="daniel.artana@outlook.es" userId="19a679da5fdde857" providerId="LiveId" clId="{3DB460B1-242F-4D40-854E-3F5AECF44CE4}" dt="2021-02-25T13:46:56.981" v="147" actId="47"/>
        <pc:sldMkLst>
          <pc:docMk/>
          <pc:sldMk cId="0" sldId="767"/>
        </pc:sldMkLst>
      </pc:sldChg>
      <pc:sldChg chg="del">
        <pc:chgData name="daniel.artana@outlook.es" userId="19a679da5fdde857" providerId="LiveId" clId="{3DB460B1-242F-4D40-854E-3F5AECF44CE4}" dt="2021-02-25T13:50:32.851" v="201" actId="47"/>
        <pc:sldMkLst>
          <pc:docMk/>
          <pc:sldMk cId="0" sldId="771"/>
        </pc:sldMkLst>
      </pc:sldChg>
      <pc:sldChg chg="del">
        <pc:chgData name="daniel.artana@outlook.es" userId="19a679da5fdde857" providerId="LiveId" clId="{3DB460B1-242F-4D40-854E-3F5AECF44CE4}" dt="2021-02-25T13:53:20.341" v="209" actId="47"/>
        <pc:sldMkLst>
          <pc:docMk/>
          <pc:sldMk cId="0" sldId="793"/>
        </pc:sldMkLst>
      </pc:sldChg>
      <pc:sldChg chg="del">
        <pc:chgData name="daniel.artana@outlook.es" userId="19a679da5fdde857" providerId="LiveId" clId="{3DB460B1-242F-4D40-854E-3F5AECF44CE4}" dt="2021-02-25T13:53:31.045" v="211" actId="47"/>
        <pc:sldMkLst>
          <pc:docMk/>
          <pc:sldMk cId="0" sldId="795"/>
        </pc:sldMkLst>
      </pc:sldChg>
      <pc:sldChg chg="del">
        <pc:chgData name="daniel.artana@outlook.es" userId="19a679da5fdde857" providerId="LiveId" clId="{3DB460B1-242F-4D40-854E-3F5AECF44CE4}" dt="2021-02-25T13:53:02.269" v="206" actId="47"/>
        <pc:sldMkLst>
          <pc:docMk/>
          <pc:sldMk cId="0" sldId="798"/>
        </pc:sldMkLst>
      </pc:sldChg>
      <pc:sldChg chg="del">
        <pc:chgData name="daniel.artana@outlook.es" userId="19a679da5fdde857" providerId="LiveId" clId="{3DB460B1-242F-4D40-854E-3F5AECF44CE4}" dt="2021-02-25T13:53:05.362" v="207" actId="47"/>
        <pc:sldMkLst>
          <pc:docMk/>
          <pc:sldMk cId="0" sldId="799"/>
        </pc:sldMkLst>
      </pc:sldChg>
      <pc:sldChg chg="del">
        <pc:chgData name="daniel.artana@outlook.es" userId="19a679da5fdde857" providerId="LiveId" clId="{3DB460B1-242F-4D40-854E-3F5AECF44CE4}" dt="2021-02-25T13:52:41.341" v="204" actId="47"/>
        <pc:sldMkLst>
          <pc:docMk/>
          <pc:sldMk cId="0" sldId="800"/>
        </pc:sldMkLst>
      </pc:sldChg>
      <pc:sldChg chg="del">
        <pc:chgData name="daniel.artana@outlook.es" userId="19a679da5fdde857" providerId="LiveId" clId="{3DB460B1-242F-4D40-854E-3F5AECF44CE4}" dt="2021-02-25T13:52:42.325" v="205" actId="47"/>
        <pc:sldMkLst>
          <pc:docMk/>
          <pc:sldMk cId="0" sldId="801"/>
        </pc:sldMkLst>
      </pc:sldChg>
      <pc:sldChg chg="del">
        <pc:chgData name="daniel.artana@outlook.es" userId="19a679da5fdde857" providerId="LiveId" clId="{3DB460B1-242F-4D40-854E-3F5AECF44CE4}" dt="2021-02-25T13:53:08.237" v="208" actId="47"/>
        <pc:sldMkLst>
          <pc:docMk/>
          <pc:sldMk cId="0" sldId="803"/>
        </pc:sldMkLst>
      </pc:sldChg>
      <pc:sldChg chg="del">
        <pc:chgData name="daniel.artana@outlook.es" userId="19a679da5fdde857" providerId="LiveId" clId="{3DB460B1-242F-4D40-854E-3F5AECF44CE4}" dt="2021-02-25T18:26:25.212" v="218" actId="47"/>
        <pc:sldMkLst>
          <pc:docMk/>
          <pc:sldMk cId="0" sldId="806"/>
        </pc:sldMkLst>
      </pc:sldChg>
      <pc:sldChg chg="modSp mod">
        <pc:chgData name="daniel.artana@outlook.es" userId="19a679da5fdde857" providerId="LiveId" clId="{3DB460B1-242F-4D40-854E-3F5AECF44CE4}" dt="2021-02-25T13:50:22.101" v="200" actId="20577"/>
        <pc:sldMkLst>
          <pc:docMk/>
          <pc:sldMk cId="0" sldId="810"/>
        </pc:sldMkLst>
      </pc:sldChg>
      <pc:sldChg chg="del">
        <pc:chgData name="daniel.artana@outlook.es" userId="19a679da5fdde857" providerId="LiveId" clId="{3DB460B1-242F-4D40-854E-3F5AECF44CE4}" dt="2021-02-25T18:24:14.211" v="216" actId="47"/>
        <pc:sldMkLst>
          <pc:docMk/>
          <pc:sldMk cId="0" sldId="816"/>
        </pc:sldMkLst>
      </pc:sldChg>
      <pc:sldChg chg="del">
        <pc:chgData name="daniel.artana@outlook.es" userId="19a679da5fdde857" providerId="LiveId" clId="{3DB460B1-242F-4D40-854E-3F5AECF44CE4}" dt="2021-02-25T13:54:15.612" v="212" actId="47"/>
        <pc:sldMkLst>
          <pc:docMk/>
          <pc:sldMk cId="0" sldId="827"/>
        </pc:sldMkLst>
      </pc:sldChg>
      <pc:sldChg chg="del">
        <pc:chgData name="daniel.artana@outlook.es" userId="19a679da5fdde857" providerId="LiveId" clId="{3DB460B1-242F-4D40-854E-3F5AECF44CE4}" dt="2021-02-25T13:54:35.499" v="213" actId="47"/>
        <pc:sldMkLst>
          <pc:docMk/>
          <pc:sldMk cId="0" sldId="833"/>
        </pc:sldMkLst>
      </pc:sldChg>
      <pc:sldChg chg="del">
        <pc:chgData name="daniel.artana@outlook.es" userId="19a679da5fdde857" providerId="LiveId" clId="{3DB460B1-242F-4D40-854E-3F5AECF44CE4}" dt="2021-02-25T13:54:46.775" v="214" actId="47"/>
        <pc:sldMkLst>
          <pc:docMk/>
          <pc:sldMk cId="0" sldId="837"/>
        </pc:sldMkLst>
      </pc:sldChg>
      <pc:sldChg chg="del">
        <pc:chgData name="daniel.artana@outlook.es" userId="19a679da5fdde857" providerId="LiveId" clId="{3DB460B1-242F-4D40-854E-3F5AECF44CE4}" dt="2021-02-25T18:24:13.224" v="215" actId="47"/>
        <pc:sldMkLst>
          <pc:docMk/>
          <pc:sldMk cId="0" sldId="860"/>
        </pc:sldMkLst>
      </pc:sldChg>
      <pc:sldChg chg="del">
        <pc:chgData name="daniel.artana@outlook.es" userId="19a679da5fdde857" providerId="LiveId" clId="{3DB460B1-242F-4D40-854E-3F5AECF44CE4}" dt="2021-02-25T18:30:30.082" v="228" actId="47"/>
        <pc:sldMkLst>
          <pc:docMk/>
          <pc:sldMk cId="0" sldId="880"/>
        </pc:sldMkLst>
      </pc:sldChg>
      <pc:sldChg chg="add">
        <pc:chgData name="daniel.artana@outlook.es" userId="19a679da5fdde857" providerId="LiveId" clId="{3DB460B1-242F-4D40-854E-3F5AECF44CE4}" dt="2021-02-25T13:47:05.993" v="148"/>
        <pc:sldMkLst>
          <pc:docMk/>
          <pc:sldMk cId="2746819960" sldId="891"/>
        </pc:sldMkLst>
      </pc:sldChg>
      <pc:sldChg chg="addSp modSp add del mod ord modAnim">
        <pc:chgData name="daniel.artana@outlook.es" userId="19a679da5fdde857" providerId="LiveId" clId="{3DB460B1-242F-4D40-854E-3F5AECF44CE4}" dt="2021-02-25T13:49:50.470" v="194" actId="47"/>
        <pc:sldMkLst>
          <pc:docMk/>
          <pc:sldMk cId="2128949310" sldId="892"/>
        </pc:sldMkLst>
      </pc:sldChg>
    </pc:docChg>
  </pc:docChgLst>
  <pc:docChgLst>
    <pc:chgData name="daniel.artana@outlook.es" userId="19a679da5fdde857" providerId="LiveId" clId="{BCE36489-487E-4780-AB7B-99AE6415B330}"/>
    <pc:docChg chg="custSel addSld delSld modSld sldOrd">
      <pc:chgData name="daniel.artana@outlook.es" userId="19a679da5fdde857" providerId="LiveId" clId="{BCE36489-487E-4780-AB7B-99AE6415B330}" dt="2021-04-28T13:55:10.977" v="742" actId="6549"/>
      <pc:docMkLst>
        <pc:docMk/>
      </pc:docMkLst>
      <pc:sldChg chg="modSp mod">
        <pc:chgData name="daniel.artana@outlook.es" userId="19a679da5fdde857" providerId="LiveId" clId="{BCE36489-487E-4780-AB7B-99AE6415B330}" dt="2021-03-30T13:25:11.265" v="2" actId="20577"/>
        <pc:sldMkLst>
          <pc:docMk/>
          <pc:sldMk cId="0" sldId="257"/>
        </pc:sldMkLst>
      </pc:sldChg>
      <pc:sldChg chg="modSp add mod">
        <pc:chgData name="daniel.artana@outlook.es" userId="19a679da5fdde857" providerId="LiveId" clId="{BCE36489-487E-4780-AB7B-99AE6415B330}" dt="2021-04-28T13:55:10.977" v="742" actId="6549"/>
        <pc:sldMkLst>
          <pc:docMk/>
          <pc:sldMk cId="0" sldId="268"/>
        </pc:sldMkLst>
      </pc:sldChg>
      <pc:sldChg chg="modSp add mod">
        <pc:chgData name="daniel.artana@outlook.es" userId="19a679da5fdde857" providerId="LiveId" clId="{BCE36489-487E-4780-AB7B-99AE6415B330}" dt="2021-04-28T13:52:56.526" v="676" actId="948"/>
        <pc:sldMkLst>
          <pc:docMk/>
          <pc:sldMk cId="0" sldId="269"/>
        </pc:sldMkLst>
      </pc:sldChg>
      <pc:sldChg chg="modSp add mod ord">
        <pc:chgData name="daniel.artana@outlook.es" userId="19a679da5fdde857" providerId="LiveId" clId="{BCE36489-487E-4780-AB7B-99AE6415B330}" dt="2021-04-28T13:48:11.858" v="657" actId="27636"/>
        <pc:sldMkLst>
          <pc:docMk/>
          <pc:sldMk cId="0" sldId="270"/>
        </pc:sldMkLst>
      </pc:sldChg>
      <pc:sldChg chg="add">
        <pc:chgData name="daniel.artana@outlook.es" userId="19a679da5fdde857" providerId="LiveId" clId="{BCE36489-487E-4780-AB7B-99AE6415B330}" dt="2021-04-28T13:42:10.380" v="518"/>
        <pc:sldMkLst>
          <pc:docMk/>
          <pc:sldMk cId="0" sldId="271"/>
        </pc:sldMkLst>
      </pc:sldChg>
      <pc:sldChg chg="add">
        <pc:chgData name="daniel.artana@outlook.es" userId="19a679da5fdde857" providerId="LiveId" clId="{BCE36489-487E-4780-AB7B-99AE6415B330}" dt="2021-04-28T13:41:16.424" v="517"/>
        <pc:sldMkLst>
          <pc:docMk/>
          <pc:sldMk cId="0" sldId="272"/>
        </pc:sldMkLst>
      </pc:sldChg>
      <pc:sldChg chg="modSp add mod">
        <pc:chgData name="daniel.artana@outlook.es" userId="19a679da5fdde857" providerId="LiveId" clId="{BCE36489-487E-4780-AB7B-99AE6415B330}" dt="2021-04-28T13:46:23.027" v="569" actId="27636"/>
        <pc:sldMkLst>
          <pc:docMk/>
          <pc:sldMk cId="0" sldId="273"/>
        </pc:sldMkLst>
      </pc:sldChg>
      <pc:sldChg chg="add">
        <pc:chgData name="daniel.artana@outlook.es" userId="19a679da5fdde857" providerId="LiveId" clId="{BCE36489-487E-4780-AB7B-99AE6415B330}" dt="2021-04-28T13:42:10.380" v="518"/>
        <pc:sldMkLst>
          <pc:docMk/>
          <pc:sldMk cId="0" sldId="274"/>
        </pc:sldMkLst>
      </pc:sldChg>
      <pc:sldChg chg="add">
        <pc:chgData name="daniel.artana@outlook.es" userId="19a679da5fdde857" providerId="LiveId" clId="{BCE36489-487E-4780-AB7B-99AE6415B330}" dt="2021-04-28T13:41:16.424" v="517"/>
        <pc:sldMkLst>
          <pc:docMk/>
          <pc:sldMk cId="0" sldId="278"/>
        </pc:sldMkLst>
      </pc:sldChg>
      <pc:sldChg chg="modSp mod">
        <pc:chgData name="daniel.artana@outlook.es" userId="19a679da5fdde857" providerId="LiveId" clId="{BCE36489-487E-4780-AB7B-99AE6415B330}" dt="2021-04-28T13:32:40.927" v="497" actId="20577"/>
        <pc:sldMkLst>
          <pc:docMk/>
          <pc:sldMk cId="4269675522" sldId="279"/>
        </pc:sldMkLst>
      </pc:sldChg>
      <pc:sldChg chg="add">
        <pc:chgData name="daniel.artana@outlook.es" userId="19a679da5fdde857" providerId="LiveId" clId="{BCE36489-487E-4780-AB7B-99AE6415B330}" dt="2021-04-28T13:42:10.380" v="518"/>
        <pc:sldMkLst>
          <pc:docMk/>
          <pc:sldMk cId="0" sldId="282"/>
        </pc:sldMkLst>
      </pc:sldChg>
      <pc:sldChg chg="add">
        <pc:chgData name="daniel.artana@outlook.es" userId="19a679da5fdde857" providerId="LiveId" clId="{BCE36489-487E-4780-AB7B-99AE6415B330}" dt="2021-04-28T13:42:10.380" v="518"/>
        <pc:sldMkLst>
          <pc:docMk/>
          <pc:sldMk cId="0" sldId="283"/>
        </pc:sldMkLst>
      </pc:sldChg>
      <pc:sldChg chg="add">
        <pc:chgData name="daniel.artana@outlook.es" userId="19a679da5fdde857" providerId="LiveId" clId="{BCE36489-487E-4780-AB7B-99AE6415B330}" dt="2021-04-28T13:42:47.303" v="519"/>
        <pc:sldMkLst>
          <pc:docMk/>
          <pc:sldMk cId="3955254986" sldId="294"/>
        </pc:sldMkLst>
      </pc:sldChg>
      <pc:sldChg chg="modSp mod">
        <pc:chgData name="daniel.artana@outlook.es" userId="19a679da5fdde857" providerId="LiveId" clId="{BCE36489-487E-4780-AB7B-99AE6415B330}" dt="2021-03-31T17:33:22.639" v="33" actId="6549"/>
        <pc:sldMkLst>
          <pc:docMk/>
          <pc:sldMk cId="248462189" sldId="310"/>
        </pc:sldMkLst>
      </pc:sldChg>
      <pc:sldChg chg="modSp mod">
        <pc:chgData name="daniel.artana@outlook.es" userId="19a679da5fdde857" providerId="LiveId" clId="{BCE36489-487E-4780-AB7B-99AE6415B330}" dt="2021-03-31T17:34:06.658" v="34" actId="114"/>
        <pc:sldMkLst>
          <pc:docMk/>
          <pc:sldMk cId="816583589" sldId="311"/>
        </pc:sldMkLst>
      </pc:sldChg>
      <pc:sldChg chg="add">
        <pc:chgData name="daniel.artana@outlook.es" userId="19a679da5fdde857" providerId="LiveId" clId="{BCE36489-487E-4780-AB7B-99AE6415B330}" dt="2021-04-28T13:33:36.622" v="498"/>
        <pc:sldMkLst>
          <pc:docMk/>
          <pc:sldMk cId="0" sldId="504"/>
        </pc:sldMkLst>
      </pc:sldChg>
      <pc:sldChg chg="add">
        <pc:chgData name="daniel.artana@outlook.es" userId="19a679da5fdde857" providerId="LiveId" clId="{BCE36489-487E-4780-AB7B-99AE6415B330}" dt="2021-04-28T13:33:36.622" v="498"/>
        <pc:sldMkLst>
          <pc:docMk/>
          <pc:sldMk cId="0" sldId="505"/>
        </pc:sldMkLst>
      </pc:sldChg>
      <pc:sldChg chg="modSp mod">
        <pc:chgData name="daniel.artana@outlook.es" userId="19a679da5fdde857" providerId="LiveId" clId="{BCE36489-487E-4780-AB7B-99AE6415B330}" dt="2021-03-31T17:16:30.677" v="15" actId="20577"/>
        <pc:sldMkLst>
          <pc:docMk/>
          <pc:sldMk cId="0" sldId="673"/>
        </pc:sldMkLst>
      </pc:sldChg>
      <pc:sldChg chg="modSp mod">
        <pc:chgData name="daniel.artana@outlook.es" userId="19a679da5fdde857" providerId="LiveId" clId="{BCE36489-487E-4780-AB7B-99AE6415B330}" dt="2021-03-31T17:17:48.385" v="24" actId="20577"/>
        <pc:sldMkLst>
          <pc:docMk/>
          <pc:sldMk cId="0" sldId="680"/>
        </pc:sldMkLst>
      </pc:sldChg>
      <pc:sldChg chg="modSp mod">
        <pc:chgData name="daniel.artana@outlook.es" userId="19a679da5fdde857" providerId="LiveId" clId="{BCE36489-487E-4780-AB7B-99AE6415B330}" dt="2021-03-31T17:18:18.590" v="29" actId="20577"/>
        <pc:sldMkLst>
          <pc:docMk/>
          <pc:sldMk cId="0" sldId="682"/>
        </pc:sldMkLst>
      </pc:sldChg>
      <pc:sldChg chg="del ord">
        <pc:chgData name="daniel.artana@outlook.es" userId="19a679da5fdde857" providerId="LiveId" clId="{BCE36489-487E-4780-AB7B-99AE6415B330}" dt="2021-03-30T13:32:50.273" v="7" actId="2696"/>
        <pc:sldMkLst>
          <pc:docMk/>
          <pc:sldMk cId="1879343635" sldId="769"/>
        </pc:sldMkLst>
      </pc:sldChg>
      <pc:sldChg chg="del">
        <pc:chgData name="daniel.artana@outlook.es" userId="19a679da5fdde857" providerId="LiveId" clId="{BCE36489-487E-4780-AB7B-99AE6415B330}" dt="2021-03-31T17:29:25.425" v="30" actId="47"/>
        <pc:sldMkLst>
          <pc:docMk/>
          <pc:sldMk cId="0" sldId="867"/>
        </pc:sldMkLst>
      </pc:sldChg>
      <pc:sldChg chg="del">
        <pc:chgData name="daniel.artana@outlook.es" userId="19a679da5fdde857" providerId="LiveId" clId="{BCE36489-487E-4780-AB7B-99AE6415B330}" dt="2021-03-31T17:31:37.438" v="31" actId="47"/>
        <pc:sldMkLst>
          <pc:docMk/>
          <pc:sldMk cId="0" sldId="874"/>
        </pc:sldMkLst>
      </pc:sldChg>
      <pc:sldChg chg="new del">
        <pc:chgData name="daniel.artana@outlook.es" userId="19a679da5fdde857" providerId="LiveId" clId="{BCE36489-487E-4780-AB7B-99AE6415B330}" dt="2021-04-28T13:30:06.069" v="37" actId="47"/>
        <pc:sldMkLst>
          <pc:docMk/>
          <pc:sldMk cId="368738889" sldId="892"/>
        </pc:sldMkLst>
      </pc:sldChg>
      <pc:sldChg chg="add">
        <pc:chgData name="daniel.artana@outlook.es" userId="19a679da5fdde857" providerId="LiveId" clId="{BCE36489-487E-4780-AB7B-99AE6415B330}" dt="2021-04-28T13:30:04.248" v="36"/>
        <pc:sldMkLst>
          <pc:docMk/>
          <pc:sldMk cId="3655410076" sldId="893"/>
        </pc:sldMkLst>
      </pc:sldChg>
      <pc:sldChg chg="modSp add mod">
        <pc:chgData name="daniel.artana@outlook.es" userId="19a679da5fdde857" providerId="LiveId" clId="{BCE36489-487E-4780-AB7B-99AE6415B330}" dt="2021-04-28T13:34:41.048" v="515" actId="20577"/>
        <pc:sldMkLst>
          <pc:docMk/>
          <pc:sldMk cId="0" sldId="894"/>
        </pc:sldMkLst>
      </pc:sldChg>
      <pc:sldChg chg="add">
        <pc:chgData name="daniel.artana@outlook.es" userId="19a679da5fdde857" providerId="LiveId" clId="{BCE36489-487E-4780-AB7B-99AE6415B330}" dt="2021-04-28T13:41:16.424" v="517"/>
        <pc:sldMkLst>
          <pc:docMk/>
          <pc:sldMk cId="0" sldId="895"/>
        </pc:sldMkLst>
      </pc:sldChg>
      <pc:sldChg chg="add">
        <pc:chgData name="daniel.artana@outlook.es" userId="19a679da5fdde857" providerId="LiveId" clId="{BCE36489-487E-4780-AB7B-99AE6415B330}" dt="2021-04-28T13:41:16.424" v="517"/>
        <pc:sldMkLst>
          <pc:docMk/>
          <pc:sldMk cId="0" sldId="896"/>
        </pc:sldMkLst>
      </pc:sldChg>
    </pc:docChg>
  </pc:docChgLst>
  <pc:docChgLst>
    <pc:chgData name="daniel.artana@outlook.es" userId="19a679da5fdde857" providerId="LiveId" clId="{62565769-2CD6-4E7A-8BF0-3B310AF44799}"/>
    <pc:docChg chg="undo custSel addSld delSld modSld sldOrd">
      <pc:chgData name="daniel.artana@outlook.es" userId="19a679da5fdde857" providerId="LiveId" clId="{62565769-2CD6-4E7A-8BF0-3B310AF44799}" dt="2022-07-01T12:07:38.232" v="1030" actId="20577"/>
      <pc:docMkLst>
        <pc:docMk/>
      </pc:docMkLst>
      <pc:sldChg chg="modSp mod ord">
        <pc:chgData name="daniel.artana@outlook.es" userId="19a679da5fdde857" providerId="LiveId" clId="{62565769-2CD6-4E7A-8BF0-3B310AF44799}" dt="2022-07-01T12:07:02.639" v="958" actId="108"/>
        <pc:sldMkLst>
          <pc:docMk/>
          <pc:sldMk cId="0" sldId="269"/>
        </pc:sldMkLst>
      </pc:sldChg>
      <pc:sldChg chg="modSp del mod">
        <pc:chgData name="daniel.artana@outlook.es" userId="19a679da5fdde857" providerId="LiveId" clId="{62565769-2CD6-4E7A-8BF0-3B310AF44799}" dt="2022-07-01T12:01:45.314" v="254" actId="47"/>
        <pc:sldMkLst>
          <pc:docMk/>
          <pc:sldMk cId="0" sldId="273"/>
        </pc:sldMkLst>
      </pc:sldChg>
      <pc:sldChg chg="modSp mod">
        <pc:chgData name="daniel.artana@outlook.es" userId="19a679da5fdde857" providerId="LiveId" clId="{62565769-2CD6-4E7A-8BF0-3B310AF44799}" dt="2022-04-08T14:04:01.127" v="246" actId="20577"/>
        <pc:sldMkLst>
          <pc:docMk/>
          <pc:sldMk cId="966517194" sldId="286"/>
        </pc:sldMkLst>
      </pc:sldChg>
      <pc:sldChg chg="add del">
        <pc:chgData name="daniel.artana@outlook.es" userId="19a679da5fdde857" providerId="LiveId" clId="{62565769-2CD6-4E7A-8BF0-3B310AF44799}" dt="2022-04-08T13:30:51.750" v="26" actId="47"/>
        <pc:sldMkLst>
          <pc:docMk/>
          <pc:sldMk cId="0" sldId="403"/>
        </pc:sldMkLst>
      </pc:sldChg>
      <pc:sldChg chg="modSp mod">
        <pc:chgData name="daniel.artana@outlook.es" userId="19a679da5fdde857" providerId="LiveId" clId="{62565769-2CD6-4E7A-8BF0-3B310AF44799}" dt="2022-04-08T13:30:51.091" v="25" actId="20577"/>
        <pc:sldMkLst>
          <pc:docMk/>
          <pc:sldMk cId="0" sldId="674"/>
        </pc:sldMkLst>
      </pc:sldChg>
      <pc:sldChg chg="addSp delSp modSp mod">
        <pc:chgData name="daniel.artana@outlook.es" userId="19a679da5fdde857" providerId="LiveId" clId="{62565769-2CD6-4E7A-8BF0-3B310AF44799}" dt="2022-04-08T13:37:49.704" v="112" actId="478"/>
        <pc:sldMkLst>
          <pc:docMk/>
          <pc:sldMk cId="0" sldId="785"/>
        </pc:sldMkLst>
      </pc:sldChg>
      <pc:sldChg chg="modSp mod">
        <pc:chgData name="daniel.artana@outlook.es" userId="19a679da5fdde857" providerId="LiveId" clId="{62565769-2CD6-4E7A-8BF0-3B310AF44799}" dt="2022-04-08T13:47:24.798" v="201" actId="20577"/>
        <pc:sldMkLst>
          <pc:docMk/>
          <pc:sldMk cId="0" sldId="858"/>
        </pc:sldMkLst>
      </pc:sldChg>
      <pc:sldChg chg="del">
        <pc:chgData name="daniel.artana@outlook.es" userId="19a679da5fdde857" providerId="LiveId" clId="{62565769-2CD6-4E7A-8BF0-3B310AF44799}" dt="2022-04-08T13:48:13.734" v="202" actId="47"/>
        <pc:sldMkLst>
          <pc:docMk/>
          <pc:sldMk cId="0" sldId="866"/>
        </pc:sldMkLst>
      </pc:sldChg>
      <pc:sldChg chg="del">
        <pc:chgData name="daniel.artana@outlook.es" userId="19a679da5fdde857" providerId="LiveId" clId="{62565769-2CD6-4E7A-8BF0-3B310AF44799}" dt="2022-04-08T14:05:00.533" v="247" actId="47"/>
        <pc:sldMkLst>
          <pc:docMk/>
          <pc:sldMk cId="0" sldId="890"/>
        </pc:sldMkLst>
      </pc:sldChg>
      <pc:sldChg chg="modSp mod">
        <pc:chgData name="daniel.artana@outlook.es" userId="19a679da5fdde857" providerId="LiveId" clId="{62565769-2CD6-4E7A-8BF0-3B310AF44799}" dt="2022-04-08T13:56:02.121" v="203" actId="6549"/>
        <pc:sldMkLst>
          <pc:docMk/>
          <pc:sldMk cId="0" sldId="896"/>
        </pc:sldMkLst>
      </pc:sldChg>
      <pc:sldChg chg="new del">
        <pc:chgData name="daniel.artana@outlook.es" userId="19a679da5fdde857" providerId="LiveId" clId="{62565769-2CD6-4E7A-8BF0-3B310AF44799}" dt="2022-04-08T13:37:30.525" v="74" actId="47"/>
        <pc:sldMkLst>
          <pc:docMk/>
          <pc:sldMk cId="4166057235" sldId="897"/>
        </pc:sldMkLst>
      </pc:sldChg>
      <pc:sldChg chg="add">
        <pc:chgData name="daniel.artana@outlook.es" userId="19a679da5fdde857" providerId="LiveId" clId="{62565769-2CD6-4E7A-8BF0-3B310AF44799}" dt="2022-04-08T13:37:25.259" v="73"/>
        <pc:sldMkLst>
          <pc:docMk/>
          <pc:sldMk cId="3199417314" sldId="898"/>
        </pc:sldMkLst>
      </pc:sldChg>
      <pc:sldChg chg="modSp add mod ord">
        <pc:chgData name="daniel.artana@outlook.es" userId="19a679da5fdde857" providerId="LiveId" clId="{62565769-2CD6-4E7A-8BF0-3B310AF44799}" dt="2022-07-01T12:02:55.471" v="394" actId="27636"/>
        <pc:sldMkLst>
          <pc:docMk/>
          <pc:sldMk cId="939663675" sldId="899"/>
        </pc:sldMkLst>
      </pc:sldChg>
      <pc:sldChg chg="modSp add mod">
        <pc:chgData name="daniel.artana@outlook.es" userId="19a679da5fdde857" providerId="LiveId" clId="{62565769-2CD6-4E7A-8BF0-3B310AF44799}" dt="2022-07-01T12:07:38.232" v="1030" actId="20577"/>
        <pc:sldMkLst>
          <pc:docMk/>
          <pc:sldMk cId="2863768251" sldId="900"/>
        </pc:sldMkLst>
      </pc:sldChg>
    </pc:docChg>
  </pc:docChgLst>
  <pc:docChgLst>
    <pc:chgData name="Serrizuela, Federico" userId="6c23d298-3bfe-4da5-ab19-98d120a8ab6d" providerId="ADAL" clId="{91E65CAF-A32C-4E3C-AF2F-F68EF5B574FE}"/>
    <pc:docChg chg="undo custSel modSld">
      <pc:chgData name="Serrizuela, Federico" userId="6c23d298-3bfe-4da5-ab19-98d120a8ab6d" providerId="ADAL" clId="{91E65CAF-A32C-4E3C-AF2F-F68EF5B574FE}" dt="2025-10-27T03:21:58.895" v="6" actId="20577"/>
      <pc:docMkLst>
        <pc:docMk/>
      </pc:docMkLst>
      <pc:sldChg chg="modSp mod">
        <pc:chgData name="Serrizuela, Federico" userId="6c23d298-3bfe-4da5-ab19-98d120a8ab6d" providerId="ADAL" clId="{91E65CAF-A32C-4E3C-AF2F-F68EF5B574FE}" dt="2025-10-27T03:21:58.895" v="6" actId="20577"/>
        <pc:sldMkLst>
          <pc:docMk/>
          <pc:sldMk cId="4269675522" sldId="279"/>
        </pc:sldMkLst>
        <pc:spChg chg="mod">
          <ac:chgData name="Serrizuela, Federico" userId="6c23d298-3bfe-4da5-ab19-98d120a8ab6d" providerId="ADAL" clId="{91E65CAF-A32C-4E3C-AF2F-F68EF5B574FE}" dt="2025-10-27T03:21:58.895" v="6" actId="20577"/>
          <ac:spMkLst>
            <pc:docMk/>
            <pc:sldMk cId="4269675522" sldId="279"/>
            <ac:spMk id="3" creationId="{58C31950-EB75-4EAD-AA14-708A857CA7A9}"/>
          </ac:spMkLst>
        </pc:spChg>
      </pc:sldChg>
      <pc:sldChg chg="delSp mod">
        <pc:chgData name="Serrizuela, Federico" userId="6c23d298-3bfe-4da5-ab19-98d120a8ab6d" providerId="ADAL" clId="{91E65CAF-A32C-4E3C-AF2F-F68EF5B574FE}" dt="2025-10-23T02:25:13.466" v="0" actId="478"/>
        <pc:sldMkLst>
          <pc:docMk/>
          <pc:sldMk cId="0" sldId="7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5E026-C402-4CD6-9F2C-1ABCEF0EB8D9}" type="datetimeFigureOut">
              <a:rPr lang="es-AR" smtClean="0"/>
              <a:pPr/>
              <a:t>25/10/2025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49014-4BA6-4F5B-B37A-45AD16D5F93D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108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880640-681A-40AF-9A97-B43DE8A44FA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416" y="4359640"/>
            <a:ext cx="5061192" cy="4133226"/>
          </a:xfrm>
          <a:noFill/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C31DDF-C916-473A-9E4D-F2547615C24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6600" cy="340995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15918"/>
            <a:ext cx="5028579" cy="4167578"/>
          </a:xfrm>
          <a:noFill/>
          <a:ln/>
        </p:spPr>
        <p:txBody>
          <a:bodyPr lIns="91201" tIns="45600" rIns="91201" bIns="4560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C31DDF-C916-473A-9E4D-F2547615C24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6600" cy="340995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15918"/>
            <a:ext cx="5028579" cy="4167578"/>
          </a:xfrm>
          <a:noFill/>
          <a:ln/>
        </p:spPr>
        <p:txBody>
          <a:bodyPr lIns="91201" tIns="45600" rIns="91201" bIns="4560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243F0B4-5622-49DE-9E34-B0EC8EF71907}" type="slidenum">
              <a:rPr lang="en-US" altLang="es-AR"/>
              <a:pPr/>
              <a:t>8</a:t>
            </a:fld>
            <a:endParaRPr lang="en-US" altLang="es-AR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The adjective perfect is not intended in a normative sense; </a:t>
            </a:r>
          </a:p>
          <a:p>
            <a:r>
              <a:rPr lang="en-US" altLang="es-AR"/>
              <a:t>more appropriate name for perfect competition would be extreme competition.</a:t>
            </a:r>
          </a:p>
          <a:p>
            <a:r>
              <a:rPr lang="en-US" altLang="es-AR"/>
              <a:t>however, “perfect competition”, has been universally adopted, hence we follow the established usage. </a:t>
            </a:r>
          </a:p>
          <a:p>
            <a:endParaRPr lang="en-US" altLang="es-AR"/>
          </a:p>
          <a:p>
            <a:r>
              <a:rPr lang="en-US" altLang="es-AR"/>
              <a:t>In market where products are differentiated, competition is not as keen as that in a market where products are homogeneous;  compare</a:t>
            </a:r>
          </a:p>
          <a:p>
            <a:pPr>
              <a:buFontTx/>
              <a:buChar char="•"/>
            </a:pPr>
            <a:r>
              <a:rPr lang="en-US" altLang="es-AR"/>
              <a:t>  mineral water -- differentiated</a:t>
            </a:r>
          </a:p>
          <a:p>
            <a:pPr>
              <a:buFontTx/>
              <a:buChar char="•"/>
            </a:pPr>
            <a:r>
              <a:rPr lang="en-US" altLang="es-AR"/>
              <a:t>  gold -- pure commodity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D8F494F-9D1B-4E24-BDB8-59CF5AA64D1C}" type="slidenum">
              <a:rPr lang="en-US" altLang="es-AR"/>
              <a:pPr/>
              <a:t>9</a:t>
            </a:fld>
            <a:endParaRPr lang="en-US" altLang="es-AR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Medical treatment:</a:t>
            </a:r>
          </a:p>
          <a:p>
            <a:pPr>
              <a:buFontTx/>
              <a:buChar char="•"/>
            </a:pPr>
            <a:r>
              <a:rPr lang="en-US" altLang="es-AR"/>
              <a:t>  patients have less information than doctors</a:t>
            </a:r>
          </a:p>
          <a:p>
            <a:pPr>
              <a:buFontTx/>
              <a:buChar char="•"/>
            </a:pPr>
            <a:r>
              <a:rPr lang="en-US" altLang="es-AR"/>
              <a:t>  not all doctors equally informed about current medical technology and regulations</a:t>
            </a:r>
          </a:p>
          <a:p>
            <a:r>
              <a:rPr lang="en-US" altLang="es-AR"/>
              <a:t>Market for medical treatment is less competitive.</a:t>
            </a:r>
          </a:p>
          <a:p>
            <a:endParaRPr lang="en-US" altLang="es-AR"/>
          </a:p>
          <a:p>
            <a:r>
              <a:rPr lang="en-US" altLang="es-AR"/>
              <a:t>Similarly, market for legal advice is less competitive.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EAA5156-3A6B-46EF-907F-F14C7BD744C7}" type="slidenum">
              <a:rPr lang="en-US" altLang="es-AR"/>
              <a:pPr/>
              <a:t>10</a:t>
            </a:fld>
            <a:endParaRPr lang="en-US" altLang="es-A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Very few markets exactly satisfy all five conditions for perfect competition;</a:t>
            </a:r>
          </a:p>
          <a:p>
            <a:r>
              <a:rPr lang="en-US" altLang="es-AR"/>
              <a:t>model is still useful as frame of reference.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465D741-BD9C-4443-A865-C1EBEBA0C69F}" type="slidenum">
              <a:rPr lang="en-US" altLang="es-AR"/>
              <a:pPr/>
              <a:t>11</a:t>
            </a:fld>
            <a:endParaRPr lang="en-US" altLang="es-A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A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A3B5026-C589-435A-B23C-9EF9591F6F0C}" type="slidenum">
              <a:rPr lang="en-US" altLang="es-AR"/>
              <a:pPr/>
              <a:t>12</a:t>
            </a:fld>
            <a:endParaRPr lang="en-US" altLang="es-A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Two fundamental building blocks of managerial economics:</a:t>
            </a:r>
          </a:p>
          <a:p>
            <a:pPr>
              <a:buFontTx/>
              <a:buChar char="•"/>
            </a:pPr>
            <a:r>
              <a:rPr lang="en-US" altLang="es-AR"/>
              <a:t>demand</a:t>
            </a:r>
          </a:p>
          <a:p>
            <a:pPr>
              <a:buFontTx/>
              <a:buChar char="•"/>
            </a:pPr>
            <a:r>
              <a:rPr lang="en-US" altLang="es-AR"/>
              <a:t>costs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4724EA-34AC-44A3-9681-30FEA77676C8}" type="slidenum">
              <a:rPr lang="en-US" altLang="es-AR"/>
              <a:pPr/>
              <a:t>13</a:t>
            </a:fld>
            <a:endParaRPr lang="en-US" altLang="es-AR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A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F41F1EE-BD7C-43D3-B781-0C2E0E529803}" type="slidenum">
              <a:rPr lang="en-US" altLang="es-AR"/>
              <a:pPr/>
              <a:t>14</a:t>
            </a:fld>
            <a:endParaRPr lang="en-US" altLang="es-AR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Tx/>
              <a:buChar char="•"/>
            </a:pPr>
            <a:r>
              <a:rPr lang="en-US" altLang="es-AR"/>
              <a:t>In simplest form, graph will be series of steps;  with large number of buyers combined, the graph will smoothen.</a:t>
            </a:r>
          </a:p>
          <a:p>
            <a:pPr>
              <a:buFontTx/>
              <a:buChar char="•"/>
            </a:pPr>
            <a:r>
              <a:rPr lang="en-US" altLang="es-AR"/>
              <a:t>Practically, market researchers will perform this on large scale for many potential consumers.</a:t>
            </a:r>
          </a:p>
          <a:p>
            <a:pPr>
              <a:buFontTx/>
              <a:buChar char="•"/>
            </a:pPr>
            <a:r>
              <a:rPr lang="en-US" altLang="es-AR"/>
              <a:t>Same construction for goods/services, consumer/industrial demand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EAE517D-E7EB-4620-A9E9-9E342029529B}" type="slidenum">
              <a:rPr lang="en-US" altLang="es-AR"/>
              <a:pPr/>
              <a:t>15</a:t>
            </a:fld>
            <a:endParaRPr lang="en-US" altLang="es-AR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/>
            <a:r>
              <a:rPr lang="en-US" altLang="es-AR"/>
              <a:t>Principle of </a:t>
            </a:r>
            <a:r>
              <a:rPr lang="en-US" altLang="es-AR" i="1"/>
              <a:t>diminishing marginal benefit</a:t>
            </a:r>
            <a:r>
              <a:rPr lang="en-US" altLang="es-AR"/>
              <a:t>: gives rise to a downward sloping demand curve (negative slope)</a:t>
            </a:r>
          </a:p>
          <a:p>
            <a:pPr lvl="2">
              <a:buFontTx/>
              <a:buChar char="•"/>
            </a:pPr>
            <a:r>
              <a:rPr lang="en-US" altLang="es-AR"/>
              <a:t>How much are you willing to pay for 500 square feet of apartment space per month?</a:t>
            </a:r>
          </a:p>
          <a:p>
            <a:pPr lvl="2">
              <a:buFontTx/>
              <a:buChar char="•"/>
            </a:pPr>
            <a:r>
              <a:rPr lang="en-US" altLang="es-AR"/>
              <a:t>How much for another 500 square feet?</a:t>
            </a:r>
          </a:p>
          <a:p>
            <a:pPr lvl="2">
              <a:buFontTx/>
              <a:buChar char="•"/>
            </a:pPr>
            <a:r>
              <a:rPr lang="en-US" altLang="es-AR"/>
              <a:t>For another 500 square feet?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EE60A00-6CF9-454A-8AEE-758DDDC19266}" type="slidenum">
              <a:rPr lang="en-US" altLang="es-AR"/>
              <a:pPr/>
              <a:t>16</a:t>
            </a:fld>
            <a:endParaRPr lang="en-US" altLang="es-A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Construction of demand curve relies completely on the consumer's preferences.</a:t>
            </a:r>
          </a:p>
          <a:p>
            <a:endParaRPr lang="en-US" altLang="es-AR"/>
          </a:p>
          <a:p>
            <a:r>
              <a:rPr lang="en-US" altLang="es-AR"/>
              <a:t>Consumer differences:</a:t>
            </a:r>
          </a:p>
          <a:p>
            <a:pPr>
              <a:buFontTx/>
              <a:buChar char="•"/>
            </a:pPr>
            <a:r>
              <a:rPr lang="en-US" altLang="es-AR"/>
              <a:t> age:  demand of young people vis-à-vis old for </a:t>
            </a:r>
          </a:p>
          <a:p>
            <a:pPr lvl="2">
              <a:buFontTx/>
              <a:buChar char="•"/>
            </a:pPr>
            <a:r>
              <a:rPr lang="en-US" altLang="es-AR"/>
              <a:t>horse-racing</a:t>
            </a:r>
          </a:p>
          <a:p>
            <a:pPr lvl="2">
              <a:buFontTx/>
              <a:buChar char="•"/>
            </a:pPr>
            <a:r>
              <a:rPr lang="en-US" altLang="es-AR"/>
              <a:t>Internet access</a:t>
            </a:r>
          </a:p>
          <a:p>
            <a:pPr>
              <a:buFontTx/>
              <a:buChar char="•"/>
            </a:pPr>
            <a:r>
              <a:rPr lang="en-US" altLang="es-AR"/>
              <a:t> purpose of consumption:  demand of business vis-à-vis leisure travellers</a:t>
            </a:r>
          </a:p>
          <a:p>
            <a:pPr>
              <a:buFontTx/>
              <a:buChar char="•"/>
            </a:pPr>
            <a:r>
              <a:rPr lang="en-US" altLang="es-AR"/>
              <a:t> gender:  compare demand of women vs men for condoms</a:t>
            </a:r>
          </a:p>
          <a:p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B88B567-2D40-4720-81D6-338C11E8949C}" type="slidenum">
              <a:rPr lang="en-US" altLang="es-AR"/>
              <a:pPr/>
              <a:t>17</a:t>
            </a:fld>
            <a:endParaRPr lang="en-US" altLang="es-A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 dirty="0"/>
              <a:t>Graphically, changes in </a:t>
            </a:r>
          </a:p>
          <a:p>
            <a:pPr lvl="1">
              <a:buFontTx/>
              <a:buChar char="•"/>
            </a:pPr>
            <a:r>
              <a:rPr lang="en-US" altLang="es-AR" dirty="0"/>
              <a:t>price – movement </a:t>
            </a:r>
            <a:r>
              <a:rPr lang="en-US" altLang="es-AR" i="1" dirty="0"/>
              <a:t>along</a:t>
            </a:r>
            <a:r>
              <a:rPr lang="en-US" altLang="es-AR" dirty="0"/>
              <a:t> demand curve</a:t>
            </a:r>
          </a:p>
          <a:p>
            <a:pPr lvl="1">
              <a:buFontTx/>
              <a:buChar char="•"/>
            </a:pPr>
            <a:r>
              <a:rPr lang="en-US" altLang="es-AR" dirty="0"/>
              <a:t>income – shift of </a:t>
            </a:r>
            <a:r>
              <a:rPr lang="en-US" altLang="es-AR" i="1" dirty="0"/>
              <a:t>entire</a:t>
            </a:r>
            <a:r>
              <a:rPr lang="en-US" altLang="es-AR" dirty="0"/>
              <a:t> demand curve</a:t>
            </a:r>
          </a:p>
          <a:p>
            <a:pPr lvl="1"/>
            <a:endParaRPr lang="en-US" altLang="es-AR" dirty="0"/>
          </a:p>
          <a:p>
            <a:r>
              <a:rPr lang="en-US" altLang="es-AR" dirty="0"/>
              <a:t>Examples:</a:t>
            </a:r>
          </a:p>
          <a:p>
            <a:pPr lvl="1">
              <a:buFontTx/>
              <a:buChar char="•"/>
            </a:pPr>
            <a:r>
              <a:rPr lang="en-US" altLang="es-AR" dirty="0"/>
              <a:t>fast food chains &amp; upscale restaurants</a:t>
            </a:r>
          </a:p>
          <a:p>
            <a:pPr lvl="1">
              <a:buFontTx/>
              <a:buChar char="•"/>
            </a:pPr>
            <a:r>
              <a:rPr lang="en-US" altLang="es-AR" dirty="0"/>
              <a:t>afternoon matinees &amp; evening shows</a:t>
            </a:r>
          </a:p>
          <a:p>
            <a:pPr lvl="1">
              <a:buFontTx/>
              <a:buChar char="•"/>
            </a:pPr>
            <a:r>
              <a:rPr lang="en-US" altLang="es-AR" dirty="0"/>
              <a:t>public vis-à-vis private transportation</a:t>
            </a:r>
          </a:p>
          <a:p>
            <a:pPr lvl="1">
              <a:buFontTx/>
              <a:buChar char="•"/>
            </a:pPr>
            <a:r>
              <a:rPr lang="en-US" altLang="es-AR" dirty="0"/>
              <a:t>music cassettes vis-à-vis CDs</a:t>
            </a:r>
          </a:p>
          <a:p>
            <a:pPr lvl="1"/>
            <a:endParaRPr lang="en-US" altLang="es-AR" dirty="0"/>
          </a:p>
          <a:p>
            <a:pPr algn="just"/>
            <a:r>
              <a:rPr lang="en-US" altLang="es-AR" dirty="0"/>
              <a:t>Broad product categories tend to be normal, particular products within the categories may be inferior</a:t>
            </a:r>
          </a:p>
          <a:p>
            <a:pPr lvl="1" algn="just">
              <a:buFontTx/>
              <a:buChar char="•"/>
            </a:pPr>
            <a:r>
              <a:rPr lang="en-US" altLang="es-AR" dirty="0"/>
              <a:t>distinction between normal and inferior products is important for business strategy when the economy is growing/contracting</a:t>
            </a:r>
          </a:p>
          <a:p>
            <a:pPr lvl="1" algn="just">
              <a:buFontTx/>
              <a:buChar char="•"/>
            </a:pPr>
            <a:r>
              <a:rPr lang="en-US" altLang="es-AR" dirty="0"/>
              <a:t>demand for normal products is relatively higher in richer countries, while the demand for inferior products is relatively higher in poorer countries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481AA31-327C-48D0-95CE-75BFC5839AA0}" type="slidenum">
              <a:rPr lang="en-US" altLang="es-AR"/>
              <a:pPr/>
              <a:t>18</a:t>
            </a:fld>
            <a:endParaRPr lang="en-US" altLang="es-AR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Substitutes:</a:t>
            </a:r>
          </a:p>
          <a:p>
            <a:pPr lvl="1">
              <a:buFontTx/>
              <a:buChar char="•"/>
            </a:pPr>
            <a:r>
              <a:rPr lang="en-US" altLang="es-AR"/>
              <a:t>chicken/beef</a:t>
            </a:r>
          </a:p>
          <a:p>
            <a:pPr lvl="1">
              <a:buFontTx/>
              <a:buChar char="•"/>
            </a:pPr>
            <a:r>
              <a:rPr lang="en-US" altLang="es-AR"/>
              <a:t>video/movie</a:t>
            </a:r>
          </a:p>
          <a:p>
            <a:pPr lvl="1">
              <a:buFontTx/>
              <a:buChar char="•"/>
            </a:pPr>
            <a:r>
              <a:rPr lang="en-US" altLang="es-AR"/>
              <a:t>sound cards/sound chips</a:t>
            </a:r>
          </a:p>
          <a:p>
            <a:endParaRPr lang="en-US" altLang="es-AR"/>
          </a:p>
          <a:p>
            <a:r>
              <a:rPr lang="en-US" altLang="es-AR"/>
              <a:t>Complements:</a:t>
            </a:r>
          </a:p>
          <a:p>
            <a:pPr>
              <a:buFontTx/>
              <a:buChar char="•"/>
            </a:pPr>
            <a:r>
              <a:rPr lang="en-US" altLang="es-AR"/>
              <a:t>meat/wine</a:t>
            </a:r>
          </a:p>
          <a:p>
            <a:pPr>
              <a:buFontTx/>
              <a:buChar char="•"/>
            </a:pPr>
            <a:r>
              <a:rPr lang="en-US" altLang="es-AR"/>
              <a:t>movie/popcorn</a:t>
            </a:r>
          </a:p>
          <a:p>
            <a:pPr>
              <a:buFontTx/>
              <a:buChar char="•"/>
            </a:pPr>
            <a:r>
              <a:rPr lang="en-US" altLang="es-AR"/>
              <a:t>microprocessor/memory/disk drive</a:t>
            </a:r>
          </a:p>
          <a:p>
            <a:pPr>
              <a:buFontTx/>
              <a:buChar char="•"/>
            </a:pPr>
            <a:r>
              <a:rPr lang="en-US" altLang="es-AR"/>
              <a:t>automobile/gasoline</a:t>
            </a:r>
          </a:p>
          <a:p>
            <a:endParaRPr lang="en-US" altLang="es-AR"/>
          </a:p>
          <a:p>
            <a:r>
              <a:rPr lang="en-US" altLang="es-AR"/>
              <a:t>Durability:</a:t>
            </a:r>
          </a:p>
          <a:p>
            <a:pPr>
              <a:buFontTx/>
              <a:buChar char="•"/>
            </a:pPr>
            <a:r>
              <a:rPr lang="en-US" altLang="es-AR"/>
              <a:t>cross-ply </a:t>
            </a:r>
            <a:r>
              <a:rPr lang="en-US" altLang="es-AR">
                <a:sym typeface="Wingdings" pitchFamily="2" charset="2"/>
              </a:rPr>
              <a:t> radial tyres</a:t>
            </a:r>
          </a:p>
          <a:p>
            <a:pPr>
              <a:buFontTx/>
              <a:buChar char="•"/>
            </a:pPr>
            <a:r>
              <a:rPr lang="en-US" altLang="es-AR">
                <a:sym typeface="Wingdings" pitchFamily="2" charset="2"/>
              </a:rPr>
              <a:t>music cassettes  audio CDs  MP3 (too durable?)</a:t>
            </a:r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92638D4-C9A8-4F0F-8F89-2AEB6FE5B03A}" type="slidenum">
              <a:rPr lang="en-US" altLang="es-AR"/>
              <a:pPr/>
              <a:t>19</a:t>
            </a:fld>
            <a:endParaRPr lang="en-US" altLang="es-AR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224668" indent="-224668"/>
            <a:r>
              <a:rPr lang="en-US" altLang="es-AR" dirty="0"/>
              <a:t>Consumer examples:</a:t>
            </a:r>
          </a:p>
          <a:p>
            <a:pPr marL="224668" indent="-224668">
              <a:buFontTx/>
              <a:buChar char="•"/>
            </a:pPr>
            <a:r>
              <a:rPr lang="en-US" altLang="es-AR" dirty="0"/>
              <a:t> housing</a:t>
            </a:r>
          </a:p>
          <a:p>
            <a:pPr marL="224668" indent="-224668">
              <a:buFontTx/>
              <a:buChar char="•"/>
            </a:pPr>
            <a:r>
              <a:rPr lang="en-US" altLang="es-AR" dirty="0"/>
              <a:t> automobiles</a:t>
            </a:r>
          </a:p>
          <a:p>
            <a:pPr marL="224668" indent="-224668">
              <a:buFontTx/>
              <a:buChar char="•"/>
            </a:pPr>
            <a:r>
              <a:rPr lang="en-US" altLang="es-AR" dirty="0"/>
              <a:t> boats</a:t>
            </a:r>
          </a:p>
          <a:p>
            <a:pPr marL="224668" indent="-224668">
              <a:buFontTx/>
              <a:buChar char="•"/>
            </a:pPr>
            <a:r>
              <a:rPr lang="en-US" altLang="es-AR" dirty="0"/>
              <a:t> computer equipment</a:t>
            </a:r>
          </a:p>
          <a:p>
            <a:pPr marL="224668" indent="-224668">
              <a:buFontTx/>
              <a:buChar char="•"/>
            </a:pPr>
            <a:endParaRPr lang="en-US" altLang="es-AR" dirty="0"/>
          </a:p>
          <a:p>
            <a:pPr marL="224668" indent="-224668"/>
            <a:r>
              <a:rPr lang="en-US" altLang="es-AR" dirty="0"/>
              <a:t>Industrial examples:</a:t>
            </a:r>
          </a:p>
          <a:p>
            <a:pPr marL="224668" indent="-224668">
              <a:buFontTx/>
              <a:buChar char="•"/>
            </a:pPr>
            <a:r>
              <a:rPr lang="en-US" altLang="es-AR" dirty="0"/>
              <a:t> oil tankers</a:t>
            </a:r>
          </a:p>
          <a:p>
            <a:pPr marL="224668" indent="-224668">
              <a:buFontTx/>
              <a:buChar char="•"/>
            </a:pPr>
            <a:r>
              <a:rPr lang="en-US" altLang="es-AR" dirty="0"/>
              <a:t> tractors and agricultural machinery</a:t>
            </a:r>
          </a:p>
          <a:p>
            <a:pPr marL="224668" indent="-224668">
              <a:buFontTx/>
              <a:buChar char="•"/>
            </a:pPr>
            <a:r>
              <a:rPr lang="en-US" altLang="es-AR" dirty="0"/>
              <a:t> airplanes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D159001-9610-49D1-8472-F4D452E2144D}" type="slidenum">
              <a:rPr lang="en-US" altLang="es-AR"/>
              <a:pPr/>
              <a:t>26</a:t>
            </a:fld>
            <a:endParaRPr lang="en-US" altLang="es-AR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Major application of equilibrium model:  to predict the impact on price and quantity of changes in demand or supply.</a:t>
            </a:r>
          </a:p>
          <a:p>
            <a:endParaRPr lang="en-US" altLang="es-AR"/>
          </a:p>
          <a:p>
            <a:r>
              <a:rPr lang="en-US" altLang="es-AR"/>
              <a:t>Now, consider shift in demand, holding supply unchanged.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25C623D-B200-4E7D-81EB-D6F39A49FA60}" type="slidenum">
              <a:rPr lang="en-US" altLang="es-AR"/>
              <a:pPr/>
              <a:t>27</a:t>
            </a:fld>
            <a:endParaRPr lang="en-US" altLang="es-AR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Exercise: work out various scenarios</a:t>
            </a:r>
          </a:p>
          <a:p>
            <a:pPr>
              <a:buFontTx/>
              <a:buChar char="•"/>
            </a:pPr>
            <a:r>
              <a:rPr lang="en-US" altLang="es-AR"/>
              <a:t> completely elastic supply</a:t>
            </a:r>
          </a:p>
          <a:p>
            <a:pPr>
              <a:buFontTx/>
              <a:buChar char="•"/>
            </a:pPr>
            <a:r>
              <a:rPr lang="en-US" altLang="es-AR"/>
              <a:t> completely inelastic supply</a:t>
            </a:r>
          </a:p>
          <a:p>
            <a:pPr>
              <a:buFontTx/>
              <a:buChar char="•"/>
            </a:pPr>
            <a:r>
              <a:rPr lang="en-US" altLang="es-AR"/>
              <a:t>completely elastic demand</a:t>
            </a:r>
          </a:p>
          <a:p>
            <a:pPr>
              <a:buFontTx/>
              <a:buChar char="•"/>
            </a:pPr>
            <a:r>
              <a:rPr lang="en-US" altLang="es-AR"/>
              <a:t> completely inelastic demand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C31DDF-C916-473A-9E4D-F2547615C24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6600" cy="340995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15918"/>
            <a:ext cx="5028579" cy="4167578"/>
          </a:xfrm>
          <a:noFill/>
          <a:ln/>
        </p:spPr>
        <p:txBody>
          <a:bodyPr lIns="91201" tIns="45600" rIns="91201" bIns="4560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FF6730A-9B32-408A-AE90-011C85FFF64D}" type="slidenum">
              <a:rPr lang="en-US" altLang="es-AR"/>
              <a:pPr/>
              <a:t>30</a:t>
            </a:fld>
            <a:endParaRPr lang="en-US" altLang="es-A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Two fundamental building blocks of managerial economics:</a:t>
            </a:r>
          </a:p>
          <a:p>
            <a:pPr>
              <a:buFontTx/>
              <a:buChar char="•"/>
            </a:pPr>
            <a:r>
              <a:rPr lang="en-US" altLang="es-AR"/>
              <a:t> demand</a:t>
            </a:r>
          </a:p>
          <a:p>
            <a:pPr>
              <a:buFontTx/>
              <a:buChar char="•"/>
            </a:pPr>
            <a:r>
              <a:rPr lang="en-US" altLang="es-AR"/>
              <a:t> costs-- we discuss from two perspectives</a:t>
            </a:r>
          </a:p>
          <a:p>
            <a:pPr lvl="1">
              <a:buFontTx/>
              <a:buChar char="•"/>
            </a:pPr>
            <a:r>
              <a:rPr lang="en-US" altLang="es-AR"/>
              <a:t>  as building block for model of competitive markets -- current chapter;</a:t>
            </a:r>
          </a:p>
          <a:p>
            <a:pPr lvl="1">
              <a:buFontTx/>
              <a:buChar char="•"/>
            </a:pPr>
            <a:r>
              <a:rPr lang="en-US" altLang="es-AR"/>
              <a:t>  as basis for strategic business decisions -- Chapter 7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CD0B308-CF4B-49F5-8BE8-E5CB584DD57A}" type="slidenum">
              <a:rPr lang="en-US" altLang="es-AR"/>
              <a:pPr/>
              <a:t>31</a:t>
            </a:fld>
            <a:endParaRPr lang="en-US" altLang="es-AR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1" tIns="45716" rIns="91431" bIns="45716"/>
          <a:lstStyle/>
          <a:p>
            <a:r>
              <a:rPr lang="en-US" altLang="es-AR"/>
              <a:t>Distinction between variable/fixed cost important for decisions on </a:t>
            </a:r>
          </a:p>
          <a:p>
            <a:pPr>
              <a:buFontTx/>
              <a:buChar char="•"/>
            </a:pPr>
            <a:r>
              <a:rPr lang="en-US" altLang="es-AR"/>
              <a:t> scale of production</a:t>
            </a:r>
          </a:p>
          <a:p>
            <a:pPr>
              <a:buFontTx/>
              <a:buChar char="•"/>
            </a:pPr>
            <a:r>
              <a:rPr lang="en-US" altLang="es-AR"/>
              <a:t> whether to continue in business</a:t>
            </a:r>
          </a:p>
          <a:p>
            <a:endParaRPr lang="en-US" altLang="es-AR"/>
          </a:p>
          <a:p>
            <a:pPr>
              <a:buFontTx/>
              <a:buChar char="•"/>
            </a:pPr>
            <a:endParaRPr lang="en-US" altLang="es-A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919D47A-D24B-4145-9724-C174E069F1DB}" type="slidenum">
              <a:rPr lang="en-US" altLang="es-AR"/>
              <a:pPr/>
              <a:t>32</a:t>
            </a:fld>
            <a:endParaRPr lang="en-US" altLang="es-A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 sz="1400" dirty="0"/>
              <a:t>Opportunity cost is relevant, but not reflected in accounting statements;</a:t>
            </a:r>
          </a:p>
          <a:p>
            <a:pPr>
              <a:buFontTx/>
              <a:buChar char="•"/>
            </a:pPr>
            <a:r>
              <a:rPr lang="en-US" altLang="es-AR" sz="1400" dirty="0"/>
              <a:t> must uncover through analysis</a:t>
            </a:r>
          </a:p>
          <a:p>
            <a:pPr>
              <a:buFontTx/>
              <a:buChar char="•"/>
            </a:pPr>
            <a:endParaRPr lang="en-US" altLang="es-AR" sz="1400" dirty="0"/>
          </a:p>
          <a:p>
            <a:r>
              <a:rPr lang="en-US" altLang="es-AR" sz="1400" dirty="0"/>
              <a:t>Opportunity cost is very important concept in finance -- underlies “Economic Value Added”, which is now showing up in many corporate annual reports.</a:t>
            </a:r>
            <a:r>
              <a:rPr lang="en-US" altLang="es-AR" sz="1600" dirty="0"/>
              <a:t> 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43AEE78-3348-43A1-B143-052CA51709AF}" type="slidenum">
              <a:rPr lang="en-US" altLang="es-AR"/>
              <a:pPr/>
              <a:t>34</a:t>
            </a:fld>
            <a:endParaRPr lang="en-US" altLang="es-AR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If market price falls, should business reduce production or shut down? </a:t>
            </a:r>
          </a:p>
          <a:p>
            <a:r>
              <a:rPr lang="en-US" altLang="es-AR"/>
              <a:t>Correct managerial decision depends on time horizon – which inputs can be adjusted.</a:t>
            </a:r>
          </a:p>
          <a:p>
            <a:endParaRPr lang="en-US" altLang="es-AR"/>
          </a:p>
          <a:p>
            <a:r>
              <a:rPr lang="en-US" altLang="es-AR"/>
              <a:t>Focus on short run, then later consider long run;</a:t>
            </a:r>
          </a:p>
          <a:p>
            <a:r>
              <a:rPr lang="en-US" altLang="es-AR"/>
              <a:t>distinction between short/long run on supply side similar to that on demand side (Chapter 3).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4A08598-18D3-4BCC-ADF6-8728AEBB00B7}" type="slidenum">
              <a:rPr lang="en-US" altLang="es-AR"/>
              <a:pPr/>
              <a:t>35</a:t>
            </a:fld>
            <a:endParaRPr lang="en-US" altLang="es-AR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Conditions look similar to those for short run:  key difference – all variables are for the </a:t>
            </a:r>
            <a:r>
              <a:rPr lang="en-US" altLang="es-AR" i="1"/>
              <a:t>long run</a:t>
            </a:r>
            <a:endParaRPr lang="en-US" altLang="es-AR"/>
          </a:p>
          <a:p>
            <a:pPr>
              <a:buFontTx/>
              <a:buChar char="•"/>
            </a:pPr>
            <a:r>
              <a:rPr lang="en-US" altLang="es-AR"/>
              <a:t> long-run marginal cost may differ from short-run</a:t>
            </a:r>
          </a:p>
          <a:p>
            <a:pPr>
              <a:buFontTx/>
              <a:buChar char="•"/>
            </a:pPr>
            <a:r>
              <a:rPr lang="en-US" altLang="es-AR"/>
              <a:t> long-run price may differ from short-run</a:t>
            </a:r>
          </a:p>
          <a:p>
            <a:endParaRPr lang="en-US" altLang="es-AR"/>
          </a:p>
          <a:p>
            <a:r>
              <a:rPr lang="en-US" altLang="es-AR"/>
              <a:t>Breakeven: in long run, must cover fixed cost (sunk cost) as well, because in long run, no costs are sunk --&gt; hence either must be covered or business should not continue.</a:t>
            </a:r>
          </a:p>
          <a:p>
            <a:pPr algn="just"/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9CA5579-B0CB-47D7-B967-6B87A6772320}" type="slidenum">
              <a:rPr lang="en-US" altLang="es-AR"/>
              <a:pPr/>
              <a:t>36</a:t>
            </a:fld>
            <a:endParaRPr lang="en-US" altLang="es-AR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Note: This is author’s explanation of the facts;  without inside information on costs.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E9B76EC-CD82-4D5C-9CBD-BF92C7DEFC68}" type="slidenum">
              <a:rPr lang="en-US" altLang="es-AR"/>
              <a:pPr/>
              <a:t>37</a:t>
            </a:fld>
            <a:endParaRPr lang="en-US" altLang="es-AR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/>
            <a:r>
              <a:rPr lang="en-US" altLang="es-AR"/>
              <a:t>Horizontal sum: because add the quantities of the various sellers;</a:t>
            </a:r>
          </a:p>
          <a:p>
            <a:pPr algn="just"/>
            <a:r>
              <a:rPr lang="en-US" altLang="es-AR"/>
              <a:t>similar to construction of market demand curve -- horizontal sum of quantities demanded by individual buyers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A75A006-9383-4590-95AA-DD94CDC77BCB}" type="slidenum">
              <a:rPr lang="en-US" altLang="es-AR"/>
              <a:pPr/>
              <a:t>38</a:t>
            </a:fld>
            <a:endParaRPr lang="en-US" altLang="es-AR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A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70F77CA-8BA6-475C-8623-A6465925D8E4}" type="slidenum">
              <a:rPr lang="en-US" altLang="es-AR"/>
              <a:pPr/>
              <a:t>39</a:t>
            </a:fld>
            <a:endParaRPr lang="en-US" altLang="es-AR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Key difference between short and long run:  in short run, no entry or exit.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585146C-7821-4DD5-AE7D-7E8C64F6118B}" type="slidenum">
              <a:rPr lang="en-US" altLang="es-AR"/>
              <a:pPr/>
              <a:t>40</a:t>
            </a:fld>
            <a:endParaRPr lang="en-US" altLang="es-AR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 dirty="0"/>
              <a:t>Gentle slope:  </a:t>
            </a:r>
          </a:p>
          <a:p>
            <a:pPr>
              <a:buFontTx/>
              <a:buChar char="•"/>
            </a:pPr>
            <a:r>
              <a:rPr lang="en-US" altLang="es-AR" dirty="0"/>
              <a:t>  price increase will attract new sellers; so expansion in two ways</a:t>
            </a:r>
          </a:p>
          <a:p>
            <a:pPr lvl="1">
              <a:buFontTx/>
              <a:buChar char="•"/>
            </a:pPr>
            <a:r>
              <a:rPr lang="en-US" altLang="es-AR" dirty="0"/>
              <a:t> along marginal cost of existing sellers</a:t>
            </a:r>
          </a:p>
          <a:p>
            <a:pPr lvl="1">
              <a:buFontTx/>
              <a:buChar char="•"/>
            </a:pPr>
            <a:r>
              <a:rPr lang="en-US" altLang="es-AR" dirty="0"/>
              <a:t> addition of new sellers (this doesn’t occur in short run)</a:t>
            </a:r>
          </a:p>
          <a:p>
            <a:pPr>
              <a:buFontTx/>
              <a:buChar char="•"/>
            </a:pPr>
            <a:r>
              <a:rPr lang="en-US" altLang="es-AR" dirty="0"/>
              <a:t>  price reduction will drive out some sellers</a:t>
            </a:r>
          </a:p>
          <a:p>
            <a:endParaRPr lang="en-US" altLang="es-AR" dirty="0"/>
          </a:p>
          <a:p>
            <a:r>
              <a:rPr lang="en-US" altLang="es-AR" dirty="0"/>
              <a:t>Long-run supply will slope upward to extent that </a:t>
            </a:r>
            <a:r>
              <a:rPr lang="en-US" altLang="es-AR" dirty="0">
                <a:cs typeface="Times New Roman" pitchFamily="18" charset="0"/>
              </a:rPr>
              <a:t>expansion of quantity supplied will </a:t>
            </a:r>
          </a:p>
          <a:p>
            <a:pPr>
              <a:buFontTx/>
              <a:buChar char="•"/>
            </a:pPr>
            <a:r>
              <a:rPr lang="en-US" altLang="es-AR" dirty="0">
                <a:cs typeface="Times New Roman" pitchFamily="18" charset="0"/>
              </a:rPr>
              <a:t>  increase the prices of inputs or </a:t>
            </a:r>
          </a:p>
          <a:p>
            <a:pPr>
              <a:buFontTx/>
              <a:buChar char="•"/>
            </a:pPr>
            <a:r>
              <a:rPr lang="en-US" altLang="es-AR" dirty="0">
                <a:cs typeface="Times New Roman" pitchFamily="18" charset="0"/>
              </a:rPr>
              <a:t>  attract sellers with relatively less favorable resources</a:t>
            </a:r>
          </a:p>
          <a:p>
            <a:r>
              <a:rPr lang="en-US" altLang="es-AR" dirty="0"/>
              <a:t>If neither, then long-run supply will be flat.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B5F3EAB-6E9A-4025-B70D-09D096CD31FA}" type="slidenum">
              <a:rPr lang="en-US" altLang="es-AR"/>
              <a:pPr/>
              <a:t>41</a:t>
            </a:fld>
            <a:endParaRPr lang="en-US" altLang="es-AR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Analog to price elasticity of demand;</a:t>
            </a:r>
          </a:p>
          <a:p>
            <a:r>
              <a:rPr lang="en-US" altLang="es-AR"/>
              <a:t>case of negative price elasticity of supply -- when worker supplies fewer hours in response to higher wage</a:t>
            </a:r>
          </a:p>
          <a:p>
            <a:endParaRPr lang="en-US" altLang="es-AR"/>
          </a:p>
          <a:p>
            <a:r>
              <a:rPr lang="en-US" altLang="es-AR"/>
              <a:t>Intuitive factors in elasticity of supply of product/service:</a:t>
            </a:r>
          </a:p>
          <a:p>
            <a:pPr>
              <a:buFontTx/>
              <a:buChar char="•"/>
            </a:pPr>
            <a:r>
              <a:rPr lang="en-US" altLang="es-AR"/>
              <a:t>  capacity utilization </a:t>
            </a:r>
          </a:p>
          <a:p>
            <a:pPr>
              <a:buFontTx/>
              <a:buChar char="•"/>
            </a:pPr>
            <a:r>
              <a:rPr lang="en-US" altLang="es-AR"/>
              <a:t>  adjustment time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B648FE5-4108-4674-98ED-C2FBB8632065}" type="slidenum">
              <a:rPr lang="en-US" altLang="es-AR"/>
              <a:pPr/>
              <a:t>42</a:t>
            </a:fld>
            <a:endParaRPr lang="en-US" altLang="es-AR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When market price varies, seller profit varies much more than price;</a:t>
            </a:r>
          </a:p>
          <a:p>
            <a:pPr>
              <a:buFontTx/>
              <a:buChar char="•"/>
            </a:pPr>
            <a:r>
              <a:rPr lang="en-US" altLang="es-AR"/>
              <a:t> oil producers</a:t>
            </a:r>
          </a:p>
          <a:p>
            <a:pPr>
              <a:buFontTx/>
              <a:buChar char="•"/>
            </a:pPr>
            <a:r>
              <a:rPr lang="en-US" altLang="es-AR"/>
              <a:t> gold mines (see Discussion Question 8)</a:t>
            </a:r>
          </a:p>
          <a:p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4BB5E8C-9F45-4F2D-9206-BDE73B158670}" type="slidenum">
              <a:rPr lang="en-US" altLang="es-AR"/>
              <a:pPr/>
              <a:t>43</a:t>
            </a:fld>
            <a:endParaRPr lang="en-US" altLang="es-AR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Impact of supply shift depends on price elasticity of demand; </a:t>
            </a:r>
          </a:p>
          <a:p>
            <a:r>
              <a:rPr lang="en-US" altLang="es-AR"/>
              <a:t>consider two cases:</a:t>
            </a:r>
          </a:p>
          <a:p>
            <a:pPr>
              <a:buFontTx/>
              <a:buChar char="•"/>
            </a:pPr>
            <a:r>
              <a:rPr lang="en-US" altLang="es-AR"/>
              <a:t>  inelastic demand –full price impact, no impact on quantity</a:t>
            </a:r>
          </a:p>
          <a:p>
            <a:pPr>
              <a:buFontTx/>
              <a:buChar char="•"/>
            </a:pPr>
            <a:r>
              <a:rPr lang="en-US" altLang="es-AR"/>
              <a:t>  elastic demand – no price impact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EA1AEEA-5A09-455E-A190-E8A4F7E8A341}" type="slidenum">
              <a:rPr lang="en-US" altLang="es-AR"/>
              <a:pPr/>
              <a:t>44</a:t>
            </a:fld>
            <a:endParaRPr lang="en-US" altLang="es-A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Impact of supply shift also depends on price elasticity of supply; </a:t>
            </a:r>
          </a:p>
          <a:p>
            <a:r>
              <a:rPr lang="en-US" altLang="es-AR"/>
              <a:t>consider two cases:</a:t>
            </a:r>
          </a:p>
          <a:p>
            <a:pPr>
              <a:buFontTx/>
              <a:buChar char="•"/>
            </a:pPr>
            <a:r>
              <a:rPr lang="en-US" altLang="es-AR"/>
              <a:t>  inelastic supply – no impact on price or quantity</a:t>
            </a:r>
          </a:p>
          <a:p>
            <a:pPr>
              <a:buFontTx/>
              <a:buChar char="•"/>
            </a:pPr>
            <a:r>
              <a:rPr lang="en-US" altLang="es-AR"/>
              <a:t>  elastic supply – full price impact</a:t>
            </a:r>
          </a:p>
          <a:p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E2F5743-6208-431F-B519-5BE272ACBE72}" type="slidenum">
              <a:rPr lang="en-US" altLang="es-AR"/>
              <a:pPr/>
              <a:t>45</a:t>
            </a:fld>
            <a:endParaRPr lang="en-US" altLang="es-AR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C31DDF-C916-473A-9E4D-F2547615C248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6600" cy="340995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15918"/>
            <a:ext cx="5028579" cy="4167578"/>
          </a:xfrm>
          <a:noFill/>
          <a:ln/>
        </p:spPr>
        <p:txBody>
          <a:bodyPr lIns="91201" tIns="45600" rIns="91201" bIns="4560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F967FDE-B27E-43E5-9931-0004B15BF4FE}" type="slidenum">
              <a:rPr lang="en-US" altLang="es-AR"/>
              <a:pPr/>
              <a:t>51</a:t>
            </a:fld>
            <a:endParaRPr lang="en-US" altLang="es-AR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 dirty="0"/>
              <a:t>Business applications of buyer surplus – pricing:</a:t>
            </a:r>
          </a:p>
          <a:p>
            <a:pPr>
              <a:buFontTx/>
              <a:buChar char="•"/>
            </a:pPr>
            <a:r>
              <a:rPr lang="en-US" altLang="es-AR" dirty="0"/>
              <a:t>package deals</a:t>
            </a:r>
          </a:p>
          <a:p>
            <a:pPr>
              <a:buFontTx/>
              <a:buChar char="•"/>
            </a:pPr>
            <a:r>
              <a:rPr lang="en-US" altLang="es-AR" dirty="0"/>
              <a:t>two-part tariff</a:t>
            </a:r>
          </a:p>
          <a:p>
            <a:endParaRPr lang="en-US" altLang="es-AR" dirty="0"/>
          </a:p>
          <a:p>
            <a:r>
              <a:rPr lang="en-US" altLang="es-AR" dirty="0"/>
              <a:t>Essential objective: to extract all buyer surplus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FB0C0E2-C01A-44A5-B955-398DA72E7131}" type="slidenum">
              <a:rPr lang="en-US" altLang="es-AR"/>
              <a:pPr/>
              <a:t>52</a:t>
            </a:fld>
            <a:endParaRPr lang="en-US" altLang="es-AR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Analogous to buyer’s surplus on the demand side.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C31DDF-C916-473A-9E4D-F2547615C248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6600" cy="340995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15918"/>
            <a:ext cx="5028579" cy="4167578"/>
          </a:xfrm>
          <a:noFill/>
          <a:ln/>
        </p:spPr>
        <p:txBody>
          <a:bodyPr lIns="91201" tIns="45600" rIns="91201" bIns="4560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FA9D5EE-376F-4E09-A047-F5A145194166}" type="slidenum">
              <a:rPr lang="en-US" altLang="es-AR" sz="1200" smtClean="0">
                <a:latin typeface="Tahoma" panose="020B0604030504040204" pitchFamily="34" charset="0"/>
              </a:rPr>
              <a:pPr/>
              <a:t>57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Broadly, divide businesses/organizations into three types:</a:t>
            </a:r>
          </a:p>
          <a:p>
            <a:pPr>
              <a:buFontTx/>
              <a:buChar char="•"/>
            </a:pPr>
            <a:r>
              <a:rPr lang="en-US" altLang="es-AR"/>
              <a:t>  in perfectly competitive market – simply conform to market price and practices</a:t>
            </a:r>
          </a:p>
          <a:p>
            <a:pPr>
              <a:buFontTx/>
              <a:buChar char="•"/>
            </a:pPr>
            <a:r>
              <a:rPr lang="en-US" altLang="es-AR"/>
              <a:t>  market power – can influence buying or selling conditions, eg, monopoly can influence price at which it sells products</a:t>
            </a:r>
          </a:p>
          <a:p>
            <a:pPr>
              <a:buFontTx/>
              <a:buChar char="•"/>
            </a:pPr>
            <a:r>
              <a:rPr lang="en-US" altLang="es-AR"/>
              <a:t>  imperfect markets – again, business/organization can influence buying or selling conditions</a:t>
            </a:r>
          </a:p>
          <a:p>
            <a:endParaRPr lang="en-US" altLang="es-AR"/>
          </a:p>
          <a:p>
            <a:r>
              <a:rPr lang="en-US" altLang="es-AR"/>
              <a:t>This chapter, simple case of market power -- one seller/buyer;</a:t>
            </a:r>
          </a:p>
          <a:p>
            <a:pPr>
              <a:buFontTx/>
              <a:buChar char="•"/>
            </a:pPr>
            <a:r>
              <a:rPr lang="en-US" altLang="es-AR"/>
              <a:t> similar principles apply to cases of small number of sellers/buyers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59630DE-3B49-45D9-818E-11BB7DC2D6B7}" type="slidenum">
              <a:rPr lang="en-US" altLang="es-AR" sz="1200" smtClean="0">
                <a:latin typeface="Tahoma" panose="020B0604030504040204" pitchFamily="34" charset="0"/>
              </a:rPr>
              <a:pPr/>
              <a:t>58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More generally, seller with market power can influence demand -- through price, advertising, other forms of promotion.</a:t>
            </a:r>
          </a:p>
          <a:p>
            <a:endParaRPr lang="en-US" altLang="es-AR"/>
          </a:p>
          <a:p>
            <a:r>
              <a:rPr lang="en-US" altLang="es-AR"/>
              <a:t>Extreme case -- monopoly, </a:t>
            </a:r>
          </a:p>
          <a:p>
            <a:pPr>
              <a:buFontTx/>
              <a:buChar char="•"/>
            </a:pPr>
            <a:r>
              <a:rPr lang="en-US" altLang="es-AR"/>
              <a:t> in Kowloon and NT (Hong Kong), China Light and Power has monopoly over electricity;</a:t>
            </a:r>
          </a:p>
          <a:p>
            <a:pPr>
              <a:buFontTx/>
              <a:buChar char="•"/>
            </a:pPr>
            <a:r>
              <a:rPr lang="en-US" altLang="es-AR"/>
              <a:t> in Los Angeles, Dept of Water and Power has monopoly over electricity;</a:t>
            </a:r>
          </a:p>
          <a:p>
            <a:pPr>
              <a:buFontTx/>
              <a:buChar char="•"/>
            </a:pPr>
            <a:r>
              <a:rPr lang="en-US" altLang="es-AR"/>
              <a:t> until August 2001, Lilly had monopoly over Prozac</a:t>
            </a:r>
          </a:p>
          <a:p>
            <a:endParaRPr lang="en-US" altLang="es-AR"/>
          </a:p>
          <a:p>
            <a:r>
              <a:rPr lang="en-US" altLang="es-AR"/>
              <a:t>Oligopoly -- few suppliers, </a:t>
            </a:r>
          </a:p>
          <a:p>
            <a:pPr>
              <a:buFontTx/>
              <a:buChar char="•"/>
            </a:pPr>
            <a:r>
              <a:rPr lang="en-US" altLang="es-AR"/>
              <a:t> Hong Kong, mobile phone service -- Cable &amp; Wireless HKT, Hutchison, Smartone, Sunday.</a:t>
            </a:r>
          </a:p>
          <a:p>
            <a:pPr>
              <a:buFontTx/>
              <a:buChar char="•"/>
            </a:pPr>
            <a:r>
              <a:rPr lang="en-US" altLang="es-AR"/>
              <a:t> United States, credit card business, 1998: Visa (50% market share), MasterCard (25%), American Express (18%), Discover (6%) and Diner’s Club (1%) </a:t>
            </a:r>
          </a:p>
          <a:p>
            <a:pPr>
              <a:buFontTx/>
              <a:buChar char="•"/>
            </a:pPr>
            <a:r>
              <a:rPr lang="en-US" altLang="es-AR"/>
              <a:t> PC microprocessors:  Intel (70%+), AMD, Cyrix</a:t>
            </a:r>
          </a:p>
          <a:p>
            <a:pPr>
              <a:buFontTx/>
              <a:buChar char="•"/>
            </a:pPr>
            <a:r>
              <a:rPr lang="en-US" altLang="es-AR"/>
              <a:t> civil aircraft manufacturing: Boeing, Airbus</a:t>
            </a:r>
          </a:p>
          <a:p>
            <a:endParaRPr lang="en-US" altLang="es-AR"/>
          </a:p>
          <a:p>
            <a:r>
              <a:rPr lang="en-US" altLang="es-AR"/>
              <a:t>Monopoly-monopsony: business that is monopoly in selling an item may be monopsony for inputs into that item,</a:t>
            </a:r>
          </a:p>
          <a:p>
            <a:pPr>
              <a:buFontTx/>
              <a:buChar char="•"/>
            </a:pPr>
            <a:r>
              <a:rPr lang="en-US" altLang="es-AR"/>
              <a:t> Intel has market power over suppliers of equipment to fabricate semiconductors</a:t>
            </a:r>
          </a:p>
          <a:p>
            <a:pPr>
              <a:buFontTx/>
              <a:buChar char="•"/>
            </a:pPr>
            <a:r>
              <a:rPr lang="en-US" altLang="es-AR"/>
              <a:t> Boeing and Airbus have market power over suppliers of aircraft components </a:t>
            </a:r>
          </a:p>
          <a:p>
            <a:endParaRPr lang="en-US" altLang="es-AR"/>
          </a:p>
          <a:p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001CEB-9D62-4E61-A929-CA3B864ED25E}" type="slidenum">
              <a:rPr lang="en-US" altLang="es-AR" sz="1200" smtClean="0">
                <a:latin typeface="Tahoma" panose="020B0604030504040204" pitchFamily="34" charset="0"/>
              </a:rPr>
              <a:pPr/>
              <a:t>59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 sz="1400"/>
              <a:t> </a:t>
            </a:r>
            <a:r>
              <a:rPr lang="en-US" altLang="es-AR"/>
              <a:t>unique resources</a:t>
            </a:r>
          </a:p>
          <a:p>
            <a:pPr lvl="2">
              <a:spcBef>
                <a:spcPct val="20000"/>
              </a:spcBef>
              <a:buSzPct val="50000"/>
              <a:buFontTx/>
              <a:buChar char=""/>
            </a:pPr>
            <a:r>
              <a:rPr lang="en-US" altLang="es-AR"/>
              <a:t> human: in sports -- Tiger Woods, performing arts -- Luciano Pavarotti</a:t>
            </a:r>
          </a:p>
          <a:p>
            <a:pPr lvl="2">
              <a:spcBef>
                <a:spcPct val="20000"/>
              </a:spcBef>
              <a:buSzPct val="50000"/>
              <a:buFontTx/>
              <a:buChar char=""/>
            </a:pPr>
            <a:r>
              <a:rPr lang="en-US" altLang="es-AR"/>
              <a:t> natural – mineral resources (eg, rich gold deposit), retail location (eg, busiest corner in town)</a:t>
            </a:r>
          </a:p>
          <a:p>
            <a:pPr lvl="2">
              <a:spcBef>
                <a:spcPct val="20000"/>
              </a:spcBef>
              <a:buSzPct val="50000"/>
            </a:pPr>
            <a:endParaRPr lang="en-US" altLang="es-AR"/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intellectual property</a:t>
            </a:r>
          </a:p>
          <a:p>
            <a:pPr lvl="2">
              <a:spcBef>
                <a:spcPct val="20000"/>
              </a:spcBef>
              <a:buSzPct val="50000"/>
              <a:buFontTx/>
              <a:buChar char=""/>
            </a:pPr>
            <a:r>
              <a:rPr lang="en-US" altLang="es-AR"/>
              <a:t> patent: Glaxo over AZT; Creative Technology over Sound Blaster card; Intel over Pentium microprocessor</a:t>
            </a:r>
          </a:p>
          <a:p>
            <a:pPr lvl="2">
              <a:spcBef>
                <a:spcPct val="20000"/>
              </a:spcBef>
              <a:buSzPct val="50000"/>
              <a:buFontTx/>
              <a:buChar char=""/>
            </a:pPr>
            <a:r>
              <a:rPr lang="en-US" altLang="es-AR"/>
              <a:t> copyright: Microsoft over Office 2000, Windows Me, Ivan Png over Managerial Economics book.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economies of scale / scope</a:t>
            </a:r>
          </a:p>
          <a:p>
            <a:pPr lvl="2">
              <a:spcBef>
                <a:spcPct val="20000"/>
              </a:spcBef>
              <a:buFontTx/>
              <a:buChar char="–"/>
            </a:pPr>
            <a:r>
              <a:rPr lang="en-US" altLang="es-AR"/>
              <a:t> long-distance telecommunications</a:t>
            </a:r>
          </a:p>
          <a:p>
            <a:pPr lvl="2">
              <a:spcBef>
                <a:spcPct val="20000"/>
              </a:spcBef>
              <a:buFontTx/>
              <a:buChar char="–"/>
            </a:pPr>
            <a:r>
              <a:rPr lang="en-US" altLang="es-AR"/>
              <a:t> local cable television / local telephone / Internet access service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government licensing, may be right (natural monopoly) or unjustified (public enterprise without having performed an economic analysis)</a:t>
            </a:r>
          </a:p>
          <a:p>
            <a:pPr lvl="2">
              <a:spcBef>
                <a:spcPct val="20000"/>
              </a:spcBef>
              <a:buFontTx/>
              <a:buChar char="–"/>
            </a:pPr>
            <a:r>
              <a:rPr lang="en-US" altLang="es-AR"/>
              <a:t> electricity </a:t>
            </a:r>
          </a:p>
          <a:p>
            <a:pPr lvl="2">
              <a:spcBef>
                <a:spcPct val="20000"/>
              </a:spcBef>
              <a:buFontTx/>
              <a:buChar char="–"/>
            </a:pPr>
            <a:r>
              <a:rPr lang="en-US" altLang="es-AR"/>
              <a:t> telecommunications</a:t>
            </a:r>
          </a:p>
          <a:p>
            <a:pPr lvl="1">
              <a:spcBef>
                <a:spcPct val="20000"/>
              </a:spcBef>
            </a:pPr>
            <a:endParaRPr lang="en-US" altLang="es-AR"/>
          </a:p>
          <a:p>
            <a:pPr lvl="1">
              <a:spcBef>
                <a:spcPct val="20000"/>
              </a:spcBef>
            </a:pPr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30A4EC8-AA48-4706-8C2B-817E1EBE45CB}" type="slidenum">
              <a:rPr lang="en-US" altLang="es-AR" sz="1200" smtClean="0">
                <a:latin typeface="Tahoma" panose="020B0604030504040204" pitchFamily="34" charset="0"/>
              </a:rPr>
              <a:pPr/>
              <a:t>60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Elasticity: higher elasticity, more consumers “escape” a price increase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product differentiation</a:t>
            </a:r>
          </a:p>
          <a:p>
            <a:pPr lvl="2">
              <a:spcBef>
                <a:spcPct val="20000"/>
              </a:spcBef>
              <a:buFontTx/>
              <a:buChar char="–"/>
            </a:pPr>
            <a:r>
              <a:rPr lang="en-US" altLang="es-AR"/>
              <a:t> Coca Cola</a:t>
            </a:r>
          </a:p>
          <a:p>
            <a:pPr lvl="2">
              <a:spcBef>
                <a:spcPct val="20000"/>
              </a:spcBef>
              <a:buFontTx/>
              <a:buChar char="–"/>
            </a:pPr>
            <a:r>
              <a:rPr lang="en-US" altLang="es-AR"/>
              <a:t> J&amp;J prices Tylenol at double the price of generic acetaminophen</a:t>
            </a:r>
          </a:p>
          <a:p>
            <a:pPr lvl="1">
              <a:spcBef>
                <a:spcPct val="20000"/>
              </a:spcBef>
            </a:pPr>
            <a:endParaRPr lang="en-US" altLang="es-A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0D0B75F-2F62-46D1-A403-24DC80E3E850}" type="slidenum">
              <a:rPr lang="en-US" altLang="es-AR" sz="1200" smtClean="0">
                <a:latin typeface="Tahoma" panose="020B0604030504040204" pitchFamily="34" charset="0"/>
              </a:rPr>
              <a:pPr/>
              <a:t>61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For monopoly, demand curve = market demand </a:t>
            </a:r>
          </a:p>
          <a:p>
            <a:endParaRPr lang="en-US" altLang="es-AR"/>
          </a:p>
          <a:p>
            <a:r>
              <a:rPr lang="en-US" altLang="es-AR"/>
              <a:t>Monopoly can </a:t>
            </a:r>
          </a:p>
          <a:p>
            <a:pPr>
              <a:buFontTx/>
              <a:buChar char="•"/>
            </a:pPr>
            <a:r>
              <a:rPr lang="en-US" altLang="es-AR"/>
              <a:t>  either set price and let the market determine how much to buy or</a:t>
            </a:r>
          </a:p>
          <a:p>
            <a:pPr>
              <a:buFontTx/>
              <a:buChar char="•"/>
            </a:pPr>
            <a:r>
              <a:rPr lang="en-US" altLang="es-AR"/>
              <a:t>  decide how much to sell and let the market determine the price</a:t>
            </a:r>
          </a:p>
          <a:p>
            <a:r>
              <a:rPr lang="en-US" altLang="es-AR"/>
              <a:t>If tries to set both, then may be off the demand curve.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03CE944-82EE-42D3-BE2B-793DE7B58C33}" type="slidenum">
              <a:rPr lang="en-US" altLang="es-AR" sz="1200" smtClean="0">
                <a:latin typeface="Tahoma" panose="020B0604030504040204" pitchFamily="34" charset="0"/>
              </a:rPr>
              <a:pPr/>
              <a:t>62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s-AR"/>
              <a:t>Inframarginal units:  those other than the marginal unit;</a:t>
            </a:r>
          </a:p>
          <a:p>
            <a:pPr>
              <a:buFontTx/>
              <a:buChar char="•"/>
            </a:pPr>
            <a:r>
              <a:rPr lang="en-US" altLang="es-AR"/>
              <a:t> if price = $135, marginal unit = 1.30</a:t>
            </a:r>
          </a:p>
          <a:p>
            <a:pPr>
              <a:buFontTx/>
              <a:buChar char="•"/>
            </a:pPr>
            <a:r>
              <a:rPr lang="en-US" altLang="es-AR"/>
              <a:t> units from 0-119 are inframarginal</a:t>
            </a:r>
          </a:p>
          <a:p>
            <a:endParaRPr lang="en-US" altLang="es-AR"/>
          </a:p>
          <a:p>
            <a:r>
              <a:rPr lang="en-US" altLang="es-AR"/>
              <a:t>Marginal revenue = change in total revenue arising from selling an additional unit.</a:t>
            </a:r>
          </a:p>
          <a:p>
            <a:endParaRPr lang="en-US" altLang="es-AR"/>
          </a:p>
          <a:p>
            <a:r>
              <a:rPr lang="en-US" altLang="es-AR"/>
              <a:t>Difference between price/marginal revenue</a:t>
            </a:r>
          </a:p>
          <a:p>
            <a:pPr>
              <a:buFontTx/>
              <a:buChar char="•"/>
            </a:pPr>
            <a:r>
              <a:rPr lang="en-US" altLang="es-AR"/>
              <a:t> price generally exceeds marginal revenue</a:t>
            </a:r>
          </a:p>
          <a:p>
            <a:pPr>
              <a:buFontTx/>
              <a:buChar char="•"/>
            </a:pPr>
            <a:r>
              <a:rPr lang="en-US" altLang="es-AR"/>
              <a:t> difference (price – marginal revenue) depends on the elasticity of demand.</a:t>
            </a:r>
          </a:p>
          <a:p>
            <a:endParaRPr lang="en-US" altLang="es-AR" sz="1400"/>
          </a:p>
          <a:p>
            <a:endParaRPr lang="en-US" altLang="es-AR" sz="1400"/>
          </a:p>
          <a:p>
            <a:endParaRPr lang="en-US" altLang="es-AR" sz="1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0C4DE97-2101-41D9-92DC-6EA02105576C}" type="slidenum">
              <a:rPr lang="en-US" altLang="es-AR" sz="1200" smtClean="0">
                <a:latin typeface="Tahoma" panose="020B0604030504040204" pitchFamily="34" charset="0"/>
              </a:rPr>
              <a:pPr/>
              <a:t>63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A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D76C784-5984-40EB-B204-7550FFB1319E}" type="slidenum">
              <a:rPr lang="en-US" altLang="es-AR" sz="1200" smtClean="0">
                <a:latin typeface="Tahoma" panose="020B0604030504040204" pitchFamily="34" charset="0"/>
              </a:rPr>
              <a:pPr/>
              <a:t>64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es-AR"/>
              <a:t>Intuitive proof: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if marginal revenue &gt; marginal cost, sell more and increase profit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if marginal revenue &lt; marginal cost, sell less and increase profit</a:t>
            </a:r>
          </a:p>
          <a:p>
            <a:pPr>
              <a:spcBef>
                <a:spcPct val="20000"/>
              </a:spcBef>
            </a:pPr>
            <a:endParaRPr lang="en-US" altLang="es-AR"/>
          </a:p>
          <a:p>
            <a:pPr>
              <a:spcBef>
                <a:spcPct val="20000"/>
              </a:spcBef>
            </a:pPr>
            <a:r>
              <a:rPr lang="en-US" altLang="es-AR"/>
              <a:t>Comment:  This rule not directly useful;  we use it to understand how to respond to changes in demand and costs.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 Pricing lecture will introduce a directly useful rule for pricing based on demand elasticity and marginal cost. </a:t>
            </a:r>
          </a:p>
          <a:p>
            <a:pPr>
              <a:spcBef>
                <a:spcPct val="20000"/>
              </a:spcBef>
            </a:pPr>
            <a:endParaRPr lang="en-US" altLang="es-AR"/>
          </a:p>
          <a:p>
            <a:pPr>
              <a:spcBef>
                <a:spcPct val="20000"/>
              </a:spcBef>
            </a:pPr>
            <a:endParaRPr lang="en-US" altLang="es-A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1AFC893-34C5-4106-A2B0-1F7D097B181B}" type="slidenum">
              <a:rPr lang="en-US" altLang="es-AR" sz="1200" smtClean="0">
                <a:latin typeface="Tahoma" panose="020B0604030504040204" pitchFamily="34" charset="0"/>
              </a:rPr>
              <a:pPr/>
              <a:t>65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Generally, profit-maximizing price is not highest possible price;</a:t>
            </a:r>
          </a:p>
          <a:p>
            <a:pPr lvl="1">
              <a:buFontTx/>
              <a:buChar char="•"/>
            </a:pPr>
            <a:r>
              <a:rPr lang="en-US" altLang="es-AR"/>
              <a:t> monopoly can literally set any price, but how much would customers buy?</a:t>
            </a:r>
          </a:p>
          <a:p>
            <a:pPr lvl="1">
              <a:buFontTx/>
              <a:buChar char="•"/>
            </a:pPr>
            <a:r>
              <a:rPr lang="en-US" altLang="es-AR"/>
              <a:t> Glaxo priced AZT at £1 per 100 milligram capsule.</a:t>
            </a:r>
          </a:p>
          <a:p>
            <a:endParaRPr lang="en-US" altLang="es-AR"/>
          </a:p>
          <a:p>
            <a:pPr>
              <a:spcBef>
                <a:spcPct val="20000"/>
              </a:spcBef>
            </a:pPr>
            <a:r>
              <a:rPr lang="en-US" altLang="es-AR"/>
              <a:t>Monopoly scale is economically inefficient –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marginal revenue curve lies below its demand (marginal benefit) curve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at profit maximizing scale, marginal benefit &gt; marginal cost</a:t>
            </a:r>
          </a:p>
          <a:p>
            <a:endParaRPr lang="en-US" altLang="es-AR"/>
          </a:p>
          <a:p>
            <a:endParaRPr lang="en-US" altLang="es-AR" sz="1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D567348-C27F-4326-A98B-E4670513068D}" type="slidenum">
              <a:rPr lang="en-US" altLang="es-AR" sz="1200" smtClean="0">
                <a:latin typeface="Tahoma" panose="020B0604030504040204" pitchFamily="34" charset="0"/>
              </a:rPr>
              <a:pPr/>
              <a:t>66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Selling additional unit will change:</a:t>
            </a:r>
          </a:p>
          <a:p>
            <a:pPr>
              <a:buFontTx/>
              <a:buChar char="•"/>
            </a:pPr>
            <a:r>
              <a:rPr lang="en-US" altLang="es-AR"/>
              <a:t>  total revenue by marginal revenue</a:t>
            </a:r>
          </a:p>
          <a:p>
            <a:pPr>
              <a:buFontTx/>
              <a:buChar char="•"/>
            </a:pPr>
            <a:r>
              <a:rPr lang="en-US" altLang="es-AR"/>
              <a:t>  variable cost by marginal cost </a:t>
            </a:r>
          </a:p>
          <a:p>
            <a:r>
              <a:rPr lang="en-US" altLang="es-AR"/>
              <a:t>Hence, if no change to contribution margin, then marginal revenue = marginal cost 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F668678-BDD9-4FCE-99FE-E2F76D0584E4}" type="slidenum">
              <a:rPr lang="en-US" altLang="es-AR" sz="1200" smtClean="0">
                <a:latin typeface="Tahoma" panose="020B0604030504040204" pitchFamily="34" charset="0"/>
              </a:rPr>
              <a:pPr/>
              <a:t>67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What if there is a change in demand or cost conditions?</a:t>
            </a:r>
          </a:p>
          <a:p>
            <a:pPr>
              <a:buFontTx/>
              <a:buChar char="•"/>
            </a:pPr>
            <a:r>
              <a:rPr lang="en-US" altLang="es-AR"/>
              <a:t>  How should monopoly seller adjust production scale and price?</a:t>
            </a:r>
          </a:p>
          <a:p>
            <a:endParaRPr lang="en-US" altLang="es-AR"/>
          </a:p>
          <a:p>
            <a:r>
              <a:rPr lang="en-US" altLang="es-AR"/>
              <a:t>Analogy to perfect competition model:</a:t>
            </a:r>
          </a:p>
          <a:p>
            <a:pPr>
              <a:buFontTx/>
              <a:buChar char="•"/>
            </a:pPr>
            <a:r>
              <a:rPr lang="en-US" altLang="es-AR"/>
              <a:t> even if only one side of market changes, the profit maximum depends on knowing both demand and cost conditions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8EDD34A-081D-4B23-AC6E-548E09FCA478}" type="slidenum">
              <a:rPr lang="en-US" altLang="es-AR" sz="1200" smtClean="0">
                <a:latin typeface="Tahoma" panose="020B0604030504040204" pitchFamily="34" charset="0"/>
              </a:rPr>
              <a:pPr/>
              <a:t>68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Case of Eli Lilly’s Prozac:</a:t>
            </a:r>
          </a:p>
          <a:p>
            <a:r>
              <a:rPr lang="en-US" altLang="es-AR"/>
              <a:t>Barr product and other generics will reduce demand for Prozac:  hence Lilly should anticipate by setting lower price;  </a:t>
            </a:r>
          </a:p>
          <a:p>
            <a:endParaRPr lang="en-US" altLang="es-AR"/>
          </a:p>
          <a:p>
            <a:r>
              <a:rPr lang="en-US" altLang="es-AR"/>
              <a:t>New price and production scale depend on </a:t>
            </a:r>
            <a:r>
              <a:rPr lang="en-US" altLang="es-AR" i="1"/>
              <a:t>both</a:t>
            </a:r>
            <a:r>
              <a:rPr lang="en-US" altLang="es-AR"/>
              <a:t>:</a:t>
            </a:r>
          </a:p>
          <a:p>
            <a:pPr>
              <a:buFontTx/>
              <a:buChar char="•"/>
            </a:pPr>
            <a:r>
              <a:rPr lang="en-US" altLang="es-AR"/>
              <a:t> new demand curve -- effect of generics on demand for Prozac</a:t>
            </a:r>
          </a:p>
          <a:p>
            <a:pPr>
              <a:buFontTx/>
              <a:buChar char="•"/>
            </a:pPr>
            <a:r>
              <a:rPr lang="en-US" altLang="es-AR"/>
              <a:t> Lilly’s marginal cost -- does it fall with reduction in production?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79A2AB5-F644-40E2-8394-BC978E92FC00}" type="slidenum">
              <a:rPr lang="en-US" altLang="es-AR" sz="1200" smtClean="0">
                <a:latin typeface="Tahoma" panose="020B0604030504040204" pitchFamily="34" charset="0"/>
              </a:rPr>
              <a:pPr/>
              <a:t>69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Exercise: draw relevant figure to illustrate.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46B3C4D-35E4-47EE-A2A5-ABA93132A86F}" type="slidenum">
              <a:rPr lang="en-US" altLang="es-AR" sz="1200" smtClean="0">
                <a:latin typeface="Tahoma" panose="020B0604030504040204" pitchFamily="34" charset="0"/>
              </a:rPr>
              <a:pPr/>
              <a:t>70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Use this model to explain underlying microeconomics of Moore’s Law.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C93F344-9BEB-429B-8168-2ED93A6494A9}" type="slidenum">
              <a:rPr lang="en-US" altLang="es-AR" sz="1200" smtClean="0">
                <a:latin typeface="Tahoma" panose="020B0604030504040204" pitchFamily="34" charset="0"/>
              </a:rPr>
              <a:pPr/>
              <a:t>71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Practically, it is difficult to know the marginal revenue;</a:t>
            </a:r>
          </a:p>
          <a:p>
            <a:pPr>
              <a:buFontTx/>
              <a:buChar char="•"/>
            </a:pPr>
            <a:r>
              <a:rPr lang="en-US" altLang="es-AR"/>
              <a:t>  formula in terms of incremental margin and price elasticity is easier to apply;</a:t>
            </a:r>
          </a:p>
          <a:p>
            <a:pPr>
              <a:buFontTx/>
              <a:buChar char="•"/>
            </a:pPr>
            <a:r>
              <a:rPr lang="en-US" altLang="es-AR"/>
              <a:t>  recall: price elasticity of demand is negative number</a:t>
            </a:r>
          </a:p>
          <a:p>
            <a:endParaRPr lang="en-US" altLang="es-AR"/>
          </a:p>
          <a:p>
            <a:r>
              <a:rPr lang="en-US" altLang="es-AR"/>
              <a:t>Math supplement:  proves that </a:t>
            </a:r>
            <a:r>
              <a:rPr lang="en-US" altLang="es-AR">
                <a:cs typeface="Times New Roman" panose="02020603050405020304" pitchFamily="18" charset="0"/>
              </a:rPr>
              <a:t>incremental margin percentage rule is equivalent to the rule of marginal revenue equals marginal cost.</a:t>
            </a:r>
          </a:p>
          <a:p>
            <a:endParaRPr lang="en-US" altLang="es-AR"/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EDDBA5A-AB20-43B7-98A1-AEA44CC74249}" type="slidenum">
              <a:rPr lang="en-US" altLang="es-AR" sz="1200" smtClean="0">
                <a:latin typeface="Tahoma" panose="020B0604030504040204" pitchFamily="34" charset="0"/>
              </a:rPr>
              <a:pPr/>
              <a:t>72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solidFill>
              <a:schemeClr val="tx1"/>
            </a:solidFill>
          </a:ln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es-AR"/>
              <a:t>If demand is inelastic, then seller should raise price: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revenue will increase -- sales will fall, but proportionately less than price increase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costs will fall (because selling fewer items)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profit will rise</a:t>
            </a:r>
          </a:p>
          <a:p>
            <a:pPr>
              <a:spcBef>
                <a:spcPct val="20000"/>
              </a:spcBef>
            </a:pPr>
            <a:endParaRPr lang="en-US" altLang="es-AR"/>
          </a:p>
          <a:p>
            <a:pPr>
              <a:spcBef>
                <a:spcPct val="20000"/>
              </a:spcBef>
            </a:pPr>
            <a:r>
              <a:rPr lang="en-US" altLang="es-AR"/>
              <a:t>Formula directly specifies incremental margin percentage;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formula indirectly specifies price;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s-AR"/>
              <a:t> common misconception: elasticity of demand determines the profit-maximizing price.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s-AR"/>
              <a:t>  Not true: consider pricing of Heineken vs Coke in hotel room mini-bar;  if same price elasticity, then same IM%, (</a:t>
            </a:r>
            <a:r>
              <a:rPr lang="en-US" altLang="es-AR" i="1"/>
              <a:t>not same price</a:t>
            </a:r>
            <a:r>
              <a:rPr lang="en-US" altLang="es-AR"/>
              <a:t>).</a:t>
            </a:r>
          </a:p>
          <a:p>
            <a:pPr>
              <a:spcBef>
                <a:spcPct val="20000"/>
              </a:spcBef>
            </a:pPr>
            <a:r>
              <a:rPr lang="en-US" altLang="es-AR"/>
              <a:t>  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8C9D80F-D4E5-4C14-8E53-E126444E738B}" type="slidenum">
              <a:rPr lang="en-US" altLang="es-AR" sz="1200" smtClean="0">
                <a:latin typeface="Tahoma" panose="020B0604030504040204" pitchFamily="34" charset="0"/>
              </a:rPr>
              <a:pPr/>
              <a:t>73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Two extreme cases of market structure on seller side:</a:t>
            </a:r>
          </a:p>
          <a:p>
            <a:pPr>
              <a:buFontTx/>
              <a:buChar char="•"/>
            </a:pPr>
            <a:r>
              <a:rPr lang="en-US" altLang="es-AR"/>
              <a:t> perfect competition </a:t>
            </a:r>
          </a:p>
          <a:p>
            <a:pPr>
              <a:buFontTx/>
              <a:buChar char="•"/>
            </a:pPr>
            <a:r>
              <a:rPr lang="en-US" altLang="es-AR"/>
              <a:t> monopoly</a:t>
            </a:r>
          </a:p>
          <a:p>
            <a:endParaRPr lang="en-US" altLang="es-AR"/>
          </a:p>
          <a:p>
            <a:r>
              <a:rPr lang="en-US" altLang="es-AR"/>
              <a:t>Monopoly restricts sales to</a:t>
            </a:r>
          </a:p>
          <a:p>
            <a:pPr>
              <a:buFontTx/>
              <a:buChar char="•"/>
            </a:pPr>
            <a:r>
              <a:rPr lang="en-US" altLang="es-AR"/>
              <a:t> achieve higher margin</a:t>
            </a:r>
          </a:p>
          <a:p>
            <a:pPr>
              <a:buFontTx/>
              <a:buChar char="•"/>
            </a:pPr>
            <a:r>
              <a:rPr lang="en-US" altLang="es-AR"/>
              <a:t> earn profit above competitive level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6CECB28-FAB3-4C6E-A3B6-AC9DC1833F17}" type="slidenum">
              <a:rPr lang="en-US" altLang="es-AR" sz="1200" smtClean="0">
                <a:latin typeface="Tahoma" panose="020B0604030504040204" pitchFamily="34" charset="0"/>
              </a:rPr>
              <a:pPr/>
              <a:t>74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716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 dirty="0"/>
              <a:t>Compare profit:</a:t>
            </a:r>
          </a:p>
          <a:p>
            <a:pPr>
              <a:buFontTx/>
              <a:buChar char="•"/>
            </a:pPr>
            <a:r>
              <a:rPr lang="en-US" altLang="es-AR" dirty="0"/>
              <a:t> competitive industry: zero profit – revenues just cover all costs (including opportunity cost of capital)</a:t>
            </a:r>
          </a:p>
          <a:p>
            <a:pPr>
              <a:buFontTx/>
              <a:buChar char="•"/>
            </a:pPr>
            <a:r>
              <a:rPr lang="en-US" altLang="es-AR" dirty="0"/>
              <a:t> monopoly: substantial profit</a:t>
            </a:r>
          </a:p>
          <a:p>
            <a:endParaRPr lang="en-US" altLang="es-AR" dirty="0"/>
          </a:p>
          <a:p>
            <a:r>
              <a:rPr lang="en-US" altLang="es-AR" dirty="0"/>
              <a:t>Value of monopoly: Singapore Telecom had exclusive license for domestic and international telecoms until March 31, 2007.</a:t>
            </a:r>
          </a:p>
          <a:p>
            <a:pPr>
              <a:buFontTx/>
              <a:buChar char="•"/>
            </a:pPr>
            <a:r>
              <a:rPr lang="en-US" altLang="es-AR" dirty="0"/>
              <a:t> In May 1996, Government decided to advance the introduction of competition to April 1, 2000.</a:t>
            </a:r>
          </a:p>
          <a:p>
            <a:pPr>
              <a:buFontTx/>
              <a:buChar char="•"/>
            </a:pPr>
            <a:r>
              <a:rPr lang="en-US" altLang="es-AR" dirty="0"/>
              <a:t> For 7-year loss of monopoly, Government paid SingTel S$1.5 billion; note that payment was in 1996 for loss between 2000-2007.</a:t>
            </a:r>
          </a:p>
          <a:p>
            <a:r>
              <a:rPr lang="en-US" altLang="es-AR" dirty="0"/>
              <a:t> </a:t>
            </a:r>
          </a:p>
          <a:p>
            <a:endParaRPr lang="en-US" altLang="es-AR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6A7C471-C90C-4295-930D-F7DDFCD74DC2}" type="slidenum">
              <a:rPr lang="en-US" altLang="es-AR" sz="1200" smtClean="0">
                <a:latin typeface="Tahoma" panose="020B0604030504040204" pitchFamily="34" charset="0"/>
              </a:rPr>
              <a:pPr/>
              <a:t>75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s-AR"/>
              <a:t>Two extreme cases of market structure on seller side:</a:t>
            </a:r>
          </a:p>
          <a:p>
            <a:pPr>
              <a:buFontTx/>
              <a:buChar char="•"/>
            </a:pPr>
            <a:r>
              <a:rPr lang="en-US" altLang="es-AR"/>
              <a:t> perfect competition </a:t>
            </a:r>
          </a:p>
          <a:p>
            <a:pPr>
              <a:buFontTx/>
              <a:buChar char="•"/>
            </a:pPr>
            <a:r>
              <a:rPr lang="en-US" altLang="es-AR"/>
              <a:t> monopoly</a:t>
            </a:r>
          </a:p>
          <a:p>
            <a:endParaRPr lang="en-US" altLang="es-AR"/>
          </a:p>
          <a:p>
            <a:r>
              <a:rPr lang="en-US" altLang="es-AR"/>
              <a:t>Monopoly restricts sales to</a:t>
            </a:r>
          </a:p>
          <a:p>
            <a:pPr>
              <a:buFontTx/>
              <a:buChar char="•"/>
            </a:pPr>
            <a:r>
              <a:rPr lang="en-US" altLang="es-AR"/>
              <a:t> achieve higher margin</a:t>
            </a:r>
          </a:p>
          <a:p>
            <a:pPr>
              <a:buFontTx/>
              <a:buChar char="•"/>
            </a:pPr>
            <a:r>
              <a:rPr lang="en-US" altLang="es-AR"/>
              <a:t> earn profit above competitive level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AB465DD-2936-4B71-B5B1-530C76F86BE5}" type="slidenum">
              <a:rPr lang="en-US" altLang="es-AR" sz="1200" smtClean="0">
                <a:latin typeface="Tahoma" panose="020B0604030504040204" pitchFamily="34" charset="0"/>
              </a:rPr>
              <a:pPr/>
              <a:t>76</a:t>
            </a:fld>
            <a:endParaRPr lang="en-US" altLang="es-AR" sz="1200">
              <a:latin typeface="Tahoma" panose="020B060403050404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s-ES" altLang="es-AR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5E183D7-BC7A-41DC-8000-01225F1D6E67}" type="slidenum">
              <a:rPr lang="en-US" altLang="es-AR"/>
              <a:pPr/>
              <a:t>77</a:t>
            </a:fld>
            <a:endParaRPr lang="en-US" altLang="es-AR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/>
            <a:r>
              <a:rPr lang="en-US" altLang="es-AR">
                <a:cs typeface="Times New Roman" pitchFamily="18" charset="0"/>
              </a:rPr>
              <a:t>Recall distinction between the short run and the long run: in the short run, some costs are sunk.</a:t>
            </a:r>
          </a:p>
          <a:p>
            <a:pPr algn="just"/>
            <a:r>
              <a:rPr lang="en-US" altLang="es-AR">
                <a:cs typeface="Times New Roman" pitchFamily="18" charset="0"/>
              </a:rPr>
              <a:t>Market price is less volatile in industries where sunk costs are minor – then short-run supply closer to long-run supply.</a:t>
            </a:r>
          </a:p>
          <a:p>
            <a:endParaRPr lang="en-US" altLang="es-AR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274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30171" indent="-280835" defTabSz="914274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23340" indent="-224668" defTabSz="914274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572677" indent="-224668" defTabSz="914274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22013" indent="-224668" defTabSz="914274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471349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20685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370021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19357" indent="-224668" defTabSz="91427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0D115B3-6C76-403B-9609-A6108B0E5657}" type="slidenum">
              <a:rPr lang="es-AR" altLang="es-AR" sz="1200"/>
              <a:pPr/>
              <a:t>78</a:t>
            </a:fld>
            <a:endParaRPr lang="es-AR" altLang="es-AR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7238" cy="3425825"/>
          </a:xfrm>
          <a:solidFill>
            <a:srgbClr val="FFFFFF"/>
          </a:solidFill>
          <a:ln w="12700" cap="flat"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66" tIns="46033" rIns="92066" bIns="46033"/>
          <a:lstStyle/>
          <a:p>
            <a:pPr eaLnBrk="1" hangingPunct="1"/>
            <a:r>
              <a:rPr lang="en-US" altLang="es-AR"/>
              <a:t>Example 1: labor unions restrict competition among workers in selling labor.</a:t>
            </a:r>
          </a:p>
          <a:p>
            <a:pPr eaLnBrk="1" hangingPunct="1"/>
            <a:endParaRPr lang="en-US" altLang="es-AR"/>
          </a:p>
          <a:p>
            <a:pPr eaLnBrk="1" hangingPunct="1"/>
            <a:r>
              <a:rPr lang="en-US" altLang="es-AR"/>
              <a:t>Example 2:  international vitamin cartel</a:t>
            </a:r>
          </a:p>
          <a:p>
            <a:pPr eaLnBrk="1" hangingPunct="1">
              <a:buFontTx/>
              <a:buChar char="•"/>
            </a:pPr>
            <a:r>
              <a:rPr lang="en-US" altLang="es-AR"/>
              <a:t> small number of manufacturers (all European)</a:t>
            </a:r>
          </a:p>
          <a:p>
            <a:pPr eaLnBrk="1" hangingPunct="1">
              <a:buFontTx/>
              <a:buChar char="•"/>
            </a:pPr>
            <a:r>
              <a:rPr lang="en-US" altLang="es-AR"/>
              <a:t> sunk costs of manufacturing</a:t>
            </a:r>
          </a:p>
          <a:p>
            <a:pPr eaLnBrk="1" hangingPunct="1">
              <a:buFontTx/>
              <a:buChar char="•"/>
            </a:pPr>
            <a:r>
              <a:rPr lang="en-US" altLang="es-AR"/>
              <a:t> homogeneous product – may in favor or against a cartel</a:t>
            </a:r>
          </a:p>
          <a:p>
            <a:pPr lvl="2" eaLnBrk="1" hangingPunct="1">
              <a:buFontTx/>
              <a:buChar char="•"/>
            </a:pPr>
            <a:r>
              <a:rPr lang="en-US" altLang="es-AR"/>
              <a:t> homogeneous product – easier to detect cheating against cartel</a:t>
            </a:r>
          </a:p>
          <a:p>
            <a:pPr lvl="2" eaLnBrk="1" hangingPunct="1">
              <a:buFontTx/>
              <a:buChar char="•"/>
            </a:pPr>
            <a:r>
              <a:rPr lang="en-US" altLang="es-AR"/>
              <a:t> homogeneous product – if a seller cuts price, will be able to attract relatively more customers from competitors than if products were differentiated</a:t>
            </a:r>
          </a:p>
          <a:p>
            <a:pPr eaLnBrk="1" hangingPunct="1"/>
            <a:r>
              <a:rPr lang="en-US" altLang="es-AR"/>
              <a:t>Cartel lasted 9 years until entry of Chinese manufacturers undercut prices for vitamin C.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C31DDF-C916-473A-9E4D-F2547615C248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81038"/>
            <a:ext cx="4546600" cy="340995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15918"/>
            <a:ext cx="5028579" cy="4167578"/>
          </a:xfrm>
          <a:noFill/>
          <a:ln/>
        </p:spPr>
        <p:txBody>
          <a:bodyPr lIns="91201" tIns="45600" rIns="91201" bIns="4560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09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7B2BE-9D83-4FC9-B987-4AB7F8046308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4A04-177C-421E-99F2-7C3A60390A90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5507B-AC52-4949-B731-A54075A91539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78B6-69F2-4757-AA94-99E969D7F0CA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BA045-644F-475F-B796-8F0BE98BCCDA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265DC-1DC0-451A-8EF7-2842990C485D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17C94-8AB7-4BC1-9700-70F2FEEABED2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7E502-B8B1-47D6-AF89-1762684B0C89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0056-BAE9-4637-8A5D-63A30FEC9474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B9AB8-377D-4AE8-AB77-6508155347B2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32A56-0F35-4860-9E9F-E565D17C8735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 y texto e imágenes prediseña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71538" y="192088"/>
            <a:ext cx="8162925" cy="14319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/>
          </p:nvPr>
        </p:nvSpPr>
        <p:spPr>
          <a:xfrm>
            <a:off x="912813" y="1905000"/>
            <a:ext cx="3978275" cy="41910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imágenes en línea 3"/>
          <p:cNvSpPr>
            <a:spLocks noGrp="1"/>
          </p:cNvSpPr>
          <p:nvPr>
            <p:ph type="clipArt" sz="half" idx="2"/>
          </p:nvPr>
        </p:nvSpPr>
        <p:spPr>
          <a:xfrm>
            <a:off x="5043488" y="1905000"/>
            <a:ext cx="3979862" cy="4191000"/>
          </a:xfrm>
        </p:spPr>
        <p:txBody>
          <a:bodyPr/>
          <a:lstStyle/>
          <a:p>
            <a:pPr lvl="0"/>
            <a:endParaRPr lang="es-AR" noProof="0"/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240906CE-9162-472D-B1F1-7DF5568AE5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AR"/>
          </a:p>
        </p:txBody>
      </p:sp>
      <p:sp>
        <p:nvSpPr>
          <p:cNvPr id="6" name="Rectangle 68">
            <a:extLst>
              <a:ext uri="{FF2B5EF4-FFF2-40B4-BE49-F238E27FC236}">
                <a16:creationId xmlns:a16="http://schemas.microsoft.com/office/drawing/2014/main" id="{8AF832EE-38EF-4CEA-9CC1-A5BE772CFE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s-AR"/>
          </a:p>
        </p:txBody>
      </p:sp>
      <p:sp>
        <p:nvSpPr>
          <p:cNvPr id="7" name="Rectangle 69">
            <a:extLst>
              <a:ext uri="{FF2B5EF4-FFF2-40B4-BE49-F238E27FC236}">
                <a16:creationId xmlns:a16="http://schemas.microsoft.com/office/drawing/2014/main" id="{8BA6CC13-14D1-4DFE-8222-22A0A5EDB9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E8D520-86C3-48F1-9220-80F684568652}" type="slidenum">
              <a:rPr lang="es-ES" altLang="es-AR"/>
              <a:pPr/>
              <a:t>‹#›</a:t>
            </a:fld>
            <a:endParaRPr lang="es-ES" alt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0AFAD-DC74-4F0C-AFEA-1D913D84CDB4}" type="datetime1">
              <a:rPr lang="es-AR" smtClean="0"/>
              <a:pPr/>
              <a:t>25/10/2025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8960A-F05D-419B-B699-494D53EC5C2E}" type="slidenum">
              <a:rPr lang="es-AR" smtClean="0"/>
              <a:pPr/>
              <a:t>‹#›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905000"/>
            <a:ext cx="8153400" cy="23622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400" b="1" i="1" dirty="0"/>
              <a:t>Economía de los Negocios</a:t>
            </a:r>
            <a:br>
              <a:rPr lang="en-US" sz="2400" b="1" i="1" dirty="0"/>
            </a:br>
            <a:r>
              <a:rPr lang="es-ES_tradnl" sz="2400" b="1" dirty="0"/>
              <a:t> </a:t>
            </a:r>
            <a:br>
              <a:rPr lang="en-US" sz="2400" b="1" i="1" dirty="0"/>
            </a:br>
            <a:r>
              <a:rPr lang="en-US" sz="2400" b="1" i="1" dirty="0" err="1"/>
              <a:t>Profesores</a:t>
            </a:r>
            <a:r>
              <a:rPr lang="en-US" sz="2400" b="1" i="1" dirty="0"/>
              <a:t> Daniel Artana y Ramiro Moya</a:t>
            </a:r>
            <a:br>
              <a:rPr lang="en-US" sz="2400" b="1" i="1" dirty="0"/>
            </a:br>
            <a:br>
              <a:rPr lang="en-US" sz="2400" b="1" i="1" dirty="0"/>
            </a:br>
            <a:r>
              <a:rPr lang="en-US" sz="2400" b="1" i="1" dirty="0" err="1"/>
              <a:t>Ayudante</a:t>
            </a:r>
            <a:r>
              <a:rPr lang="en-US" sz="2400" b="1" i="1" dirty="0"/>
              <a:t>: Marcos Chaluh</a:t>
            </a:r>
            <a:br>
              <a:rPr lang="en-US" sz="2400" b="1" i="1" dirty="0"/>
            </a:br>
            <a:endParaRPr lang="en-US" sz="1800" b="1" i="1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81000" y="4800600"/>
            <a:ext cx="8305800" cy="137160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en-US" sz="1800" b="1" i="1" dirty="0">
                <a:solidFill>
                  <a:schemeClr val="tx1"/>
                </a:solidFill>
              </a:rPr>
              <a:t> UCEMA 2025</a:t>
            </a:r>
          </a:p>
          <a:p>
            <a:pPr>
              <a:spcBef>
                <a:spcPct val="0"/>
              </a:spcBef>
            </a:pPr>
            <a:endParaRPr lang="en-US" sz="1800" b="1" i="1" dirty="0">
              <a:solidFill>
                <a:schemeClr val="tx1"/>
              </a:solidFill>
            </a:endParaRPr>
          </a:p>
        </p:txBody>
      </p:sp>
      <p:sp>
        <p:nvSpPr>
          <p:cNvPr id="1028" name="Line 3"/>
          <p:cNvSpPr>
            <a:spLocks noChangeShapeType="1"/>
          </p:cNvSpPr>
          <p:nvPr/>
        </p:nvSpPr>
        <p:spPr bwMode="auto">
          <a:xfrm>
            <a:off x="76200" y="1676400"/>
            <a:ext cx="8915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1</a:t>
            </a:fld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3"/>
          <p:cNvSpPr>
            <a:spLocks noChangeShapeType="1"/>
          </p:cNvSpPr>
          <p:nvPr/>
        </p:nvSpPr>
        <p:spPr bwMode="auto">
          <a:xfrm>
            <a:off x="0" y="2071688"/>
            <a:ext cx="8651875" cy="0"/>
          </a:xfrm>
          <a:prstGeom prst="line">
            <a:avLst/>
          </a:prstGeom>
          <a:noFill/>
          <a:ln w="44450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35589" name="Text Box 5"/>
          <p:cNvSpPr txBox="1">
            <a:spLocks noChangeArrowheads="1"/>
          </p:cNvSpPr>
          <p:nvPr/>
        </p:nvSpPr>
        <p:spPr bwMode="auto">
          <a:xfrm>
            <a:off x="457200" y="2819400"/>
            <a:ext cx="8137525" cy="461665"/>
          </a:xfrm>
          <a:prstGeom prst="rect">
            <a:avLst/>
          </a:prstGeom>
          <a:solidFill>
            <a:srgbClr val="0937B7"/>
          </a:solidFill>
          <a:ln w="9525">
            <a:solidFill>
              <a:srgbClr val="0937B7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609600" indent="-609600" algn="ctr">
              <a:spcBef>
                <a:spcPts val="600"/>
              </a:spcBef>
              <a:buFontTx/>
              <a:buNone/>
              <a:defRPr/>
            </a:pPr>
            <a:r>
              <a:rPr lang="es-AR" sz="2400" dirty="0">
                <a:solidFill>
                  <a:schemeClr val="bg1"/>
                </a:solidFill>
              </a:rPr>
              <a:t>Objeto de estudio de la economía. Micro y macroeconomía</a:t>
            </a:r>
            <a:endParaRPr lang="es-MX" sz="2400" i="1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2</a:t>
            </a:fld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s-AR" dirty="0"/>
              <a:t>¿Qué estudiamos en economía?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4102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AR" sz="3100" dirty="0"/>
              <a:t>Los recursos son escasos</a:t>
            </a:r>
          </a:p>
          <a:p>
            <a:r>
              <a:rPr lang="es-AR" sz="3100" dirty="0"/>
              <a:t>La economía es el estudio de cómo la sociedad administra esos recursos escasos</a:t>
            </a:r>
          </a:p>
          <a:p>
            <a:r>
              <a:rPr lang="es-AR" sz="3100" dirty="0"/>
              <a:t>Miles de agentes económicos (empresas, familias, gobierno) tomando decisiones se interrelacionan entre sí</a:t>
            </a:r>
          </a:p>
          <a:p>
            <a:pPr>
              <a:buNone/>
            </a:pPr>
            <a:endParaRPr lang="es-AR" sz="31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3</a:t>
            </a:fld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s-AR" dirty="0"/>
              <a:t>Diez principios generales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410200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AR" sz="3100" dirty="0"/>
              <a:t>Todos los agentes económicos enfrentan opciones y tienen que elegir entre éstas</a:t>
            </a:r>
          </a:p>
          <a:p>
            <a:pPr marL="971550" lvl="1" indent="-514350"/>
            <a:r>
              <a:rPr lang="es-AR" sz="2700" dirty="0"/>
              <a:t>Eficiencia vs. Equidad, Medio ambiente vs. Costos, Estudiar o trabajar, etc.</a:t>
            </a:r>
          </a:p>
          <a:p>
            <a:pPr marL="514350" indent="-514350">
              <a:buFont typeface="+mj-lt"/>
              <a:buAutoNum type="arabicPeriod"/>
            </a:pPr>
            <a:r>
              <a:rPr lang="es-AR" sz="3100" dirty="0"/>
              <a:t>El costo de algo es lo que dejamos de hacer para obtenerlo. Costo de oportunidad</a:t>
            </a:r>
          </a:p>
          <a:p>
            <a:pPr marL="514350" indent="-514350">
              <a:buFont typeface="+mj-lt"/>
              <a:buAutoNum type="arabicPeriod"/>
            </a:pPr>
            <a:r>
              <a:rPr lang="es-AR" sz="3100" dirty="0"/>
              <a:t>Las personas racionales piensan en términos marginales. Hago algo si el beneficio marginal supera al costo marginal</a:t>
            </a:r>
          </a:p>
          <a:p>
            <a:pPr marL="514350" indent="-514350">
              <a:buFont typeface="+mj-lt"/>
              <a:buAutoNum type="arabicPeriod"/>
            </a:pPr>
            <a:r>
              <a:rPr lang="es-AR" sz="3100" dirty="0"/>
              <a:t>Las personas responden a incentivos (sube el precio de un bien, consumimos menos)</a:t>
            </a:r>
          </a:p>
          <a:p>
            <a:pPr marL="514350" indent="-514350">
              <a:buFont typeface="+mj-lt"/>
              <a:buAutoNum type="arabicPeriod"/>
            </a:pPr>
            <a:r>
              <a:rPr lang="es-AR" sz="3100" dirty="0"/>
              <a:t>El comercio puede mejorar el bienestar de todos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4</a:t>
            </a:fld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s-AR" dirty="0"/>
              <a:t>Diez principios generales (cont.)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410200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s-AR" sz="3100" dirty="0"/>
              <a:t>En general los mercados organizan adecuadamente la actividad económica (La planificación central en la URSS antes de la caída del muro de Berlín vs. La “mano invisible” de Adam Smith)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s-AR" sz="3100" dirty="0"/>
              <a:t>Algunas veces el gobierno puede mejorar los resultados del mercado </a:t>
            </a:r>
          </a:p>
          <a:p>
            <a:pPr marL="971550" lvl="1" indent="-514350"/>
            <a:r>
              <a:rPr lang="es-AR" sz="2700" dirty="0"/>
              <a:t>Instituciones, derecho de propiedad</a:t>
            </a:r>
          </a:p>
          <a:p>
            <a:pPr marL="971550" lvl="1" indent="-514350"/>
            <a:r>
              <a:rPr lang="es-AR" sz="2700" dirty="0"/>
              <a:t>Fallas de mercado</a:t>
            </a:r>
          </a:p>
          <a:p>
            <a:pPr marL="971550" lvl="1" indent="-514350"/>
            <a:r>
              <a:rPr lang="es-AR" sz="2700" dirty="0"/>
              <a:t>Distribución del ingreso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s-AR" sz="3100" dirty="0"/>
              <a:t>El nivel de vida de un país depende de la capacidad que tenga de producir bienes y servicios. La productividad es clave. El rol del capital humano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s-AR" sz="3100" dirty="0"/>
              <a:t>Si el gobierno emite mucho dinero los precios aumentan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s-AR" sz="3100" dirty="0"/>
              <a:t>En el corto plazo puede haber una disyuntiva entre inflación y desempleo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5</a:t>
            </a:fld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s-AR" dirty="0"/>
              <a:t>¿Qué buscamos explicar en macro?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4102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AR" sz="3100" dirty="0"/>
              <a:t>Por qué algunos países crecen más que otros</a:t>
            </a:r>
          </a:p>
          <a:p>
            <a:r>
              <a:rPr lang="es-AR" sz="3100" dirty="0"/>
              <a:t>De qué dependen las fluctuaciones de corto plazo en la actividad económica</a:t>
            </a:r>
          </a:p>
          <a:p>
            <a:r>
              <a:rPr lang="es-AR" sz="3100" dirty="0"/>
              <a:t>Por qué hay inflación</a:t>
            </a:r>
          </a:p>
          <a:p>
            <a:r>
              <a:rPr lang="es-AR" sz="3100" dirty="0"/>
              <a:t>Qué causa el desempleo</a:t>
            </a:r>
          </a:p>
          <a:p>
            <a:r>
              <a:rPr lang="es-AR" sz="3100" dirty="0"/>
              <a:t>Qué influencia tiene lo que ocurre en el resto del mundo </a:t>
            </a:r>
          </a:p>
          <a:p>
            <a:r>
              <a:rPr lang="es-AR" sz="3100" dirty="0"/>
              <a:t>Qué puede hacer el gobierno para influir positivamente en lo anterior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6</a:t>
            </a:fld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3"/>
          <p:cNvSpPr>
            <a:spLocks noChangeShapeType="1"/>
          </p:cNvSpPr>
          <p:nvPr/>
        </p:nvSpPr>
        <p:spPr bwMode="auto">
          <a:xfrm>
            <a:off x="0" y="2071688"/>
            <a:ext cx="8651875" cy="0"/>
          </a:xfrm>
          <a:prstGeom prst="line">
            <a:avLst/>
          </a:prstGeom>
          <a:noFill/>
          <a:ln w="44450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35589" name="Text Box 5"/>
          <p:cNvSpPr txBox="1">
            <a:spLocks noChangeArrowheads="1"/>
          </p:cNvSpPr>
          <p:nvPr/>
        </p:nvSpPr>
        <p:spPr bwMode="auto">
          <a:xfrm>
            <a:off x="609600" y="2819400"/>
            <a:ext cx="8137525" cy="461665"/>
          </a:xfrm>
          <a:prstGeom prst="rect">
            <a:avLst/>
          </a:prstGeom>
          <a:solidFill>
            <a:srgbClr val="0937B7"/>
          </a:solidFill>
          <a:ln w="9525">
            <a:solidFill>
              <a:srgbClr val="0937B7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609600" indent="-609600" algn="ctr">
              <a:spcBef>
                <a:spcPts val="600"/>
              </a:spcBef>
              <a:buFontTx/>
              <a:buNone/>
              <a:defRPr/>
            </a:pPr>
            <a:r>
              <a:rPr lang="es-AR" sz="2400" dirty="0">
                <a:solidFill>
                  <a:schemeClr val="bg1"/>
                </a:solidFill>
              </a:rPr>
              <a:t> </a:t>
            </a:r>
            <a:r>
              <a:rPr lang="es-AR" sz="2400" b="1" dirty="0">
                <a:solidFill>
                  <a:schemeClr val="bg1"/>
                </a:solidFill>
              </a:rPr>
              <a:t>El mercado, la demanda y la oferta </a:t>
            </a:r>
            <a:endParaRPr lang="es-MX" sz="2400" i="1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7</a:t>
            </a:fld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C8EA983-4210-40BD-8480-EAEA62CEF689}" type="slidenum">
              <a:rPr lang="es-ES" altLang="es-AR"/>
              <a:pPr/>
              <a:t>8</a:t>
            </a:fld>
            <a:endParaRPr lang="es-ES" altLang="es-AR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52425"/>
            <a:ext cx="8240712" cy="120015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Mercados: Competencia Perfecta - supuestos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1835150"/>
            <a:ext cx="7772400" cy="4114800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producto homogéneo</a:t>
            </a:r>
          </a:p>
          <a:p>
            <a:pPr eaLnBrk="1" hangingPunct="1"/>
            <a:r>
              <a:rPr lang="es-AR" altLang="es-AR" sz="2800" dirty="0"/>
              <a:t>muchos consumidores</a:t>
            </a:r>
          </a:p>
          <a:p>
            <a:pPr eaLnBrk="1" hangingPunct="1"/>
            <a:r>
              <a:rPr lang="es-AR" altLang="es-AR" sz="2800" dirty="0"/>
              <a:t>muchos vendedores</a:t>
            </a:r>
          </a:p>
          <a:p>
            <a:pPr eaLnBrk="1" hangingPunct="1"/>
            <a:r>
              <a:rPr lang="es-AR" altLang="es-AR" sz="2800" dirty="0"/>
              <a:t>libre entrada y salida</a:t>
            </a:r>
          </a:p>
          <a:p>
            <a:pPr eaLnBrk="1" hangingPunct="1"/>
            <a:r>
              <a:rPr lang="es-AR" altLang="es-AR" sz="2800" dirty="0"/>
              <a:t>no hay problemas de información (simétrica y completa)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0F19933-DD0E-44D1-9004-09FE5E48C16A}" type="slidenum">
              <a:rPr lang="es-ES" altLang="es-AR"/>
              <a:pPr/>
              <a:t>9</a:t>
            </a:fld>
            <a:endParaRPr lang="es-ES" altLang="es-AR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620713"/>
            <a:ext cx="8162925" cy="646112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Información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Mercados en los cuales hay diferencias en la información no son tan competitivos como aquéllos en los cuales los consumidores y vendedores tienen la misma información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Servicio de tratamiento médico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Asesoramiento jurídico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E51499-8F95-4C0C-8282-0F54DB0D9C15}" type="slidenum">
              <a:rPr lang="es-ES" altLang="es-AR"/>
              <a:pPr/>
              <a:t>10</a:t>
            </a:fld>
            <a:endParaRPr lang="es-ES" altLang="es-AR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162925" cy="647700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Equilibrio de Mercado (I)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548188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Definición: </a:t>
            </a:r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altLang="es-AR" sz="2400" dirty="0"/>
              <a:t>Combinación de precio y cantidad de mercado tal que la cantidad demandada se iguala a la ofrecida.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Cuando el mercado está fuera del equilibrio, las fuerzas de mercado empujan al precio hacia el equilibrio.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578FE7B-A404-4CF5-A78C-5C5F673D0ABF}" type="slidenum">
              <a:rPr lang="es-ES" altLang="es-AR"/>
              <a:pPr/>
              <a:t>11</a:t>
            </a:fld>
            <a:endParaRPr lang="es-ES" altLang="es-AR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809750" y="-558800"/>
            <a:ext cx="58293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endParaRPr lang="es-ES" altLang="es-AR">
              <a:latin typeface="Times New Roman" pitchFamily="18" charset="0"/>
            </a:endParaRPr>
          </a:p>
        </p:txBody>
      </p:sp>
      <p:sp>
        <p:nvSpPr>
          <p:cNvPr id="15364" name="Line 3"/>
          <p:cNvSpPr>
            <a:spLocks noChangeShapeType="1"/>
          </p:cNvSpPr>
          <p:nvPr/>
        </p:nvSpPr>
        <p:spPr bwMode="auto">
          <a:xfrm>
            <a:off x="3048000" y="1758950"/>
            <a:ext cx="0" cy="3422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3054350" y="5181600"/>
            <a:ext cx="357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2803525" y="5180013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0</a:t>
            </a: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2651125" y="41132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20</a:t>
            </a: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2651125" y="36560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22</a:t>
            </a:r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3870325" y="5180013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8</a:t>
            </a: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4479925" y="51800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10</a:t>
            </a:r>
          </a:p>
        </p:txBody>
      </p:sp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5089525" y="51800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11</a:t>
            </a:r>
          </a:p>
        </p:txBody>
      </p:sp>
      <p:sp>
        <p:nvSpPr>
          <p:cNvPr id="15372" name="Freeform 11"/>
          <p:cNvSpPr>
            <a:spLocks/>
          </p:cNvSpPr>
          <p:nvPr/>
        </p:nvSpPr>
        <p:spPr bwMode="auto">
          <a:xfrm>
            <a:off x="3048000" y="3886200"/>
            <a:ext cx="2211388" cy="1296988"/>
          </a:xfrm>
          <a:custGeom>
            <a:avLst/>
            <a:gdLst>
              <a:gd name="T0" fmla="*/ 0 w 1393"/>
              <a:gd name="T1" fmla="*/ 0 h 817"/>
              <a:gd name="T2" fmla="*/ 2147483646 w 1393"/>
              <a:gd name="T3" fmla="*/ 0 h 817"/>
              <a:gd name="T4" fmla="*/ 2147483646 w 1393"/>
              <a:gd name="T5" fmla="*/ 2147483646 h 8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93" h="817">
                <a:moveTo>
                  <a:pt x="0" y="0"/>
                </a:moveTo>
                <a:lnTo>
                  <a:pt x="1392" y="0"/>
                </a:lnTo>
                <a:lnTo>
                  <a:pt x="1392" y="81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73" name="Freeform 12"/>
          <p:cNvSpPr>
            <a:spLocks/>
          </p:cNvSpPr>
          <p:nvPr/>
        </p:nvSpPr>
        <p:spPr bwMode="auto">
          <a:xfrm>
            <a:off x="3048000" y="4267200"/>
            <a:ext cx="1601788" cy="915988"/>
          </a:xfrm>
          <a:custGeom>
            <a:avLst/>
            <a:gdLst>
              <a:gd name="T0" fmla="*/ 0 w 1009"/>
              <a:gd name="T1" fmla="*/ 0 h 577"/>
              <a:gd name="T2" fmla="*/ 2147483646 w 1009"/>
              <a:gd name="T3" fmla="*/ 0 h 577"/>
              <a:gd name="T4" fmla="*/ 2147483646 w 1009"/>
              <a:gd name="T5" fmla="*/ 2147483646 h 57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9" h="577">
                <a:moveTo>
                  <a:pt x="0" y="0"/>
                </a:moveTo>
                <a:lnTo>
                  <a:pt x="1008" y="0"/>
                </a:lnTo>
                <a:lnTo>
                  <a:pt x="1008" y="57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74" name="Line 13"/>
          <p:cNvSpPr>
            <a:spLocks noChangeShapeType="1"/>
          </p:cNvSpPr>
          <p:nvPr/>
        </p:nvSpPr>
        <p:spPr bwMode="auto">
          <a:xfrm>
            <a:off x="4038600" y="3892550"/>
            <a:ext cx="0" cy="12890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>
            <a:off x="3054350" y="3130550"/>
            <a:ext cx="2584450" cy="189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 flipV="1">
            <a:off x="3051175" y="3584575"/>
            <a:ext cx="2736850" cy="159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77" name="Rectangle 16"/>
          <p:cNvSpPr>
            <a:spLocks noChangeArrowheads="1"/>
          </p:cNvSpPr>
          <p:nvPr/>
        </p:nvSpPr>
        <p:spPr bwMode="auto">
          <a:xfrm>
            <a:off x="5775325" y="3351213"/>
            <a:ext cx="660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oferta</a:t>
            </a:r>
          </a:p>
        </p:txBody>
      </p:sp>
      <p:sp>
        <p:nvSpPr>
          <p:cNvPr id="15378" name="Rectangle 17"/>
          <p:cNvSpPr>
            <a:spLocks noChangeArrowheads="1"/>
          </p:cNvSpPr>
          <p:nvPr/>
        </p:nvSpPr>
        <p:spPr bwMode="auto">
          <a:xfrm>
            <a:off x="5622925" y="4875213"/>
            <a:ext cx="9191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demanda</a:t>
            </a:r>
          </a:p>
        </p:txBody>
      </p:sp>
      <p:sp>
        <p:nvSpPr>
          <p:cNvPr id="15379" name="Rectangle 18"/>
          <p:cNvSpPr>
            <a:spLocks noChangeArrowheads="1"/>
          </p:cNvSpPr>
          <p:nvPr/>
        </p:nvSpPr>
        <p:spPr bwMode="auto">
          <a:xfrm>
            <a:off x="3032125" y="2894013"/>
            <a:ext cx="274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a</a:t>
            </a:r>
          </a:p>
        </p:txBody>
      </p:sp>
      <p:sp>
        <p:nvSpPr>
          <p:cNvPr id="15380" name="Rectangle 19"/>
          <p:cNvSpPr>
            <a:spLocks noChangeArrowheads="1"/>
          </p:cNvSpPr>
          <p:nvPr/>
        </p:nvSpPr>
        <p:spPr bwMode="auto">
          <a:xfrm>
            <a:off x="4479925" y="3960813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b</a:t>
            </a:r>
          </a:p>
        </p:txBody>
      </p:sp>
      <p:sp>
        <p:nvSpPr>
          <p:cNvPr id="15381" name="Rectangle 20"/>
          <p:cNvSpPr>
            <a:spLocks noChangeArrowheads="1"/>
          </p:cNvSpPr>
          <p:nvPr/>
        </p:nvSpPr>
        <p:spPr bwMode="auto">
          <a:xfrm>
            <a:off x="3032125" y="4799013"/>
            <a:ext cx="274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c</a:t>
            </a:r>
          </a:p>
        </p:txBody>
      </p:sp>
      <p:sp>
        <p:nvSpPr>
          <p:cNvPr id="15382" name="Rectangle 21"/>
          <p:cNvSpPr>
            <a:spLocks noChangeArrowheads="1"/>
          </p:cNvSpPr>
          <p:nvPr/>
        </p:nvSpPr>
        <p:spPr bwMode="auto">
          <a:xfrm>
            <a:off x="5715000" y="41132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equilibrio</a:t>
            </a:r>
          </a:p>
        </p:txBody>
      </p:sp>
      <p:sp>
        <p:nvSpPr>
          <p:cNvPr id="15383" name="Line 22"/>
          <p:cNvSpPr>
            <a:spLocks noChangeShapeType="1"/>
          </p:cNvSpPr>
          <p:nvPr/>
        </p:nvSpPr>
        <p:spPr bwMode="auto">
          <a:xfrm>
            <a:off x="4730750" y="4267200"/>
            <a:ext cx="984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84" name="Rectangle 23"/>
          <p:cNvSpPr>
            <a:spLocks noChangeArrowheads="1"/>
          </p:cNvSpPr>
          <p:nvPr/>
        </p:nvSpPr>
        <p:spPr bwMode="auto">
          <a:xfrm>
            <a:off x="3946525" y="3351213"/>
            <a:ext cx="15081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 dirty="0" err="1">
                <a:latin typeface="Palatino" charset="0"/>
              </a:rPr>
              <a:t>exceso</a:t>
            </a:r>
            <a:r>
              <a:rPr lang="en-US" altLang="es-AR" sz="1600" dirty="0">
                <a:latin typeface="Palatino" charset="0"/>
              </a:rPr>
              <a:t> de </a:t>
            </a:r>
            <a:r>
              <a:rPr lang="en-US" altLang="es-AR" sz="1600" dirty="0" err="1">
                <a:latin typeface="Palatino" charset="0"/>
              </a:rPr>
              <a:t>oferta</a:t>
            </a:r>
            <a:endParaRPr lang="en-US" altLang="es-AR" sz="1600" dirty="0">
              <a:latin typeface="Palatino" charset="0"/>
            </a:endParaRPr>
          </a:p>
        </p:txBody>
      </p:sp>
      <p:sp>
        <p:nvSpPr>
          <p:cNvPr id="15385" name="Line 24"/>
          <p:cNvSpPr>
            <a:spLocks noChangeShapeType="1"/>
          </p:cNvSpPr>
          <p:nvPr/>
        </p:nvSpPr>
        <p:spPr bwMode="auto">
          <a:xfrm>
            <a:off x="4572000" y="3663950"/>
            <a:ext cx="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15386" name="Rectangle 25"/>
          <p:cNvSpPr>
            <a:spLocks noChangeArrowheads="1"/>
          </p:cNvSpPr>
          <p:nvPr/>
        </p:nvSpPr>
        <p:spPr bwMode="auto">
          <a:xfrm>
            <a:off x="2843213" y="5753100"/>
            <a:ext cx="44545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s-AR" altLang="es-AR" sz="1600" dirty="0">
                <a:latin typeface="Palatino" charset="0"/>
              </a:rPr>
              <a:t>Cantidad (Millones de unidades al año)</a:t>
            </a:r>
          </a:p>
        </p:txBody>
      </p:sp>
      <p:sp>
        <p:nvSpPr>
          <p:cNvPr id="15387" name="Rectangle 26"/>
          <p:cNvSpPr>
            <a:spLocks noChangeArrowheads="1"/>
          </p:cNvSpPr>
          <p:nvPr/>
        </p:nvSpPr>
        <p:spPr bwMode="auto">
          <a:xfrm rot="-5400000">
            <a:off x="1292226" y="3521075"/>
            <a:ext cx="17462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s-AR" altLang="es-AR" sz="1600">
                <a:latin typeface="Palatino" charset="0"/>
              </a:rPr>
              <a:t>Precio ($/unidad)</a:t>
            </a:r>
          </a:p>
        </p:txBody>
      </p:sp>
      <p:sp>
        <p:nvSpPr>
          <p:cNvPr id="15388" name="Rectangle 27"/>
          <p:cNvSpPr>
            <a:spLocks noChangeArrowheads="1"/>
          </p:cNvSpPr>
          <p:nvPr/>
        </p:nvSpPr>
        <p:spPr bwMode="auto">
          <a:xfrm>
            <a:off x="2057400" y="838200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endParaRPr lang="es-ES" altLang="es-AR" sz="4400" b="1">
              <a:latin typeface="Tahoma" pitchFamily="34" charset="0"/>
            </a:endParaRPr>
          </a:p>
        </p:txBody>
      </p:sp>
      <p:sp>
        <p:nvSpPr>
          <p:cNvPr id="15389" name="Rectangle 28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604838"/>
            <a:ext cx="8162925" cy="646112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Equilibrio de Mercado (II)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96785A1-5570-4DAC-BFE8-BEB70E20C98F}" type="slidenum">
              <a:rPr lang="es-ES" altLang="es-AR"/>
              <a:pPr/>
              <a:t>12</a:t>
            </a:fld>
            <a:endParaRPr lang="es-ES" altLang="es-AR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n-US" altLang="es-AR" sz="3600" b="1" dirty="0" err="1">
                <a:solidFill>
                  <a:schemeClr val="tx1"/>
                </a:solidFill>
              </a:rPr>
              <a:t>Demanda</a:t>
            </a:r>
            <a:endParaRPr lang="en-US" altLang="es-AR" sz="3600" b="1" dirty="0">
              <a:solidFill>
                <a:schemeClr val="tx1"/>
              </a:solidFill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619625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Demanda individual</a:t>
            </a:r>
          </a:p>
          <a:p>
            <a:pPr eaLnBrk="1" hangingPunct="1"/>
            <a:r>
              <a:rPr lang="es-AR" altLang="es-AR" sz="2800" dirty="0"/>
              <a:t>Bienes normales </a:t>
            </a:r>
            <a:r>
              <a:rPr lang="es-AR" altLang="es-AR" sz="2800" i="1" dirty="0"/>
              <a:t>vis-a-vis</a:t>
            </a:r>
            <a:r>
              <a:rPr lang="es-AR" altLang="es-AR" sz="2800" dirty="0"/>
              <a:t> bienes inferiores</a:t>
            </a:r>
          </a:p>
          <a:p>
            <a:pPr eaLnBrk="1" hangingPunct="1"/>
            <a:r>
              <a:rPr lang="es-AR" altLang="es-AR" sz="2800" dirty="0"/>
              <a:t>Sustitutos </a:t>
            </a:r>
            <a:r>
              <a:rPr lang="es-AR" altLang="es-AR" sz="2800" i="1" dirty="0"/>
              <a:t>vis-a-vis</a:t>
            </a:r>
            <a:r>
              <a:rPr lang="es-AR" altLang="es-AR" sz="2800" dirty="0"/>
              <a:t> complementarios</a:t>
            </a:r>
          </a:p>
          <a:p>
            <a:pPr eaLnBrk="1" hangingPunct="1"/>
            <a:r>
              <a:rPr lang="es-AR" altLang="es-AR" sz="2800" dirty="0"/>
              <a:t>Demanda de mercado</a:t>
            </a:r>
          </a:p>
          <a:p>
            <a:pPr eaLnBrk="1" hangingPunct="1"/>
            <a:r>
              <a:rPr lang="es-AR" altLang="es-AR" sz="2800" dirty="0"/>
              <a:t>Excedente del consumidor (bruto y neto)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037B96F-EA1F-4944-9A6C-4CEDA1376AE8}" type="slidenum">
              <a:rPr lang="es-ES" altLang="es-AR"/>
              <a:pPr/>
              <a:t>13</a:t>
            </a:fld>
            <a:endParaRPr lang="es-ES" altLang="es-AR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n-US" altLang="es-AR" sz="3600" dirty="0" err="1">
                <a:solidFill>
                  <a:schemeClr val="tx1"/>
                </a:solidFill>
              </a:rPr>
              <a:t>Demanda</a:t>
            </a:r>
            <a:r>
              <a:rPr lang="en-US" altLang="es-AR" sz="3600" dirty="0">
                <a:solidFill>
                  <a:schemeClr val="tx1"/>
                </a:solidFill>
              </a:rPr>
              <a:t> Individual (I)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16113"/>
            <a:ext cx="8339137" cy="4827587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s-ES" altLang="es-AR" sz="2800" dirty="0"/>
              <a:t>Definición de curva de demanda: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s-ES" altLang="es-AR" sz="2400" dirty="0"/>
              <a:t>representa la cantidad que el comprador compraría a cada precio posible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s-ES" altLang="es-AR" sz="2400" dirty="0"/>
              <a:t>Representa el máximo precio que el comprador está dispuesto a pagar por cada unidad</a:t>
            </a:r>
          </a:p>
          <a:p>
            <a:pPr eaLnBrk="1" hangingPunct="1">
              <a:lnSpc>
                <a:spcPct val="90000"/>
              </a:lnSpc>
            </a:pPr>
            <a:r>
              <a:rPr lang="es-ES" altLang="es-AR" sz="2800" dirty="0"/>
              <a:t>Construcción -- “Dado todo lo demás constante, qué cantidad comprarías al precio de $p?’’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s-ES" altLang="es-AR" sz="2400" dirty="0"/>
              <a:t>  eje vertical  -- precio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es-ES" altLang="es-AR" sz="2400" dirty="0"/>
              <a:t>  eje horizontal – cantidad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E77C44D-1E1C-4C2A-852F-B5F1DB48C199}" type="slidenum">
              <a:rPr lang="es-ES" altLang="es-AR"/>
              <a:pPr/>
              <a:t>14</a:t>
            </a:fld>
            <a:endParaRPr lang="es-ES" altLang="es-AR"/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1063625" y="-1243013"/>
            <a:ext cx="5829300" cy="1524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endParaRPr lang="es-ES" altLang="es-AR">
              <a:latin typeface="Tahoma" pitchFamily="34" charset="0"/>
            </a:endParaRP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1539875" y="1616075"/>
            <a:ext cx="1588" cy="3643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1554163" y="5259388"/>
            <a:ext cx="5243512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371600" y="5014913"/>
            <a:ext cx="1841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endParaRPr lang="en-US" altLang="es-AR">
              <a:latin typeface="Tahoma" pitchFamily="34" charset="0"/>
            </a:endParaRPr>
          </a:p>
          <a:p>
            <a:endParaRPr lang="en-US" altLang="es-AR">
              <a:latin typeface="Tahoma" pitchFamily="34" charset="0"/>
            </a:endParaRP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1295400" y="52578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0</a:t>
            </a:r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1066800" y="4419600"/>
            <a:ext cx="579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2.50</a:t>
            </a:r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1311275" y="3659188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7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1066800" y="2819400"/>
            <a:ext cx="5794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9.50</a:t>
            </a:r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1219200" y="1981200"/>
            <a:ext cx="406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15</a:t>
            </a:r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2362200" y="53340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1</a:t>
            </a:r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4876800" y="53340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4</a:t>
            </a:r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6019800" y="53340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7</a:t>
            </a:r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3352800" y="5334000"/>
            <a:ext cx="295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2</a:t>
            </a: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4497388" y="3657600"/>
            <a:ext cx="27813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Tahoma" pitchFamily="34" charset="0"/>
              </a:rPr>
              <a:t>Curva de demanda individual</a:t>
            </a:r>
          </a:p>
        </p:txBody>
      </p:sp>
      <p:sp>
        <p:nvSpPr>
          <p:cNvPr id="9233" name="Line 17"/>
          <p:cNvSpPr>
            <a:spLocks noChangeShapeType="1"/>
          </p:cNvSpPr>
          <p:nvPr/>
        </p:nvSpPr>
        <p:spPr bwMode="auto">
          <a:xfrm flipH="1">
            <a:off x="4144963" y="3978275"/>
            <a:ext cx="1357312" cy="595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2743200" y="5715000"/>
            <a:ext cx="1758495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 dirty="0" err="1">
                <a:latin typeface="Tahoma" pitchFamily="34" charset="0"/>
              </a:rPr>
              <a:t>Cantidad</a:t>
            </a:r>
            <a:r>
              <a:rPr lang="en-US" altLang="es-AR" sz="1600" dirty="0">
                <a:latin typeface="Tahoma" pitchFamily="34" charset="0"/>
              </a:rPr>
              <a:t> del </a:t>
            </a:r>
            <a:r>
              <a:rPr lang="en-US" altLang="es-AR" sz="1600" dirty="0" err="1">
                <a:latin typeface="Tahoma" pitchFamily="34" charset="0"/>
              </a:rPr>
              <a:t>bien</a:t>
            </a:r>
            <a:endParaRPr lang="en-US" altLang="es-AR" sz="1600" dirty="0">
              <a:latin typeface="Tahoma" pitchFamily="34" charset="0"/>
            </a:endParaRPr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 rot="-5400000">
            <a:off x="479250" y="3114145"/>
            <a:ext cx="797270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 dirty="0" err="1">
                <a:latin typeface="Tahoma" pitchFamily="34" charset="0"/>
              </a:rPr>
              <a:t>Precio</a:t>
            </a:r>
            <a:r>
              <a:rPr lang="en-US" altLang="es-AR" sz="1600" dirty="0">
                <a:latin typeface="Tahoma" pitchFamily="34" charset="0"/>
              </a:rPr>
              <a:t> </a:t>
            </a:r>
          </a:p>
        </p:txBody>
      </p:sp>
      <p:sp>
        <p:nvSpPr>
          <p:cNvPr id="9236" name="Freeform 20"/>
          <p:cNvSpPr>
            <a:spLocks/>
          </p:cNvSpPr>
          <p:nvPr/>
        </p:nvSpPr>
        <p:spPr bwMode="auto">
          <a:xfrm>
            <a:off x="1539875" y="2973388"/>
            <a:ext cx="3506788" cy="2287587"/>
          </a:xfrm>
          <a:custGeom>
            <a:avLst/>
            <a:gdLst>
              <a:gd name="T0" fmla="*/ 0 w 2209"/>
              <a:gd name="T1" fmla="*/ 0 h 1441"/>
              <a:gd name="T2" fmla="*/ 2147483646 w 2209"/>
              <a:gd name="T3" fmla="*/ 0 h 1441"/>
              <a:gd name="T4" fmla="*/ 2147483646 w 2209"/>
              <a:gd name="T5" fmla="*/ 2147483646 h 1441"/>
              <a:gd name="T6" fmla="*/ 2147483646 w 2209"/>
              <a:gd name="T7" fmla="*/ 2147483646 h 1441"/>
              <a:gd name="T8" fmla="*/ 2147483646 w 2209"/>
              <a:gd name="T9" fmla="*/ 2147483646 h 1441"/>
              <a:gd name="T10" fmla="*/ 2147483646 w 2209"/>
              <a:gd name="T11" fmla="*/ 2147483646 h 1441"/>
              <a:gd name="T12" fmla="*/ 2147483646 w 2209"/>
              <a:gd name="T13" fmla="*/ 2147483646 h 1441"/>
              <a:gd name="T14" fmla="*/ 2147483646 w 2209"/>
              <a:gd name="T15" fmla="*/ 2147483646 h 144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209" h="1441">
                <a:moveTo>
                  <a:pt x="0" y="0"/>
                </a:moveTo>
                <a:lnTo>
                  <a:pt x="588" y="0"/>
                </a:lnTo>
                <a:lnTo>
                  <a:pt x="588" y="546"/>
                </a:lnTo>
                <a:lnTo>
                  <a:pt x="1226" y="546"/>
                </a:lnTo>
                <a:lnTo>
                  <a:pt x="1226" y="993"/>
                </a:lnTo>
                <a:lnTo>
                  <a:pt x="1226" y="1042"/>
                </a:lnTo>
                <a:lnTo>
                  <a:pt x="2208" y="1042"/>
                </a:lnTo>
                <a:lnTo>
                  <a:pt x="2208" y="144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9237" name="Rectangle 22"/>
          <p:cNvSpPr>
            <a:spLocks noGrp="1" noChangeArrowheads="1"/>
          </p:cNvSpPr>
          <p:nvPr>
            <p:ph type="title" idx="4294967295"/>
          </p:nvPr>
        </p:nvSpPr>
        <p:spPr>
          <a:xfrm>
            <a:off x="708025" y="555625"/>
            <a:ext cx="8162925" cy="646113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n-US" altLang="es-AR" sz="3600" dirty="0" err="1">
                <a:solidFill>
                  <a:schemeClr val="tx1"/>
                </a:solidFill>
              </a:rPr>
              <a:t>Demanda</a:t>
            </a:r>
            <a:r>
              <a:rPr lang="en-US" altLang="es-AR" sz="3600" dirty="0">
                <a:solidFill>
                  <a:schemeClr val="tx1"/>
                </a:solidFill>
              </a:rPr>
              <a:t> Individual (II)</a:t>
            </a:r>
            <a:endParaRPr lang="en-US" altLang="es-AR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B4303CD-5A46-485B-97CF-9CD58F02A422}" type="slidenum">
              <a:rPr lang="es-ES" altLang="es-AR"/>
              <a:pPr/>
              <a:t>15</a:t>
            </a:fld>
            <a:endParaRPr lang="es-ES" altLang="es-AR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n-US" altLang="es-AR" sz="3600" dirty="0" err="1">
                <a:solidFill>
                  <a:schemeClr val="tx1"/>
                </a:solidFill>
              </a:rPr>
              <a:t>Curva</a:t>
            </a:r>
            <a:r>
              <a:rPr lang="en-US" altLang="es-AR" sz="3600" dirty="0">
                <a:solidFill>
                  <a:schemeClr val="tx1"/>
                </a:solidFill>
              </a:rPr>
              <a:t> de </a:t>
            </a:r>
            <a:r>
              <a:rPr lang="en-US" altLang="es-AR" sz="3600" dirty="0" err="1">
                <a:solidFill>
                  <a:schemeClr val="tx1"/>
                </a:solidFill>
              </a:rPr>
              <a:t>Demanda</a:t>
            </a:r>
            <a:r>
              <a:rPr lang="en-US" altLang="es-AR" sz="3600" dirty="0">
                <a:solidFill>
                  <a:schemeClr val="tx1"/>
                </a:solidFill>
              </a:rPr>
              <a:t> - La </a:t>
            </a:r>
            <a:r>
              <a:rPr lang="en-US" altLang="es-AR" sz="3600" dirty="0" err="1">
                <a:solidFill>
                  <a:schemeClr val="tx1"/>
                </a:solidFill>
              </a:rPr>
              <a:t>Pendiente</a:t>
            </a:r>
            <a:endParaRPr lang="en-US" altLang="es-AR" sz="3600" dirty="0">
              <a:solidFill>
                <a:schemeClr val="tx1"/>
              </a:solidFill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838700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ES" altLang="es-AR" sz="2800" dirty="0"/>
              <a:t>Beneficio marginal decreciente – cada unidad adicional de consumo/uso provee menos “utilidad” que la unidad que le precedió.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ES" altLang="es-AR" sz="2400" dirty="0">
                <a:sym typeface="Wingdings" pitchFamily="2" charset="2"/>
              </a:rPr>
              <a:t>Curva de demanda con pendiente negativa 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ES" altLang="es-AR" sz="2400" dirty="0">
                <a:sym typeface="Wingdings" pitchFamily="2" charset="2"/>
              </a:rPr>
              <a:t>Satisfacción marginal decreciente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76F9995-5FB7-41BC-BEFC-92986B864BFB}" type="slidenum">
              <a:rPr lang="es-ES" altLang="es-AR"/>
              <a:pPr/>
              <a:t>16</a:t>
            </a:fld>
            <a:endParaRPr lang="es-ES" altLang="es-AR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6100"/>
            <a:ext cx="8350250" cy="1077913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Diferencias entre Consumidores </a:t>
            </a:r>
            <a:r>
              <a:rPr lang="es-AR" altLang="es-AR" sz="2800" dirty="0">
                <a:solidFill>
                  <a:schemeClr val="tx1"/>
                </a:solidFill>
              </a:rPr>
              <a:t>(heterogeneidad)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s-AR" altLang="es-AR" sz="2800" dirty="0"/>
              <a:t>La demanda depende de las preferencias de los consumidores</a:t>
            </a:r>
          </a:p>
          <a:p>
            <a:pPr eaLnBrk="1" hangingPunct="1"/>
            <a:r>
              <a:rPr lang="es-AR" altLang="es-AR" sz="2800" dirty="0"/>
              <a:t>Distintas preferencias </a:t>
            </a:r>
            <a:r>
              <a:rPr lang="es-AR" altLang="es-AR" sz="2800" dirty="0">
                <a:sym typeface="Wingdings" pitchFamily="2" charset="2"/>
              </a:rPr>
              <a:t> diferentes curvas de demanda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edad,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sexo, 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ingreso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estado civil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E899DA8-0EAC-4456-AA57-EB69C59DE3F3}" type="slidenum">
              <a:rPr lang="es-ES" altLang="es-AR"/>
              <a:pPr/>
              <a:t>17</a:t>
            </a:fld>
            <a:endParaRPr lang="es-ES" altLang="es-AR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n-US" altLang="es-AR" sz="3600" dirty="0" err="1">
                <a:solidFill>
                  <a:schemeClr val="tx1"/>
                </a:solidFill>
              </a:rPr>
              <a:t>Demanda</a:t>
            </a:r>
            <a:r>
              <a:rPr lang="en-US" altLang="es-AR" sz="3600" dirty="0">
                <a:solidFill>
                  <a:schemeClr val="tx1"/>
                </a:solidFill>
              </a:rPr>
              <a:t> e </a:t>
            </a:r>
            <a:r>
              <a:rPr lang="en-US" altLang="es-AR" sz="3600" dirty="0" err="1">
                <a:solidFill>
                  <a:schemeClr val="tx1"/>
                </a:solidFill>
              </a:rPr>
              <a:t>Ingreso</a:t>
            </a:r>
            <a:endParaRPr lang="en-US" altLang="es-AR" sz="3600" dirty="0">
              <a:solidFill>
                <a:schemeClr val="tx1"/>
              </a:solidFill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3957638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Cambios en precios </a:t>
            </a:r>
            <a:r>
              <a:rPr lang="es-AR" altLang="es-AR" sz="2400" i="1" dirty="0"/>
              <a:t>vis-a-vis</a:t>
            </a:r>
            <a:r>
              <a:rPr lang="es-AR" altLang="es-AR" sz="2400" dirty="0"/>
              <a:t> </a:t>
            </a:r>
            <a:r>
              <a:rPr lang="es-AR" altLang="es-AR" sz="2800" dirty="0"/>
              <a:t>ingreso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Bien normal – la demanda se incrementa con el ingreso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Bien inferior – la demanda cae con el ingreso.</a:t>
            </a:r>
          </a:p>
          <a:p>
            <a:pPr eaLnBrk="1" hangingPunct="1"/>
            <a:r>
              <a:rPr lang="es-AR" altLang="es-AR" sz="2800" dirty="0"/>
              <a:t>Desplazamiento de la demanda ante un cambio en el ingreso</a:t>
            </a:r>
          </a:p>
          <a:p>
            <a:pPr lvl="1" eaLnBrk="1" hangingPunct="1">
              <a:buFont typeface="Wingdings" pitchFamily="2" charset="2"/>
              <a:buChar char="q"/>
            </a:pPr>
            <a:endParaRPr lang="es-AR" altLang="es-AR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C805CE-D152-4C2E-A0E2-0E9CB133233A}" type="slidenum">
              <a:rPr lang="es-ES" altLang="es-AR"/>
              <a:pPr/>
              <a:t>18</a:t>
            </a:fld>
            <a:endParaRPr lang="es-ES" altLang="es-AR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7975"/>
            <a:ext cx="8350250" cy="120015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Otros factores que afectan la demanda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Precios de productos relacionados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sustitutos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complementarios</a:t>
            </a:r>
          </a:p>
          <a:p>
            <a:pPr eaLnBrk="1" hangingPunct="1"/>
            <a:r>
              <a:rPr lang="es-AR" altLang="es-AR" sz="2800" dirty="0"/>
              <a:t>Publicidad</a:t>
            </a:r>
          </a:p>
          <a:p>
            <a:pPr eaLnBrk="1" hangingPunct="1"/>
            <a:r>
              <a:rPr lang="es-AR" altLang="es-AR" sz="2800" dirty="0"/>
              <a:t>Clima</a:t>
            </a:r>
          </a:p>
          <a:p>
            <a:pPr eaLnBrk="1" hangingPunct="1"/>
            <a:r>
              <a:rPr lang="es-AR" altLang="es-AR" sz="2800" dirty="0"/>
              <a:t>Vida útil del producto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7EE35A8-5AFB-4C09-9598-B456EA7E9D44}" type="slidenum">
              <a:rPr lang="es-ES" altLang="es-AR"/>
              <a:pPr/>
              <a:t>19</a:t>
            </a:fld>
            <a:endParaRPr lang="es-ES" altLang="es-AR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Demanda por bienes durables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8339137" cy="4322762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Además de los factores usuales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i="1" dirty="0"/>
              <a:t>expectativas </a:t>
            </a:r>
            <a:r>
              <a:rPr lang="es-AR" altLang="es-AR" sz="2400" dirty="0"/>
              <a:t>sobre precios e ingreso futuro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costo de financiamiento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precios de modelos usados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es-AR" altLang="es-AR" sz="2400" dirty="0"/>
              <a:t>expectativa de aparición de un nuevo bien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51520" y="1965399"/>
            <a:ext cx="4104456" cy="959545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1800" dirty="0"/>
              <a:t>	Primer ajuste intuitivo sería pensar en el promedio de ventas de los últimos años. </a:t>
            </a: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457200" y="620688"/>
            <a:ext cx="8229600" cy="1066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Ejemplo:</a:t>
            </a:r>
            <a:r>
              <a:rPr kumimoji="0" lang="es-ES" sz="3600" b="1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Analizar y proyectar la d</a:t>
            </a:r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emanda de bebidas</a:t>
            </a: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9" y="3005496"/>
            <a:ext cx="3960439" cy="30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2996952"/>
            <a:ext cx="3960440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788024" y="1988840"/>
            <a:ext cx="3816424" cy="6480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O, tal vez mejor, la tendencia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620688"/>
            <a:ext cx="8153400" cy="742528"/>
          </a:xfrm>
          <a:ln>
            <a:solidFill>
              <a:schemeClr val="tx1"/>
            </a:solidFill>
          </a:ln>
        </p:spPr>
        <p:txBody>
          <a:bodyPr vert="horz" anchor="ctr">
            <a:normAutofit fontScale="90000"/>
          </a:bodyPr>
          <a:lstStyle/>
          <a:p>
            <a:r>
              <a:rPr lang="es-ES" sz="2800" b="1" dirty="0"/>
              <a:t>Cómo se estima la demanda por métodos econométricos 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752601"/>
            <a:ext cx="6126832" cy="52427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s-ES" sz="2000" dirty="0"/>
              <a:t>Promedio + precios (propio y sustitutos)</a:t>
            </a: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323951"/>
            <a:ext cx="5874841" cy="370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33400" y="1412776"/>
            <a:ext cx="6774904" cy="5242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Los precios importan, veamos qué pasa.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752601"/>
            <a:ext cx="7924800" cy="52427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s-ES" sz="2000" dirty="0"/>
              <a:t>Promedio + precios+ ingreso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5420" y="2317524"/>
            <a:ext cx="6070916" cy="382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620688"/>
            <a:ext cx="8153400" cy="742528"/>
          </a:xfrm>
          <a:ln>
            <a:solidFill>
              <a:schemeClr val="tx1"/>
            </a:solidFill>
          </a:ln>
        </p:spPr>
        <p:txBody>
          <a:bodyPr vert="horz" anchor="ctr">
            <a:normAutofit fontScale="90000"/>
          </a:bodyPr>
          <a:lstStyle/>
          <a:p>
            <a:r>
              <a:rPr lang="es-ES" sz="2800" b="1" dirty="0"/>
              <a:t>Cómo se estima la demanda por métodos econométricos 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9552" y="1412776"/>
            <a:ext cx="7924800" cy="5242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 ingreso también es relevante. Veamos.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907704" y="6237312"/>
            <a:ext cx="6408712" cy="383481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65760" marR="0" lvl="0" indent="-256032" algn="r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Pero todavía falta…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  <p:bldP spid="9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552" y="1821383"/>
            <a:ext cx="7620000" cy="38348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s-ES" sz="2000" dirty="0"/>
              <a:t>	promedio + precios + ingreso  + variable climática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420888"/>
            <a:ext cx="5730825" cy="3618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620688"/>
            <a:ext cx="8153400" cy="742528"/>
          </a:xfrm>
          <a:ln>
            <a:solidFill>
              <a:schemeClr val="tx1"/>
            </a:solidFill>
          </a:ln>
        </p:spPr>
        <p:txBody>
          <a:bodyPr vert="horz" anchor="ctr">
            <a:normAutofit fontScale="90000"/>
          </a:bodyPr>
          <a:lstStyle/>
          <a:p>
            <a:r>
              <a:rPr lang="es-ES" sz="2800" b="1" dirty="0"/>
              <a:t>Cómo se estima la demanda por métodos econométricos 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9552" y="1484784"/>
            <a:ext cx="8136904" cy="383481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 </a:t>
            </a:r>
            <a:r>
              <a:rPr kumimoji="0" lang="es-E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 estacionalidad viene de la mano con las 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variables climáticas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059832" y="6165304"/>
            <a:ext cx="5747792" cy="383481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r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/>
      <p:bldP spid="9" grpId="0"/>
      <p:bldP spid="1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11"/>
          <p:cNvSpPr>
            <a:spLocks noChangeArrowheads="1"/>
          </p:cNvSpPr>
          <p:nvPr/>
        </p:nvSpPr>
        <p:spPr bwMode="auto">
          <a:xfrm>
            <a:off x="381000" y="1700808"/>
            <a:ext cx="876300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s-ES" sz="2000" dirty="0">
                <a:latin typeface="Tahoma" pitchFamily="34" charset="0"/>
              </a:rPr>
              <a:t>     promedio + precios + variable climática + ingreso + propia historia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381000"/>
            <a:ext cx="8153400" cy="742528"/>
          </a:xfrm>
          <a:ln>
            <a:solidFill>
              <a:schemeClr val="tx1"/>
            </a:solidFill>
          </a:ln>
        </p:spPr>
        <p:txBody>
          <a:bodyPr vert="horz" anchor="ctr">
            <a:normAutofit fontScale="90000"/>
          </a:bodyPr>
          <a:lstStyle/>
          <a:p>
            <a:r>
              <a:rPr lang="es-ES" sz="2800" b="1" dirty="0"/>
              <a:t>Cómo se estima la demanda por métodos econométricos 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395959"/>
            <a:ext cx="5627840" cy="3553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95536" y="1268761"/>
            <a:ext cx="8763000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s-ES" sz="2000" dirty="0">
                <a:latin typeface="Tahoma" pitchFamily="34" charset="0"/>
              </a:rPr>
              <a:t>	Modelo dinámico, la historia también importa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9 CuadroTexto"/>
          <p:cNvSpPr txBox="1">
            <a:spLocks noChangeArrowheads="1"/>
          </p:cNvSpPr>
          <p:nvPr/>
        </p:nvSpPr>
        <p:spPr bwMode="auto">
          <a:xfrm>
            <a:off x="323528" y="1412776"/>
            <a:ext cx="856895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/>
            <a:r>
              <a:rPr lang="es-ES" sz="2000" dirty="0">
                <a:latin typeface="Tahoma" pitchFamily="34" charset="0"/>
                <a:cs typeface="Tahoma" pitchFamily="34" charset="0"/>
              </a:rPr>
              <a:t>Como puede observarse: el ajuste no es perfecto, lo que se busca es  minimizar los errores.</a:t>
            </a:r>
          </a:p>
          <a:p>
            <a:endParaRPr lang="es-ES" sz="2000" dirty="0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979712" y="2261683"/>
          <a:ext cx="5040560" cy="3327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Views" r:id="rId2" imgW="5502600" imgH="3628080" progId="">
                  <p:embed/>
                </p:oleObj>
              </mc:Choice>
              <mc:Fallback>
                <p:oleObj name="EViews" r:id="rId2" imgW="5502600" imgH="3628080" progId="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261683"/>
                        <a:ext cx="5040560" cy="3327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1835696" y="5805264"/>
            <a:ext cx="730830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Tahoma" pitchFamily="34" charset="0"/>
                <a:cs typeface="Tahoma" pitchFamily="34" charset="0"/>
              </a:rPr>
              <a:t>Nota 1: la escala de datos reales (rojo) y ajustados (verde) está en logaritmos, medido en el eje derecho</a:t>
            </a:r>
          </a:p>
          <a:p>
            <a:r>
              <a:rPr lang="es-ES" sz="1200" dirty="0">
                <a:latin typeface="Tahoma" pitchFamily="34" charset="0"/>
                <a:cs typeface="Tahoma" pitchFamily="34" charset="0"/>
              </a:rPr>
              <a:t>Nota 2:  la escala de los errores de ajuste (azul) está en logaritmos, en distinta amplitud que los niveles (eje izquierdo</a:t>
            </a:r>
            <a:r>
              <a:rPr lang="es-ES" sz="1400" dirty="0"/>
              <a:t>).</a:t>
            </a:r>
          </a:p>
          <a:p>
            <a:endParaRPr lang="es-ES" sz="11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12775" y="620688"/>
            <a:ext cx="8153400" cy="742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anchor="ctr">
            <a:normAutofit fontScale="92500"/>
          </a:bodyPr>
          <a:lstStyle/>
          <a:p>
            <a:pPr lvl="0">
              <a:spcBef>
                <a:spcPct val="0"/>
              </a:spcBef>
              <a:defRPr/>
            </a:pPr>
            <a:r>
              <a:rPr lang="es-ES" sz="2800" b="1" dirty="0"/>
              <a:t>Cómo se estima la demanda por métodos econométricos </a:t>
            </a:r>
            <a:endParaRPr kumimoji="0" lang="es-E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BD04BF2-CDA2-4753-9346-087B7CE18B01}" type="slidenum">
              <a:rPr lang="es-ES" altLang="es-AR"/>
              <a:pPr/>
              <a:t>26</a:t>
            </a:fld>
            <a:endParaRPr lang="es-ES" altLang="es-AR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08000"/>
            <a:ext cx="800100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Desplazamiento de Demanda (I)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476750"/>
          </a:xfrm>
          <a:noFill/>
          <a:ln>
            <a:solidFill>
              <a:schemeClr val="accent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Desplazamiento de demanda hacia abajo (izquierda) -&gt; menor precio, menor cantidad</a:t>
            </a:r>
          </a:p>
          <a:p>
            <a:pPr eaLnBrk="1" hangingPunct="1"/>
            <a:r>
              <a:rPr lang="es-AR" altLang="es-AR" sz="2800" dirty="0"/>
              <a:t>Desplazamiento de demanda hacia arriba (derecha) -&gt; precio más alto, mayor cantidad</a:t>
            </a:r>
          </a:p>
          <a:p>
            <a:pPr lvl="1" eaLnBrk="1" hangingPunct="1"/>
            <a:r>
              <a:rPr lang="es-AR" altLang="es-AR" sz="2400" dirty="0"/>
              <a:t>Razones?</a:t>
            </a:r>
          </a:p>
          <a:p>
            <a:pPr eaLnBrk="1" hangingPunct="1"/>
            <a:r>
              <a:rPr lang="es-AR" altLang="es-AR" sz="2800" dirty="0"/>
              <a:t>El equilibrio final depende de las </a:t>
            </a:r>
            <a:r>
              <a:rPr lang="es-AR" altLang="es-AR" sz="2800" i="1" dirty="0"/>
              <a:t>elasticidades</a:t>
            </a:r>
            <a:r>
              <a:rPr lang="es-AR" altLang="es-AR" sz="2800" dirty="0"/>
              <a:t> de demanda y oferta (que se definen más adelante)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C56594D-FC55-48AE-8E50-0AD8F1045956}" type="slidenum">
              <a:rPr lang="es-ES" altLang="es-AR"/>
              <a:pPr/>
              <a:t>27</a:t>
            </a:fld>
            <a:endParaRPr lang="es-ES" altLang="es-AR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1216025" y="0"/>
            <a:ext cx="58293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endParaRPr lang="es-ES" altLang="es-AR">
              <a:latin typeface="Times New Roman" pitchFamily="18" charset="0"/>
            </a:endParaRPr>
          </a:p>
        </p:txBody>
      </p:sp>
      <p:sp>
        <p:nvSpPr>
          <p:cNvPr id="35844" name="Freeform 3"/>
          <p:cNvSpPr>
            <a:spLocks/>
          </p:cNvSpPr>
          <p:nvPr/>
        </p:nvSpPr>
        <p:spPr bwMode="auto">
          <a:xfrm>
            <a:off x="2378075" y="2082800"/>
            <a:ext cx="3735388" cy="3201988"/>
          </a:xfrm>
          <a:custGeom>
            <a:avLst/>
            <a:gdLst>
              <a:gd name="T0" fmla="*/ 0 w 2353"/>
              <a:gd name="T1" fmla="*/ 0 h 2017"/>
              <a:gd name="T2" fmla="*/ 0 w 2353"/>
              <a:gd name="T3" fmla="*/ 2147483646 h 2017"/>
              <a:gd name="T4" fmla="*/ 2147483646 w 2353"/>
              <a:gd name="T5" fmla="*/ 2147483646 h 20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53" h="2017">
                <a:moveTo>
                  <a:pt x="0" y="0"/>
                </a:moveTo>
                <a:lnTo>
                  <a:pt x="0" y="2016"/>
                </a:lnTo>
                <a:lnTo>
                  <a:pt x="2352" y="201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2133600" y="5357813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0</a:t>
            </a:r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2057400" y="36052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20</a:t>
            </a:r>
          </a:p>
        </p:txBody>
      </p:sp>
      <p:sp>
        <p:nvSpPr>
          <p:cNvPr id="35847" name="Rectangle 6"/>
          <p:cNvSpPr>
            <a:spLocks noChangeArrowheads="1"/>
          </p:cNvSpPr>
          <p:nvPr/>
        </p:nvSpPr>
        <p:spPr bwMode="auto">
          <a:xfrm>
            <a:off x="3886200" y="52816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10</a:t>
            </a:r>
          </a:p>
        </p:txBody>
      </p:sp>
      <p:sp>
        <p:nvSpPr>
          <p:cNvPr id="35848" name="Rectangle 7"/>
          <p:cNvSpPr>
            <a:spLocks noChangeArrowheads="1"/>
          </p:cNvSpPr>
          <p:nvPr/>
        </p:nvSpPr>
        <p:spPr bwMode="auto">
          <a:xfrm>
            <a:off x="4495800" y="5281613"/>
            <a:ext cx="539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10.8</a:t>
            </a:r>
          </a:p>
        </p:txBody>
      </p:sp>
      <p:sp>
        <p:nvSpPr>
          <p:cNvPr id="35849" name="Freeform 8"/>
          <p:cNvSpPr>
            <a:spLocks/>
          </p:cNvSpPr>
          <p:nvPr/>
        </p:nvSpPr>
        <p:spPr bwMode="auto">
          <a:xfrm>
            <a:off x="2378075" y="3835400"/>
            <a:ext cx="1754188" cy="1449388"/>
          </a:xfrm>
          <a:custGeom>
            <a:avLst/>
            <a:gdLst>
              <a:gd name="T0" fmla="*/ 0 w 1105"/>
              <a:gd name="T1" fmla="*/ 0 h 913"/>
              <a:gd name="T2" fmla="*/ 2147483646 w 1105"/>
              <a:gd name="T3" fmla="*/ 0 h 913"/>
              <a:gd name="T4" fmla="*/ 2147483646 w 1105"/>
              <a:gd name="T5" fmla="*/ 2147483646 h 91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5" h="913">
                <a:moveTo>
                  <a:pt x="0" y="0"/>
                </a:moveTo>
                <a:lnTo>
                  <a:pt x="1104" y="0"/>
                </a:lnTo>
                <a:lnTo>
                  <a:pt x="1104" y="912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35850" name="Freeform 9"/>
          <p:cNvSpPr>
            <a:spLocks/>
          </p:cNvSpPr>
          <p:nvPr/>
        </p:nvSpPr>
        <p:spPr bwMode="auto">
          <a:xfrm>
            <a:off x="2378075" y="3530600"/>
            <a:ext cx="2287588" cy="1754188"/>
          </a:xfrm>
          <a:custGeom>
            <a:avLst/>
            <a:gdLst>
              <a:gd name="T0" fmla="*/ 0 w 1441"/>
              <a:gd name="T1" fmla="*/ 0 h 1105"/>
              <a:gd name="T2" fmla="*/ 2147483646 w 1441"/>
              <a:gd name="T3" fmla="*/ 0 h 1105"/>
              <a:gd name="T4" fmla="*/ 2147483646 w 1441"/>
              <a:gd name="T5" fmla="*/ 2147483646 h 110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1" h="1105">
                <a:moveTo>
                  <a:pt x="0" y="0"/>
                </a:moveTo>
                <a:lnTo>
                  <a:pt x="1440" y="0"/>
                </a:lnTo>
                <a:lnTo>
                  <a:pt x="1440" y="1104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35851" name="Line 10"/>
          <p:cNvSpPr>
            <a:spLocks noChangeShapeType="1"/>
          </p:cNvSpPr>
          <p:nvPr/>
        </p:nvSpPr>
        <p:spPr bwMode="auto">
          <a:xfrm flipV="1">
            <a:off x="2381250" y="3076575"/>
            <a:ext cx="2965450" cy="189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35852" name="Line 11"/>
          <p:cNvSpPr>
            <a:spLocks noChangeShapeType="1"/>
          </p:cNvSpPr>
          <p:nvPr/>
        </p:nvSpPr>
        <p:spPr bwMode="auto">
          <a:xfrm>
            <a:off x="2384425" y="3308350"/>
            <a:ext cx="3422650" cy="1060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2384425" y="2851150"/>
            <a:ext cx="3422650" cy="1060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35854" name="Rectangle 13"/>
          <p:cNvSpPr>
            <a:spLocks noChangeArrowheads="1"/>
          </p:cNvSpPr>
          <p:nvPr/>
        </p:nvSpPr>
        <p:spPr bwMode="auto">
          <a:xfrm>
            <a:off x="5181600" y="2767013"/>
            <a:ext cx="660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oferta</a:t>
            </a:r>
          </a:p>
        </p:txBody>
      </p:sp>
      <p:sp>
        <p:nvSpPr>
          <p:cNvPr id="35855" name="Rectangle 14"/>
          <p:cNvSpPr>
            <a:spLocks noChangeArrowheads="1"/>
          </p:cNvSpPr>
          <p:nvPr/>
        </p:nvSpPr>
        <p:spPr bwMode="auto">
          <a:xfrm>
            <a:off x="5791200" y="3681413"/>
            <a:ext cx="14557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nueva demanda</a:t>
            </a:r>
          </a:p>
        </p:txBody>
      </p:sp>
      <p:sp>
        <p:nvSpPr>
          <p:cNvPr id="35856" name="Rectangle 15"/>
          <p:cNvSpPr>
            <a:spLocks noChangeArrowheads="1"/>
          </p:cNvSpPr>
          <p:nvPr/>
        </p:nvSpPr>
        <p:spPr bwMode="auto">
          <a:xfrm>
            <a:off x="5562600" y="4367213"/>
            <a:ext cx="16049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demanda original</a:t>
            </a:r>
          </a:p>
        </p:txBody>
      </p:sp>
      <p:sp>
        <p:nvSpPr>
          <p:cNvPr id="35857" name="Line 16"/>
          <p:cNvSpPr>
            <a:spLocks noChangeShapeType="1"/>
          </p:cNvSpPr>
          <p:nvPr/>
        </p:nvSpPr>
        <p:spPr bwMode="auto">
          <a:xfrm>
            <a:off x="4365625" y="3911600"/>
            <a:ext cx="1289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35858" name="Rectangle 17"/>
          <p:cNvSpPr>
            <a:spLocks noChangeArrowheads="1"/>
          </p:cNvSpPr>
          <p:nvPr/>
        </p:nvSpPr>
        <p:spPr bwMode="auto">
          <a:xfrm>
            <a:off x="4953000" y="3910013"/>
            <a:ext cx="869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1 millon</a:t>
            </a:r>
          </a:p>
        </p:txBody>
      </p:sp>
      <p:sp>
        <p:nvSpPr>
          <p:cNvPr id="35859" name="Rectangle 18"/>
          <p:cNvSpPr>
            <a:spLocks noChangeArrowheads="1"/>
          </p:cNvSpPr>
          <p:nvPr/>
        </p:nvSpPr>
        <p:spPr bwMode="auto">
          <a:xfrm>
            <a:off x="2362200" y="3071813"/>
            <a:ext cx="274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a</a:t>
            </a:r>
          </a:p>
        </p:txBody>
      </p:sp>
      <p:sp>
        <p:nvSpPr>
          <p:cNvPr id="35860" name="Rectangle 19"/>
          <p:cNvSpPr>
            <a:spLocks noChangeArrowheads="1"/>
          </p:cNvSpPr>
          <p:nvPr/>
        </p:nvSpPr>
        <p:spPr bwMode="auto">
          <a:xfrm>
            <a:off x="4495800" y="32242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f</a:t>
            </a:r>
          </a:p>
        </p:txBody>
      </p:sp>
      <p:sp>
        <p:nvSpPr>
          <p:cNvPr id="35861" name="Rectangle 20"/>
          <p:cNvSpPr>
            <a:spLocks noChangeArrowheads="1"/>
          </p:cNvSpPr>
          <p:nvPr/>
        </p:nvSpPr>
        <p:spPr bwMode="auto">
          <a:xfrm>
            <a:off x="4038600" y="3529013"/>
            <a:ext cx="285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b</a:t>
            </a:r>
          </a:p>
        </p:txBody>
      </p:sp>
      <p:sp>
        <p:nvSpPr>
          <p:cNvPr id="35862" name="Rectangle 21"/>
          <p:cNvSpPr>
            <a:spLocks noChangeArrowheads="1"/>
          </p:cNvSpPr>
          <p:nvPr/>
        </p:nvSpPr>
        <p:spPr bwMode="auto">
          <a:xfrm>
            <a:off x="2362200" y="4595813"/>
            <a:ext cx="274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c</a:t>
            </a:r>
          </a:p>
        </p:txBody>
      </p:sp>
      <p:sp>
        <p:nvSpPr>
          <p:cNvPr id="35863" name="Line 22"/>
          <p:cNvSpPr>
            <a:spLocks noChangeShapeType="1"/>
          </p:cNvSpPr>
          <p:nvPr/>
        </p:nvSpPr>
        <p:spPr bwMode="auto">
          <a:xfrm>
            <a:off x="2765425" y="3378200"/>
            <a:ext cx="1136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35864" name="Rectangle 23"/>
          <p:cNvSpPr>
            <a:spLocks noChangeArrowheads="1"/>
          </p:cNvSpPr>
          <p:nvPr/>
        </p:nvSpPr>
        <p:spPr bwMode="auto">
          <a:xfrm>
            <a:off x="2590800" y="3071813"/>
            <a:ext cx="869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1 millon</a:t>
            </a:r>
          </a:p>
        </p:txBody>
      </p:sp>
      <p:sp>
        <p:nvSpPr>
          <p:cNvPr id="35865" name="Rectangle 24"/>
          <p:cNvSpPr>
            <a:spLocks noChangeArrowheads="1"/>
          </p:cNvSpPr>
          <p:nvPr/>
        </p:nvSpPr>
        <p:spPr bwMode="auto">
          <a:xfrm>
            <a:off x="2971800" y="5815013"/>
            <a:ext cx="40068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Cantidad (Millones de toneladas-millas al año)</a:t>
            </a:r>
          </a:p>
        </p:txBody>
      </p:sp>
      <p:sp>
        <p:nvSpPr>
          <p:cNvPr id="35866" name="Rectangle 25"/>
          <p:cNvSpPr>
            <a:spLocks noChangeArrowheads="1"/>
          </p:cNvSpPr>
          <p:nvPr/>
        </p:nvSpPr>
        <p:spPr bwMode="auto">
          <a:xfrm rot="-5400000">
            <a:off x="222250" y="3216275"/>
            <a:ext cx="2705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600">
                <a:latin typeface="Palatino" charset="0"/>
              </a:rPr>
              <a:t>Precio ($ por toneladas-millas)</a:t>
            </a:r>
          </a:p>
        </p:txBody>
      </p:sp>
      <p:sp>
        <p:nvSpPr>
          <p:cNvPr id="35867" name="Rectangle 26"/>
          <p:cNvSpPr>
            <a:spLocks noChangeArrowheads="1"/>
          </p:cNvSpPr>
          <p:nvPr/>
        </p:nvSpPr>
        <p:spPr bwMode="auto">
          <a:xfrm>
            <a:off x="2257425" y="887413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endParaRPr lang="es-ES" altLang="es-AR" sz="4400">
              <a:latin typeface="Tahoma" pitchFamily="34" charset="0"/>
            </a:endParaRPr>
          </a:p>
        </p:txBody>
      </p:sp>
      <p:sp>
        <p:nvSpPr>
          <p:cNvPr id="35868" name="Rectangle 27"/>
          <p:cNvSpPr>
            <a:spLocks noGrp="1" noChangeArrowheads="1"/>
          </p:cNvSpPr>
          <p:nvPr>
            <p:ph type="title" idx="4294967295"/>
          </p:nvPr>
        </p:nvSpPr>
        <p:spPr>
          <a:xfrm>
            <a:off x="682625" y="611188"/>
            <a:ext cx="8497888" cy="646112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Desplazamiento de Demanda (II)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28</a:t>
            </a:fld>
            <a:endParaRPr lang="es-AR"/>
          </a:p>
        </p:txBody>
      </p:sp>
      <p:pic>
        <p:nvPicPr>
          <p:cNvPr id="293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848" y="1600200"/>
            <a:ext cx="839430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CuadroTexto"/>
          <p:cNvSpPr txBox="1"/>
          <p:nvPr/>
        </p:nvSpPr>
        <p:spPr>
          <a:xfrm>
            <a:off x="1219200" y="533400"/>
            <a:ext cx="7010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Políticas públicas orientadas a bajar el consumo de cigarrillos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3"/>
          <p:cNvSpPr>
            <a:spLocks noChangeShapeType="1"/>
          </p:cNvSpPr>
          <p:nvPr/>
        </p:nvSpPr>
        <p:spPr bwMode="auto">
          <a:xfrm>
            <a:off x="0" y="2071688"/>
            <a:ext cx="8651875" cy="0"/>
          </a:xfrm>
          <a:prstGeom prst="line">
            <a:avLst/>
          </a:prstGeom>
          <a:noFill/>
          <a:ln w="44450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35589" name="Text Box 5"/>
          <p:cNvSpPr txBox="1">
            <a:spLocks noChangeArrowheads="1"/>
          </p:cNvSpPr>
          <p:nvPr/>
        </p:nvSpPr>
        <p:spPr bwMode="auto">
          <a:xfrm>
            <a:off x="609600" y="2819400"/>
            <a:ext cx="8137525" cy="461665"/>
          </a:xfrm>
          <a:prstGeom prst="rect">
            <a:avLst/>
          </a:prstGeom>
          <a:solidFill>
            <a:srgbClr val="0937B7"/>
          </a:solidFill>
          <a:ln w="9525">
            <a:solidFill>
              <a:srgbClr val="0937B7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609600" indent="-609600" algn="ctr">
              <a:spcBef>
                <a:spcPts val="600"/>
              </a:spcBef>
              <a:buFontTx/>
              <a:buNone/>
              <a:defRPr/>
            </a:pPr>
            <a:r>
              <a:rPr lang="es-AR" sz="2400" dirty="0">
                <a:solidFill>
                  <a:schemeClr val="bg1"/>
                </a:solidFill>
              </a:rPr>
              <a:t> L</a:t>
            </a:r>
            <a:r>
              <a:rPr lang="es-AR" sz="2400" b="1" dirty="0">
                <a:solidFill>
                  <a:schemeClr val="bg1"/>
                </a:solidFill>
              </a:rPr>
              <a:t>a oferta. Costos de producción </a:t>
            </a:r>
            <a:endParaRPr lang="es-MX" sz="2400" i="1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29</a:t>
            </a:fld>
            <a:endParaRPr lang="es-A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E0B3D80-CCDC-4587-9C76-014137C1CD5F}" type="slidenum">
              <a:rPr lang="es-ES" altLang="es-AR"/>
              <a:pPr/>
              <a:t>30</a:t>
            </a:fld>
            <a:endParaRPr lang="es-ES" altLang="es-AR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512763"/>
            <a:ext cx="8162925" cy="709612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4000" b="1" dirty="0">
                <a:solidFill>
                  <a:schemeClr val="tx1"/>
                </a:solidFill>
              </a:rPr>
              <a:t>Oferta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3850" y="1600200"/>
            <a:ext cx="6407150" cy="447675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Estructura de costo</a:t>
            </a:r>
          </a:p>
          <a:p>
            <a:pPr lvl="1" eaLnBrk="1" hangingPunct="1"/>
            <a:r>
              <a:rPr lang="es-AR" altLang="es-AR" sz="2400" dirty="0"/>
              <a:t>Costo fijo/variable</a:t>
            </a:r>
          </a:p>
          <a:p>
            <a:pPr lvl="1" eaLnBrk="1" hangingPunct="1"/>
            <a:r>
              <a:rPr lang="es-AR" altLang="es-AR" sz="2400" dirty="0"/>
              <a:t>Costo marginal/medio</a:t>
            </a:r>
          </a:p>
          <a:p>
            <a:pPr lvl="1" eaLnBrk="1" hangingPunct="1"/>
            <a:r>
              <a:rPr lang="es-AR" altLang="es-AR" sz="2400" dirty="0"/>
              <a:t>Costo/Largo plazo</a:t>
            </a:r>
          </a:p>
          <a:p>
            <a:pPr lvl="1" eaLnBrk="1" hangingPunct="1"/>
            <a:r>
              <a:rPr lang="es-AR" altLang="es-AR" sz="2400" dirty="0"/>
              <a:t>Costo de oportunidad</a:t>
            </a:r>
          </a:p>
          <a:p>
            <a:pPr eaLnBrk="1" hangingPunct="1"/>
            <a:r>
              <a:rPr lang="es-AR" altLang="es-AR" sz="2800" dirty="0"/>
              <a:t>Costo y oferta</a:t>
            </a:r>
          </a:p>
          <a:p>
            <a:pPr lvl="1" eaLnBrk="1" hangingPunct="1"/>
            <a:r>
              <a:rPr lang="es-AR" altLang="es-AR" sz="2400" dirty="0"/>
              <a:t>Oferta individual</a:t>
            </a:r>
          </a:p>
          <a:p>
            <a:pPr lvl="1" eaLnBrk="1" hangingPunct="1"/>
            <a:r>
              <a:rPr lang="es-AR" altLang="es-AR" sz="2400" dirty="0"/>
              <a:t>Oferta de mercado</a:t>
            </a:r>
          </a:p>
          <a:p>
            <a:pPr eaLnBrk="1" hangingPunct="1"/>
            <a:r>
              <a:rPr lang="es-AR" altLang="es-AR" sz="2800" dirty="0"/>
              <a:t>Excedente del productor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308DEAD-6FDE-4DAA-8FB8-812E26E2CE93}" type="slidenum">
              <a:rPr lang="es-ES" altLang="es-AR"/>
              <a:pPr/>
              <a:t>31</a:t>
            </a:fld>
            <a:endParaRPr lang="es-ES" altLang="es-AR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8162925" cy="646112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Costo Fijo/Variable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263" y="1773238"/>
            <a:ext cx="8261350" cy="4692650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/>
            <a:r>
              <a:rPr lang="es-AR" altLang="es-AR" sz="2800" dirty="0"/>
              <a:t>Dividimos el costo total en dos categorías:</a:t>
            </a:r>
          </a:p>
          <a:p>
            <a:pPr lvl="1" eaLnBrk="1" hangingPunct="1"/>
            <a:r>
              <a:rPr lang="es-AR" altLang="es-AR" sz="2400" dirty="0"/>
              <a:t>Costo fijo – no varía con la escala de producción. </a:t>
            </a:r>
          </a:p>
          <a:p>
            <a:pPr lvl="2" eaLnBrk="1" hangingPunct="1"/>
            <a:r>
              <a:rPr lang="es-AR" altLang="es-AR" sz="2000" dirty="0"/>
              <a:t>[Costo medio fijo –</a:t>
            </a:r>
            <a:r>
              <a:rPr lang="es-AR" altLang="es-AR" sz="2000" dirty="0" err="1"/>
              <a:t>Cme</a:t>
            </a:r>
            <a:r>
              <a:rPr lang="es-AR" altLang="es-AR" sz="2000" dirty="0"/>
              <a:t>(F): costo fijo / cantidad]</a:t>
            </a:r>
          </a:p>
          <a:p>
            <a:pPr lvl="1" eaLnBrk="1" hangingPunct="1"/>
            <a:endParaRPr lang="es-AR" altLang="es-AR" sz="2400" dirty="0"/>
          </a:p>
          <a:p>
            <a:pPr lvl="1" eaLnBrk="1" hangingPunct="1"/>
            <a:r>
              <a:rPr lang="es-AR" altLang="es-AR" sz="2400" dirty="0"/>
              <a:t>Costo variable – sí varía con la escala de producción.</a:t>
            </a:r>
          </a:p>
          <a:p>
            <a:pPr lvl="2" eaLnBrk="1" hangingPunct="1"/>
            <a:r>
              <a:rPr lang="es-AR" altLang="es-AR" sz="2000" dirty="0"/>
              <a:t>[Costo medio variable –</a:t>
            </a:r>
            <a:r>
              <a:rPr lang="es-AR" altLang="es-AR" sz="2000" dirty="0" err="1"/>
              <a:t>Cme</a:t>
            </a:r>
            <a:r>
              <a:rPr lang="es-AR" altLang="es-AR" sz="2000" dirty="0"/>
              <a:t>(V): costo variable / cantidad]</a:t>
            </a:r>
          </a:p>
          <a:p>
            <a:pPr lvl="2" eaLnBrk="1" hangingPunct="1"/>
            <a:r>
              <a:rPr lang="es-AR" altLang="es-AR" sz="2000" dirty="0"/>
              <a:t>…</a:t>
            </a:r>
            <a:r>
              <a:rPr lang="es-AR" altLang="es-AR" sz="2000" dirty="0" err="1"/>
              <a:t>Cme</a:t>
            </a:r>
            <a:r>
              <a:rPr lang="es-AR" altLang="es-AR" sz="2000" dirty="0"/>
              <a:t>(T)=</a:t>
            </a:r>
            <a:r>
              <a:rPr lang="es-AR" altLang="es-AR" sz="2000" dirty="0" err="1"/>
              <a:t>Cme</a:t>
            </a:r>
            <a:r>
              <a:rPr lang="es-AR" altLang="es-AR" sz="2000" dirty="0"/>
              <a:t>(F)+</a:t>
            </a:r>
            <a:r>
              <a:rPr lang="es-AR" altLang="es-AR" sz="2000" dirty="0" err="1"/>
              <a:t>Cme</a:t>
            </a:r>
            <a:r>
              <a:rPr lang="es-AR" altLang="es-AR" sz="2000" dirty="0"/>
              <a:t>(V)</a:t>
            </a:r>
          </a:p>
          <a:p>
            <a:pPr lvl="2" eaLnBrk="1" hangingPunct="1"/>
            <a:endParaRPr lang="es-AR" altLang="es-AR" sz="2000" dirty="0"/>
          </a:p>
          <a:p>
            <a:pPr lvl="1" eaLnBrk="1" hangingPunct="1"/>
            <a:r>
              <a:rPr lang="es-AR" altLang="es-AR" sz="2400" dirty="0"/>
              <a:t>Costo marginal: “cambio” en el costo total ante un cambio en la cantidad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C8040A-84CD-4EA5-8448-24C0D1B49886}" type="slidenum">
              <a:rPr lang="es-ES" altLang="es-AR"/>
              <a:pPr/>
              <a:t>32</a:t>
            </a:fld>
            <a:endParaRPr lang="es-ES" altLang="es-AR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746125" y="476250"/>
            <a:ext cx="8162925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Costo de Oportunidad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00200"/>
            <a:ext cx="8277225" cy="469265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En su definición económica, el costo total incluye las ganancias netas de la mejor alternativa en la que se pueden utilizar los recursos.</a:t>
            </a:r>
          </a:p>
          <a:p>
            <a:pPr eaLnBrk="1" hangingPunct="1"/>
            <a:r>
              <a:rPr lang="es-AR" altLang="es-AR" sz="2800" dirty="0"/>
              <a:t>No está incluido en el costo contable</a:t>
            </a:r>
          </a:p>
          <a:p>
            <a:pPr eaLnBrk="1" hangingPunct="1"/>
            <a:r>
              <a:rPr lang="es-AR" altLang="es-AR" sz="2800" dirty="0"/>
              <a:t>Ejemplo 1: el tiempo que dedica a la empresa el dueño. El costo de oportunidad de ese tiempo forma parte del costo económico, pero no del contable</a:t>
            </a:r>
          </a:p>
          <a:p>
            <a:pPr eaLnBrk="1" hangingPunct="1"/>
            <a:r>
              <a:rPr lang="es-AR" altLang="es-AR" sz="2800" dirty="0"/>
              <a:t>Ejemplo 2: La rentabilidad alternativa que podía obtenerse en otras inversiones del aporte de capital del dueño a la empresa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33</a:t>
            </a:fld>
            <a:endParaRPr lang="es-AR"/>
          </a:p>
        </p:txBody>
      </p:sp>
      <p:pic>
        <p:nvPicPr>
          <p:cNvPr id="5079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9923" y="1600200"/>
            <a:ext cx="6104154" cy="365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7B8BD03-697D-4177-89B7-B99A7D7CDB82}" type="slidenum">
              <a:rPr lang="es-ES" altLang="es-AR"/>
              <a:pPr/>
              <a:t>34</a:t>
            </a:fld>
            <a:endParaRPr lang="es-ES" altLang="es-AR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8162925" cy="646112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Tiempo de Ajuste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39137" cy="4970462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>
            <a:normAutofit fontScale="92500"/>
          </a:bodyPr>
          <a:lstStyle/>
          <a:p>
            <a:pPr eaLnBrk="1" hangingPunct="1"/>
            <a:r>
              <a:rPr lang="es-AR" altLang="es-AR" sz="2800" dirty="0"/>
              <a:t>Corto plazo: </a:t>
            </a:r>
          </a:p>
          <a:p>
            <a:pPr lvl="1" eaLnBrk="1" hangingPunct="1"/>
            <a:r>
              <a:rPr lang="es-AR" altLang="es-AR" sz="2400" dirty="0"/>
              <a:t>horizonte temporal en el cual el productor no puede ajustar al menos uno de los insumos.</a:t>
            </a:r>
          </a:p>
          <a:p>
            <a:pPr eaLnBrk="1" hangingPunct="1"/>
            <a:r>
              <a:rPr lang="es-AR" altLang="es-AR" sz="2800" dirty="0"/>
              <a:t>Largo plazo: </a:t>
            </a:r>
          </a:p>
          <a:p>
            <a:pPr lvl="1" eaLnBrk="1" hangingPunct="1"/>
            <a:r>
              <a:rPr lang="es-AR" altLang="es-AR" sz="2400" dirty="0"/>
              <a:t>horizonte temporal suficientemente grande para que el vendedor ajuste </a:t>
            </a:r>
            <a:r>
              <a:rPr lang="es-AR" altLang="es-AR" sz="2400" i="1" dirty="0"/>
              <a:t>todos</a:t>
            </a:r>
            <a:r>
              <a:rPr lang="es-AR" altLang="es-AR" sz="2400" dirty="0"/>
              <a:t> sus insumos.</a:t>
            </a:r>
          </a:p>
          <a:p>
            <a:pPr eaLnBrk="1" hangingPunct="1"/>
            <a:r>
              <a:rPr lang="es-AR" altLang="es-AR" sz="2800" dirty="0"/>
              <a:t>Diferencia sustancial: decisión de continuar la producción</a:t>
            </a:r>
          </a:p>
          <a:p>
            <a:pPr lvl="1" eaLnBrk="1" hangingPunct="1"/>
            <a:r>
              <a:rPr lang="es-AR" altLang="es-AR" sz="2400" dirty="0"/>
              <a:t>En el largo plazo, todos los factores son variables</a:t>
            </a:r>
          </a:p>
          <a:p>
            <a:pPr lvl="1">
              <a:defRPr/>
            </a:pPr>
            <a:r>
              <a:rPr lang="es-AR" sz="2400" dirty="0"/>
              <a:t>La empresa puede tener pérdidas en el corto plazo (no cubre costos fijos), pero cubre costos variables. En la medida que la situación sea transitoria, conviene continuar la producción</a:t>
            </a:r>
          </a:p>
          <a:p>
            <a:pPr lvl="1" eaLnBrk="1" hangingPunct="1"/>
            <a:endParaRPr lang="es-AR" altLang="es-AR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F930DE6-26F7-48EE-BD1E-20827DC787C8}" type="slidenum">
              <a:rPr lang="es-ES" altLang="es-AR"/>
              <a:pPr/>
              <a:t>35</a:t>
            </a:fld>
            <a:endParaRPr lang="es-ES" altLang="es-AR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162925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Decisiones de Largo Plazo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s-AR" altLang="es-AR" sz="2800" dirty="0"/>
              <a:t>si entrar/salir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50000"/>
              <a:buFont typeface="Wingdings" pitchFamily="2" charset="2"/>
              <a:buChar char="q"/>
            </a:pPr>
            <a:r>
              <a:rPr lang="es-AR" altLang="es-AR" sz="2400" dirty="0"/>
              <a:t>precio &gt;= costo medio total</a:t>
            </a:r>
            <a:endParaRPr lang="es-AR" altLang="es-AR" sz="32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s-AR" altLang="es-AR" sz="2800" dirty="0"/>
              <a:t>escala de operación  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50000"/>
              <a:buFont typeface="Wingdings" pitchFamily="2" charset="2"/>
              <a:buChar char="q"/>
            </a:pPr>
            <a:r>
              <a:rPr lang="es-AR" altLang="es-AR" sz="2400" dirty="0"/>
              <a:t>para valores por encima del mínimo costo medio total, cantidad tal que costo marginal = precio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A1D6D52-B702-431F-87C4-998E8EABA61F}" type="slidenum">
              <a:rPr lang="es-ES" altLang="es-AR"/>
              <a:pPr/>
              <a:t>36</a:t>
            </a:fld>
            <a:endParaRPr lang="es-ES" altLang="es-AR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162925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Oferta Individual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39137" cy="469265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>
                <a:latin typeface="Tahoma" pitchFamily="34" charset="0"/>
              </a:rPr>
              <a:t>Indica la cantidad que el vendedor estaría dispuesto a ofrecer a cada uno de los posibles precios.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>
                <a:latin typeface="Tahoma" pitchFamily="34" charset="0"/>
              </a:rPr>
              <a:t>sigue a la curva de costo marginal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>
                <a:latin typeface="Tahoma" pitchFamily="34" charset="0"/>
              </a:rPr>
              <a:t>pendiente positiva – costos marginales de producción crecientes (o retornos marginales decrecientes de los insumos)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>
                <a:latin typeface="Tahoma" pitchFamily="34" charset="0"/>
              </a:rPr>
              <a:t>Para cada unidad del bien o servicio, muestra el precio mínimo que el vendedor está dispuesto a aceptar.</a:t>
            </a:r>
          </a:p>
          <a:p>
            <a:pPr eaLnBrk="1" hangingPunct="1"/>
            <a:endParaRPr lang="en-US" altLang="es-A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461086D-8665-4966-8350-7D8377B11884}" type="slidenum">
              <a:rPr lang="es-ES" altLang="es-AR"/>
              <a:pPr/>
              <a:t>37</a:t>
            </a:fld>
            <a:endParaRPr lang="es-ES" altLang="es-AR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Oferta de mercado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EC309B1-920C-446E-8EDF-D70129313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s-AR" altLang="es-AR" sz="2800" dirty="0"/>
              <a:t>Relación entre la cantidad que los vendedores ofrecerán a cada precio posible. </a:t>
            </a:r>
            <a:r>
              <a:rPr lang="es-AR" altLang="es-AR" sz="2800" i="1" dirty="0"/>
              <a:t> </a:t>
            </a:r>
          </a:p>
          <a:p>
            <a:pPr lvl="1" indent="-3429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s-AR" altLang="es-AR" sz="2400" dirty="0"/>
              <a:t>Se suman horizontalmente las ofertas individuales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s-AR" altLang="es-AR" sz="2400" dirty="0"/>
              <a:t>El vendedor con el menor costo define el punto inicial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s-AR" altLang="es-AR" sz="2400" dirty="0"/>
              <a:t>Gradualmente,</a:t>
            </a:r>
            <a:r>
              <a:rPr lang="es-AR" altLang="es-AR" sz="2400" i="1" dirty="0"/>
              <a:t> se mezclan </a:t>
            </a:r>
            <a:r>
              <a:rPr lang="es-AR" altLang="es-AR" sz="2400" dirty="0"/>
              <a:t>con los vendedores de mayores costos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es-AR" altLang="es-AR" sz="2800" i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Marcador de número de diapositiva 6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705F8C4-0D48-49C2-B33E-2BCB9DABD46B}" type="slidenum">
              <a:rPr lang="es-ES" altLang="es-AR"/>
              <a:pPr/>
              <a:t>38</a:t>
            </a:fld>
            <a:endParaRPr lang="es-ES" altLang="es-AR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98488"/>
            <a:ext cx="8162925" cy="646112"/>
          </a:xfrm>
        </p:spPr>
        <p:txBody>
          <a:bodyPr/>
          <a:lstStyle/>
          <a:p>
            <a:pPr eaLnBrk="1" hangingPunct="1"/>
            <a:r>
              <a:rPr lang="es-AR" altLang="es-AR" sz="3600">
                <a:solidFill>
                  <a:schemeClr val="tx1"/>
                </a:solidFill>
              </a:rPr>
              <a:t>Curva de Oferta de Mercado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08700" y="2122488"/>
            <a:ext cx="2519363" cy="1090612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s-AR" altLang="es-AR" sz="2000">
                <a:solidFill>
                  <a:srgbClr val="FF0000"/>
                </a:solidFill>
              </a:rPr>
              <a:t>Efecto Precio: movimiento sobre la curva</a:t>
            </a:r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 rot="-6012938">
            <a:off x="2561432" y="1748631"/>
            <a:ext cx="2224088" cy="3394075"/>
          </a:xfrm>
          <a:prstGeom prst="line">
            <a:avLst/>
          </a:prstGeom>
          <a:noFill/>
          <a:ln w="28575">
            <a:solidFill>
              <a:srgbClr val="00B05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78858" name="Line 10"/>
          <p:cNvSpPr>
            <a:spLocks noChangeShapeType="1"/>
          </p:cNvSpPr>
          <p:nvPr/>
        </p:nvSpPr>
        <p:spPr bwMode="auto">
          <a:xfrm rot="-6049841">
            <a:off x="4121150" y="2276476"/>
            <a:ext cx="1417637" cy="20748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arrow" w="med" len="med"/>
            <a:tailEnd type="arrow" w="med" len="med"/>
          </a:ln>
          <a:effectLst/>
        </p:spPr>
        <p:txBody>
          <a:bodyPr wrap="none" anchor="ctr"/>
          <a:lstStyle/>
          <a:p>
            <a:endParaRPr lang="es-AR"/>
          </a:p>
        </p:txBody>
      </p:sp>
      <p:grpSp>
        <p:nvGrpSpPr>
          <p:cNvPr id="2" name="Grupo 2"/>
          <p:cNvGrpSpPr>
            <a:grpSpLocks/>
          </p:cNvGrpSpPr>
          <p:nvPr/>
        </p:nvGrpSpPr>
        <p:grpSpPr bwMode="auto">
          <a:xfrm>
            <a:off x="1258888" y="2133600"/>
            <a:ext cx="4618037" cy="4037013"/>
            <a:chOff x="2085644" y="2515521"/>
            <a:chExt cx="4617265" cy="4037778"/>
          </a:xfrm>
        </p:grpSpPr>
        <p:sp>
          <p:nvSpPr>
            <p:cNvPr id="49164" name="Line 5"/>
            <p:cNvSpPr>
              <a:spLocks noChangeShapeType="1"/>
            </p:cNvSpPr>
            <p:nvPr/>
          </p:nvSpPr>
          <p:spPr bwMode="auto">
            <a:xfrm>
              <a:off x="2704143" y="2596277"/>
              <a:ext cx="0" cy="34724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AR"/>
            </a:p>
          </p:txBody>
        </p:sp>
        <p:sp>
          <p:nvSpPr>
            <p:cNvPr id="49165" name="Line 6"/>
            <p:cNvSpPr>
              <a:spLocks noChangeShapeType="1"/>
            </p:cNvSpPr>
            <p:nvPr/>
          </p:nvSpPr>
          <p:spPr bwMode="auto">
            <a:xfrm>
              <a:off x="2704143" y="6068766"/>
              <a:ext cx="36079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AR"/>
            </a:p>
          </p:txBody>
        </p:sp>
        <p:sp>
          <p:nvSpPr>
            <p:cNvPr id="49166" name="Line 7"/>
            <p:cNvSpPr>
              <a:spLocks noChangeShapeType="1"/>
            </p:cNvSpPr>
            <p:nvPr/>
          </p:nvSpPr>
          <p:spPr bwMode="auto">
            <a:xfrm rot="-6205950">
              <a:off x="3614160" y="2381752"/>
              <a:ext cx="2261156" cy="37109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s-AR"/>
            </a:p>
          </p:txBody>
        </p:sp>
        <p:sp>
          <p:nvSpPr>
            <p:cNvPr id="49167" name="Text Box 11"/>
            <p:cNvSpPr txBox="1">
              <a:spLocks noChangeArrowheads="1"/>
            </p:cNvSpPr>
            <p:nvPr/>
          </p:nvSpPr>
          <p:spPr bwMode="auto">
            <a:xfrm>
              <a:off x="6208969" y="6068766"/>
              <a:ext cx="493940" cy="4845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s-ES" altLang="es-AR" sz="2400"/>
                <a:t>x</a:t>
              </a:r>
            </a:p>
          </p:txBody>
        </p:sp>
        <p:sp>
          <p:nvSpPr>
            <p:cNvPr id="49168" name="Text Box 12"/>
            <p:cNvSpPr txBox="1">
              <a:spLocks noChangeArrowheads="1"/>
            </p:cNvSpPr>
            <p:nvPr/>
          </p:nvSpPr>
          <p:spPr bwMode="auto">
            <a:xfrm flipH="1">
              <a:off x="2085644" y="2515521"/>
              <a:ext cx="824665" cy="4845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s-ES" altLang="es-AR" sz="2400"/>
                <a:t>p</a:t>
              </a:r>
            </a:p>
          </p:txBody>
        </p:sp>
      </p:grpSp>
      <p:sp>
        <p:nvSpPr>
          <p:cNvPr id="4" name="CuadroTexto 3"/>
          <p:cNvSpPr txBox="1">
            <a:spLocks noChangeArrowheads="1"/>
          </p:cNvSpPr>
          <p:nvPr/>
        </p:nvSpPr>
        <p:spPr bwMode="auto">
          <a:xfrm>
            <a:off x="2000250" y="1847850"/>
            <a:ext cx="2211388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s-AR" altLang="es-AR" sz="2000">
                <a:solidFill>
                  <a:srgbClr val="00B050"/>
                </a:solidFill>
              </a:rPr>
              <a:t>Precios de insumos y otros factores: se desplaza la curva</a:t>
            </a:r>
          </a:p>
        </p:txBody>
      </p:sp>
      <p:cxnSp>
        <p:nvCxnSpPr>
          <p:cNvPr id="6" name="Conector recto de flecha 5"/>
          <p:cNvCxnSpPr>
            <a:cxnSpLocks noChangeShapeType="1"/>
          </p:cNvCxnSpPr>
          <p:nvPr/>
        </p:nvCxnSpPr>
        <p:spPr bwMode="auto">
          <a:xfrm flipH="1" flipV="1">
            <a:off x="2627313" y="4562475"/>
            <a:ext cx="0" cy="503238"/>
          </a:xfrm>
          <a:prstGeom prst="straightConnector1">
            <a:avLst/>
          </a:prstGeom>
          <a:noFill/>
          <a:ln w="6350" algn="ctr">
            <a:solidFill>
              <a:srgbClr val="00B050"/>
            </a:solidFill>
            <a:round/>
            <a:headEnd/>
            <a:tailEnd type="arrow" w="med" len="med"/>
          </a:ln>
          <a:effectLst/>
        </p:spPr>
      </p:cxnSp>
      <p:cxnSp>
        <p:nvCxnSpPr>
          <p:cNvPr id="23" name="Conector recto de flecha 22"/>
          <p:cNvCxnSpPr>
            <a:cxnSpLocks noChangeShapeType="1"/>
          </p:cNvCxnSpPr>
          <p:nvPr/>
        </p:nvCxnSpPr>
        <p:spPr bwMode="auto">
          <a:xfrm flipH="1" flipV="1">
            <a:off x="3476625" y="3697288"/>
            <a:ext cx="0" cy="504825"/>
          </a:xfrm>
          <a:prstGeom prst="straightConnector1">
            <a:avLst/>
          </a:prstGeom>
          <a:noFill/>
          <a:ln w="6350" algn="ctr">
            <a:solidFill>
              <a:srgbClr val="00B050"/>
            </a:solidFill>
            <a:round/>
            <a:headEnd/>
            <a:tailEnd type="arrow" w="med" len="med"/>
          </a:ln>
          <a:effectLst/>
        </p:spPr>
      </p:cxnSp>
      <p:cxnSp>
        <p:nvCxnSpPr>
          <p:cNvPr id="24" name="Conector recto de flecha 23"/>
          <p:cNvCxnSpPr>
            <a:cxnSpLocks noChangeShapeType="1"/>
          </p:cNvCxnSpPr>
          <p:nvPr/>
        </p:nvCxnSpPr>
        <p:spPr bwMode="auto">
          <a:xfrm flipH="1" flipV="1">
            <a:off x="4211638" y="2978150"/>
            <a:ext cx="0" cy="503238"/>
          </a:xfrm>
          <a:prstGeom prst="straightConnector1">
            <a:avLst/>
          </a:prstGeom>
          <a:noFill/>
          <a:ln w="6350" algn="ctr">
            <a:solidFill>
              <a:srgbClr val="00B050"/>
            </a:solidFill>
            <a:round/>
            <a:headEnd/>
            <a:tailEnd type="arrow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  <p:bldP spid="78856" grpId="0" animBg="1"/>
      <p:bldP spid="78858" grpId="0" animBg="1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493CD4-B842-4E68-B06B-4449B8207707}" type="slidenum">
              <a:rPr lang="es-ES" altLang="es-AR"/>
              <a:pPr/>
              <a:t>39</a:t>
            </a:fld>
            <a:endParaRPr lang="es-ES" altLang="es-AR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20700"/>
            <a:ext cx="8162925" cy="646113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Oferta de Largo Plazo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00200"/>
            <a:ext cx="8339137" cy="4548188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Largo plazo</a:t>
            </a:r>
            <a:r>
              <a:rPr lang="es-AR" altLang="es-AR" sz="2800" dirty="0">
                <a:cs typeface="Times New Roman" pitchFamily="18" charset="0"/>
              </a:rPr>
              <a:t> </a:t>
            </a:r>
            <a:r>
              <a:rPr lang="es-AR" altLang="es-AR" sz="2800" dirty="0">
                <a:latin typeface="Tahoma" pitchFamily="34" charset="0"/>
                <a:cs typeface="Times New Roman" pitchFamily="18" charset="0"/>
              </a:rPr>
              <a:t>–</a:t>
            </a:r>
            <a:r>
              <a:rPr lang="es-AR" altLang="es-AR" sz="2800" dirty="0">
                <a:cs typeface="Times New Roman" pitchFamily="18" charset="0"/>
              </a:rPr>
              <a:t> libertad de entrada y salida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Si una empresa obtiene beneficios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Atrae nuevos entrantes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Se incrementa la oferta de mercado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Se reduce el precio de mercado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Si una empresa tiene pérdidas, se irá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Se reduce la oferta de mercado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Aumenta precio de mercado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A85531-F521-401C-BAE4-7916E151A102}" type="slidenum">
              <a:rPr lang="es-ES" altLang="es-AR"/>
              <a:pPr/>
              <a:t>40</a:t>
            </a:fld>
            <a:endParaRPr lang="es-ES" altLang="es-AR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50863"/>
            <a:ext cx="8350250" cy="646112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Curva de Oferta de Largo Plazo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s-AR" altLang="es-AR" sz="2800" dirty="0"/>
              <a:t>Pendiente de oferta de largo plazo</a:t>
            </a:r>
          </a:p>
          <a:p>
            <a:pPr lvl="1" eaLnBrk="1" hangingPunct="1">
              <a:spcAft>
                <a:spcPts val="600"/>
              </a:spcAft>
            </a:pPr>
            <a:r>
              <a:rPr lang="es-AR" altLang="es-AR" sz="2400" dirty="0"/>
              <a:t>menor pendiente que la curva de corto plazo </a:t>
            </a:r>
          </a:p>
          <a:p>
            <a:pPr lvl="1" eaLnBrk="1" hangingPunct="1">
              <a:spcAft>
                <a:spcPts val="600"/>
              </a:spcAft>
            </a:pPr>
            <a:r>
              <a:rPr lang="es-AR" altLang="es-AR" sz="2400" dirty="0"/>
              <a:t>puede ser plana (“rendimientos constantes” a nivel de industria)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CF552B6-31C6-4895-9F72-86A43070BE4C}" type="slidenum">
              <a:rPr lang="es-ES" altLang="es-AR"/>
              <a:pPr/>
              <a:t>41</a:t>
            </a:fld>
            <a:endParaRPr lang="es-ES" altLang="es-AR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550863"/>
            <a:ext cx="8350250" cy="646112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Elasticidad Precio de la Oferta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1905000"/>
            <a:ext cx="8350250" cy="4191000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eaLnBrk="1" hangingPunct="1">
              <a:spcBef>
                <a:spcPct val="50000"/>
              </a:spcBef>
            </a:pPr>
            <a:r>
              <a:rPr lang="es-AR" altLang="es-AR" sz="2800" dirty="0"/>
              <a:t> Cambio porcentual en la cantidad ofrecida ante un incremento de 1% en el precio</a:t>
            </a:r>
          </a:p>
          <a:p>
            <a:pPr lvl="1" indent="-342900" eaLnBrk="1" hangingPunct="1">
              <a:spcBef>
                <a:spcPct val="50000"/>
              </a:spcBef>
            </a:pPr>
            <a:r>
              <a:rPr lang="es-AR" altLang="es-AR" sz="2400" dirty="0"/>
              <a:t>Usualmente, un número positivo</a:t>
            </a:r>
          </a:p>
          <a:p>
            <a:pPr lvl="1" indent="-342900" eaLnBrk="1" hangingPunct="1">
              <a:spcBef>
                <a:spcPct val="50000"/>
              </a:spcBef>
            </a:pPr>
            <a:r>
              <a:rPr lang="es-AR" altLang="es-AR" sz="2400" dirty="0"/>
              <a:t>La oferta es más elástica con el tiempo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8ADDE6A-B7B9-4051-A86B-3D0E7C9EA4CA}" type="slidenum">
              <a:rPr lang="es-ES" altLang="es-AR"/>
              <a:pPr/>
              <a:t>42</a:t>
            </a:fld>
            <a:endParaRPr lang="es-ES" altLang="es-AR"/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04825"/>
            <a:ext cx="8339137" cy="120015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Variación de Precios / Variación en beneficios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s-AR" dirty="0"/>
              <a:t> 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286000" y="2393950"/>
            <a:ext cx="3733800" cy="1720850"/>
            <a:chOff x="1440" y="1508"/>
            <a:chExt cx="2352" cy="1084"/>
          </a:xfrm>
        </p:grpSpPr>
        <p:sp>
          <p:nvSpPr>
            <p:cNvPr id="75794" name="Rectangle 9"/>
            <p:cNvSpPr>
              <a:spLocks noChangeArrowheads="1"/>
            </p:cNvSpPr>
            <p:nvPr/>
          </p:nvSpPr>
          <p:spPr bwMode="auto">
            <a:xfrm>
              <a:off x="1440" y="2256"/>
              <a:ext cx="912" cy="33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/>
              <a:endParaRPr lang="es-AR" altLang="es-AR"/>
            </a:p>
          </p:txBody>
        </p:sp>
        <p:sp>
          <p:nvSpPr>
            <p:cNvPr id="75795" name="Text Box 11"/>
            <p:cNvSpPr txBox="1">
              <a:spLocks noChangeArrowheads="1"/>
            </p:cNvSpPr>
            <p:nvPr/>
          </p:nvSpPr>
          <p:spPr bwMode="auto">
            <a:xfrm>
              <a:off x="1766" y="1508"/>
              <a:ext cx="202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s-AR" sz="2000"/>
                <a:t>Aumento de beneficios a iguales cantidades</a:t>
              </a:r>
              <a:endParaRPr lang="es-AR" altLang="es-AR" sz="2000"/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733800" y="3581400"/>
            <a:ext cx="3886200" cy="1616075"/>
            <a:chOff x="2352" y="2256"/>
            <a:chExt cx="2448" cy="1018"/>
          </a:xfrm>
        </p:grpSpPr>
        <p:sp>
          <p:nvSpPr>
            <p:cNvPr id="75792" name="Freeform 10"/>
            <p:cNvSpPr>
              <a:spLocks/>
            </p:cNvSpPr>
            <p:nvPr/>
          </p:nvSpPr>
          <p:spPr bwMode="auto">
            <a:xfrm>
              <a:off x="2352" y="2256"/>
              <a:ext cx="624" cy="336"/>
            </a:xfrm>
            <a:custGeom>
              <a:avLst/>
              <a:gdLst>
                <a:gd name="T0" fmla="*/ 0 w 624"/>
                <a:gd name="T1" fmla="*/ 0 h 336"/>
                <a:gd name="T2" fmla="*/ 624 w 624"/>
                <a:gd name="T3" fmla="*/ 0 h 336"/>
                <a:gd name="T4" fmla="*/ 0 w 624"/>
                <a:gd name="T5" fmla="*/ 336 h 336"/>
                <a:gd name="T6" fmla="*/ 0 w 624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336">
                  <a:moveTo>
                    <a:pt x="0" y="0"/>
                  </a:moveTo>
                  <a:lnTo>
                    <a:pt x="624" y="0"/>
                  </a:lnTo>
                  <a:lnTo>
                    <a:pt x="0" y="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es-AR"/>
            </a:p>
          </p:txBody>
        </p:sp>
        <p:sp>
          <p:nvSpPr>
            <p:cNvPr id="75793" name="Text Box 13"/>
            <p:cNvSpPr txBox="1">
              <a:spLocks noChangeArrowheads="1"/>
            </p:cNvSpPr>
            <p:nvPr/>
          </p:nvSpPr>
          <p:spPr bwMode="auto">
            <a:xfrm>
              <a:off x="2400" y="2832"/>
              <a:ext cx="240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es-AR" sz="2000"/>
                <a:t>Aumento de beneficios por aumento de cantidades</a:t>
              </a:r>
              <a:endParaRPr lang="es-AR" altLang="es-AR" sz="2000"/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1600200" y="2133600"/>
            <a:ext cx="5257800" cy="3962400"/>
            <a:chOff x="1008" y="1344"/>
            <a:chExt cx="3312" cy="2496"/>
          </a:xfrm>
        </p:grpSpPr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1440" y="1440"/>
              <a:ext cx="2448" cy="2064"/>
              <a:chOff x="1440" y="1440"/>
              <a:chExt cx="2448" cy="2064"/>
            </a:xfrm>
          </p:grpSpPr>
          <p:sp>
            <p:nvSpPr>
              <p:cNvPr id="75787" name="Line 4"/>
              <p:cNvSpPr>
                <a:spLocks noChangeShapeType="1"/>
              </p:cNvSpPr>
              <p:nvPr/>
            </p:nvSpPr>
            <p:spPr bwMode="auto">
              <a:xfrm flipV="1">
                <a:off x="1440" y="1440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s-AR"/>
              </a:p>
            </p:txBody>
          </p:sp>
          <p:sp>
            <p:nvSpPr>
              <p:cNvPr id="75788" name="Line 5"/>
              <p:cNvSpPr>
                <a:spLocks noChangeShapeType="1"/>
              </p:cNvSpPr>
              <p:nvPr/>
            </p:nvSpPr>
            <p:spPr bwMode="auto">
              <a:xfrm>
                <a:off x="1440" y="3504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s-AR"/>
              </a:p>
            </p:txBody>
          </p:sp>
          <p:sp>
            <p:nvSpPr>
              <p:cNvPr id="75789" name="Line 6"/>
              <p:cNvSpPr>
                <a:spLocks noChangeShapeType="1"/>
              </p:cNvSpPr>
              <p:nvPr/>
            </p:nvSpPr>
            <p:spPr bwMode="auto">
              <a:xfrm flipV="1">
                <a:off x="1440" y="1920"/>
                <a:ext cx="216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s-AR"/>
              </a:p>
            </p:txBody>
          </p:sp>
          <p:sp>
            <p:nvSpPr>
              <p:cNvPr id="75790" name="Line 7"/>
              <p:cNvSpPr>
                <a:spLocks noChangeShapeType="1"/>
              </p:cNvSpPr>
              <p:nvPr/>
            </p:nvSpPr>
            <p:spPr bwMode="auto">
              <a:xfrm>
                <a:off x="1440" y="2592"/>
                <a:ext cx="23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s-AR"/>
              </a:p>
            </p:txBody>
          </p:sp>
          <p:sp>
            <p:nvSpPr>
              <p:cNvPr id="75791" name="Line 8"/>
              <p:cNvSpPr>
                <a:spLocks noChangeShapeType="1"/>
              </p:cNvSpPr>
              <p:nvPr/>
            </p:nvSpPr>
            <p:spPr bwMode="auto">
              <a:xfrm>
                <a:off x="1440" y="2256"/>
                <a:ext cx="23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s-AR"/>
              </a:p>
            </p:txBody>
          </p:sp>
        </p:grpSp>
        <p:sp>
          <p:nvSpPr>
            <p:cNvPr id="75785" name="Text Box 17"/>
            <p:cNvSpPr txBox="1">
              <a:spLocks noChangeArrowheads="1"/>
            </p:cNvSpPr>
            <p:nvPr/>
          </p:nvSpPr>
          <p:spPr bwMode="auto">
            <a:xfrm>
              <a:off x="1008" y="1344"/>
              <a:ext cx="319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s-AR" sz="2400"/>
                <a:t>p</a:t>
              </a:r>
            </a:p>
            <a:p>
              <a:pPr eaLnBrk="1" hangingPunct="1"/>
              <a:endParaRPr lang="en-US" altLang="es-AR" sz="2000"/>
            </a:p>
            <a:p>
              <a:pPr eaLnBrk="1" hangingPunct="1"/>
              <a:endParaRPr lang="en-US" altLang="es-AR" sz="2000"/>
            </a:p>
            <a:p>
              <a:pPr eaLnBrk="1" hangingPunct="1"/>
              <a:endParaRPr lang="en-US" altLang="es-AR" sz="2000"/>
            </a:p>
            <a:p>
              <a:pPr eaLnBrk="1" hangingPunct="1"/>
              <a:r>
                <a:rPr lang="en-US" altLang="es-AR" sz="2400"/>
                <a:t>p</a:t>
              </a:r>
              <a:r>
                <a:rPr lang="en-US" altLang="es-AR" sz="2400" baseline="-25000"/>
                <a:t>1</a:t>
              </a:r>
            </a:p>
            <a:p>
              <a:pPr eaLnBrk="1" hangingPunct="1"/>
              <a:r>
                <a:rPr lang="en-US" altLang="es-AR" sz="2400"/>
                <a:t>p</a:t>
              </a:r>
              <a:r>
                <a:rPr lang="en-US" altLang="es-AR" sz="2400" baseline="-25000"/>
                <a:t>0</a:t>
              </a:r>
              <a:endParaRPr lang="es-AR" altLang="es-AR" sz="2400" baseline="-25000"/>
            </a:p>
          </p:txBody>
        </p:sp>
        <p:sp>
          <p:nvSpPr>
            <p:cNvPr id="75786" name="Text Box 18"/>
            <p:cNvSpPr txBox="1">
              <a:spLocks noChangeArrowheads="1"/>
            </p:cNvSpPr>
            <p:nvPr/>
          </p:nvSpPr>
          <p:spPr bwMode="auto">
            <a:xfrm>
              <a:off x="2304" y="3552"/>
              <a:ext cx="20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s-AR" sz="2400" dirty="0"/>
                <a:t>x</a:t>
              </a:r>
              <a:r>
                <a:rPr lang="en-US" altLang="es-AR" sz="2400" baseline="-25000" dirty="0"/>
                <a:t>0</a:t>
              </a:r>
              <a:r>
                <a:rPr lang="en-US" altLang="es-AR" sz="2400" dirty="0"/>
                <a:t>           x</a:t>
              </a:r>
              <a:r>
                <a:rPr lang="en-US" altLang="es-AR" sz="2400" baseline="-25000" dirty="0"/>
                <a:t>1</a:t>
              </a:r>
              <a:r>
                <a:rPr lang="en-US" altLang="es-AR" sz="2400" dirty="0"/>
                <a:t>                 x</a:t>
              </a:r>
              <a:endParaRPr lang="es-AR" altLang="es-AR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6AC1419-340B-46CE-AB07-99B9A148DC36}" type="slidenum">
              <a:rPr lang="es-ES" altLang="es-AR"/>
              <a:pPr/>
              <a:t>43</a:t>
            </a:fld>
            <a:endParaRPr lang="es-ES" altLang="es-AR"/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990600" y="990600"/>
            <a:ext cx="693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endParaRPr lang="es-ES" altLang="es-AR" sz="4400">
              <a:solidFill>
                <a:schemeClr val="tx2"/>
              </a:solidFill>
              <a:latin typeface="Tahoma" pitchFamily="34" charset="0"/>
            </a:endParaRPr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1768475" y="3236913"/>
            <a:ext cx="0" cy="182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1774825" y="5059363"/>
            <a:ext cx="1898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58" name="Freeform 5"/>
          <p:cNvSpPr>
            <a:spLocks/>
          </p:cNvSpPr>
          <p:nvPr/>
        </p:nvSpPr>
        <p:spPr bwMode="auto">
          <a:xfrm>
            <a:off x="4892675" y="3230563"/>
            <a:ext cx="2439988" cy="1830387"/>
          </a:xfrm>
          <a:custGeom>
            <a:avLst/>
            <a:gdLst>
              <a:gd name="T0" fmla="*/ 0 w 1537"/>
              <a:gd name="T1" fmla="*/ 0 h 1153"/>
              <a:gd name="T2" fmla="*/ 0 w 1537"/>
              <a:gd name="T3" fmla="*/ 2147483646 h 1153"/>
              <a:gd name="T4" fmla="*/ 2147483646 w 1537"/>
              <a:gd name="T5" fmla="*/ 2147483646 h 11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37" h="1153">
                <a:moveTo>
                  <a:pt x="0" y="0"/>
                </a:moveTo>
                <a:lnTo>
                  <a:pt x="0" y="1152"/>
                </a:lnTo>
                <a:lnTo>
                  <a:pt x="1536" y="1152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59" name="Freeform 6"/>
          <p:cNvSpPr>
            <a:spLocks/>
          </p:cNvSpPr>
          <p:nvPr/>
        </p:nvSpPr>
        <p:spPr bwMode="auto">
          <a:xfrm>
            <a:off x="1768475" y="3459163"/>
            <a:ext cx="2287588" cy="1601787"/>
          </a:xfrm>
          <a:custGeom>
            <a:avLst/>
            <a:gdLst>
              <a:gd name="T0" fmla="*/ 0 w 1441"/>
              <a:gd name="T1" fmla="*/ 0 h 1009"/>
              <a:gd name="T2" fmla="*/ 0 w 1441"/>
              <a:gd name="T3" fmla="*/ 2147483646 h 1009"/>
              <a:gd name="T4" fmla="*/ 2147483646 w 1441"/>
              <a:gd name="T5" fmla="*/ 2147483646 h 10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1" h="1009">
                <a:moveTo>
                  <a:pt x="0" y="0"/>
                </a:moveTo>
                <a:lnTo>
                  <a:pt x="0" y="1008"/>
                </a:lnTo>
                <a:lnTo>
                  <a:pt x="1440" y="100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auto">
          <a:xfrm>
            <a:off x="1600200" y="5029200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0</a:t>
            </a:r>
          </a:p>
        </p:txBody>
      </p:sp>
      <p:sp>
        <p:nvSpPr>
          <p:cNvPr id="23561" name="Rectangle 8"/>
          <p:cNvSpPr>
            <a:spLocks noChangeArrowheads="1"/>
          </p:cNvSpPr>
          <p:nvPr/>
        </p:nvSpPr>
        <p:spPr bwMode="auto">
          <a:xfrm>
            <a:off x="2743200" y="50292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10</a:t>
            </a:r>
          </a:p>
        </p:txBody>
      </p:sp>
      <p:sp>
        <p:nvSpPr>
          <p:cNvPr id="23562" name="Rectangle 9"/>
          <p:cNvSpPr>
            <a:spLocks noChangeArrowheads="1"/>
          </p:cNvSpPr>
          <p:nvPr/>
        </p:nvSpPr>
        <p:spPr bwMode="auto">
          <a:xfrm>
            <a:off x="1295400" y="4495800"/>
            <a:ext cx="5270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19.40</a:t>
            </a:r>
          </a:p>
        </p:txBody>
      </p:sp>
      <p:sp>
        <p:nvSpPr>
          <p:cNvPr id="23563" name="Rectangle 10"/>
          <p:cNvSpPr>
            <a:spLocks noChangeArrowheads="1"/>
          </p:cNvSpPr>
          <p:nvPr/>
        </p:nvSpPr>
        <p:spPr bwMode="auto">
          <a:xfrm>
            <a:off x="1447800" y="41910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20</a:t>
            </a:r>
          </a:p>
        </p:txBody>
      </p:sp>
      <p:sp>
        <p:nvSpPr>
          <p:cNvPr id="23564" name="Line 11"/>
          <p:cNvSpPr>
            <a:spLocks noChangeShapeType="1"/>
          </p:cNvSpPr>
          <p:nvPr/>
        </p:nvSpPr>
        <p:spPr bwMode="auto">
          <a:xfrm>
            <a:off x="1774825" y="4297363"/>
            <a:ext cx="11366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65" name="Line 12"/>
          <p:cNvSpPr>
            <a:spLocks noChangeShapeType="1"/>
          </p:cNvSpPr>
          <p:nvPr/>
        </p:nvSpPr>
        <p:spPr bwMode="auto">
          <a:xfrm>
            <a:off x="1774825" y="4678363"/>
            <a:ext cx="11366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66" name="Line 13"/>
          <p:cNvSpPr>
            <a:spLocks noChangeShapeType="1"/>
          </p:cNvSpPr>
          <p:nvPr/>
        </p:nvSpPr>
        <p:spPr bwMode="auto">
          <a:xfrm>
            <a:off x="2911475" y="3617913"/>
            <a:ext cx="0" cy="14414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67" name="Line 14"/>
          <p:cNvSpPr>
            <a:spLocks noChangeShapeType="1"/>
          </p:cNvSpPr>
          <p:nvPr/>
        </p:nvSpPr>
        <p:spPr bwMode="auto">
          <a:xfrm flipV="1">
            <a:off x="1771650" y="3995738"/>
            <a:ext cx="1593850" cy="1060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68" name="Line 15"/>
          <p:cNvSpPr>
            <a:spLocks noChangeShapeType="1"/>
          </p:cNvSpPr>
          <p:nvPr/>
        </p:nvSpPr>
        <p:spPr bwMode="auto">
          <a:xfrm flipV="1">
            <a:off x="2305050" y="4376738"/>
            <a:ext cx="1060450" cy="679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69" name="Rectangle 16"/>
          <p:cNvSpPr>
            <a:spLocks noChangeArrowheads="1"/>
          </p:cNvSpPr>
          <p:nvPr/>
        </p:nvSpPr>
        <p:spPr bwMode="auto">
          <a:xfrm>
            <a:off x="3124200" y="3733800"/>
            <a:ext cx="10937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oferta original </a:t>
            </a:r>
          </a:p>
        </p:txBody>
      </p:sp>
      <p:sp>
        <p:nvSpPr>
          <p:cNvPr id="23570" name="Rectangle 17"/>
          <p:cNvSpPr>
            <a:spLocks noChangeArrowheads="1"/>
          </p:cNvSpPr>
          <p:nvPr/>
        </p:nvSpPr>
        <p:spPr bwMode="auto">
          <a:xfrm>
            <a:off x="3124200" y="4419600"/>
            <a:ext cx="9826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nueva oferta </a:t>
            </a:r>
          </a:p>
        </p:txBody>
      </p:sp>
      <p:sp>
        <p:nvSpPr>
          <p:cNvPr id="23571" name="Rectangle 18"/>
          <p:cNvSpPr>
            <a:spLocks noChangeArrowheads="1"/>
          </p:cNvSpPr>
          <p:nvPr/>
        </p:nvSpPr>
        <p:spPr bwMode="auto">
          <a:xfrm>
            <a:off x="2590800" y="3352800"/>
            <a:ext cx="73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demanda</a:t>
            </a:r>
          </a:p>
        </p:txBody>
      </p:sp>
      <p:sp>
        <p:nvSpPr>
          <p:cNvPr id="23572" name="Line 19"/>
          <p:cNvSpPr>
            <a:spLocks noChangeShapeType="1"/>
          </p:cNvSpPr>
          <p:nvPr/>
        </p:nvSpPr>
        <p:spPr bwMode="auto">
          <a:xfrm>
            <a:off x="3216275" y="4151313"/>
            <a:ext cx="0" cy="298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73" name="Line 20"/>
          <p:cNvSpPr>
            <a:spLocks noChangeShapeType="1"/>
          </p:cNvSpPr>
          <p:nvPr/>
        </p:nvSpPr>
        <p:spPr bwMode="auto">
          <a:xfrm>
            <a:off x="2301875" y="4760913"/>
            <a:ext cx="0" cy="298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74" name="Rectangle 21"/>
          <p:cNvSpPr>
            <a:spLocks noChangeArrowheads="1"/>
          </p:cNvSpPr>
          <p:nvPr/>
        </p:nvSpPr>
        <p:spPr bwMode="auto">
          <a:xfrm>
            <a:off x="3200400" y="4114800"/>
            <a:ext cx="6302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60 cent</a:t>
            </a:r>
          </a:p>
        </p:txBody>
      </p:sp>
      <p:sp>
        <p:nvSpPr>
          <p:cNvPr id="23575" name="Rectangle 22"/>
          <p:cNvSpPr>
            <a:spLocks noChangeArrowheads="1"/>
          </p:cNvSpPr>
          <p:nvPr/>
        </p:nvSpPr>
        <p:spPr bwMode="auto">
          <a:xfrm>
            <a:off x="2286000" y="4724400"/>
            <a:ext cx="6302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60 cent</a:t>
            </a:r>
          </a:p>
        </p:txBody>
      </p:sp>
      <p:sp>
        <p:nvSpPr>
          <p:cNvPr id="23576" name="Rectangle 23"/>
          <p:cNvSpPr>
            <a:spLocks noChangeArrowheads="1"/>
          </p:cNvSpPr>
          <p:nvPr/>
        </p:nvSpPr>
        <p:spPr bwMode="auto">
          <a:xfrm>
            <a:off x="1752600" y="4800600"/>
            <a:ext cx="2524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c</a:t>
            </a:r>
          </a:p>
        </p:txBody>
      </p:sp>
      <p:sp>
        <p:nvSpPr>
          <p:cNvPr id="23577" name="Rectangle 24"/>
          <p:cNvSpPr>
            <a:spLocks noChangeArrowheads="1"/>
          </p:cNvSpPr>
          <p:nvPr/>
        </p:nvSpPr>
        <p:spPr bwMode="auto">
          <a:xfrm>
            <a:off x="2895600" y="4038600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b</a:t>
            </a:r>
          </a:p>
        </p:txBody>
      </p:sp>
      <p:sp>
        <p:nvSpPr>
          <p:cNvPr id="23578" name="Rectangle 25"/>
          <p:cNvSpPr>
            <a:spLocks noChangeArrowheads="1"/>
          </p:cNvSpPr>
          <p:nvPr/>
        </p:nvSpPr>
        <p:spPr bwMode="auto">
          <a:xfrm>
            <a:off x="4740275" y="5059363"/>
            <a:ext cx="320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0</a:t>
            </a:r>
          </a:p>
        </p:txBody>
      </p:sp>
      <p:sp>
        <p:nvSpPr>
          <p:cNvPr id="23579" name="Rectangle 26"/>
          <p:cNvSpPr>
            <a:spLocks noChangeArrowheads="1"/>
          </p:cNvSpPr>
          <p:nvPr/>
        </p:nvSpPr>
        <p:spPr bwMode="auto">
          <a:xfrm>
            <a:off x="5943600" y="50292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10</a:t>
            </a:r>
          </a:p>
        </p:txBody>
      </p:sp>
      <p:sp>
        <p:nvSpPr>
          <p:cNvPr id="23580" name="Rectangle 27"/>
          <p:cNvSpPr>
            <a:spLocks noChangeArrowheads="1"/>
          </p:cNvSpPr>
          <p:nvPr/>
        </p:nvSpPr>
        <p:spPr bwMode="auto">
          <a:xfrm>
            <a:off x="6400800" y="5029200"/>
            <a:ext cx="4508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10.6</a:t>
            </a:r>
          </a:p>
        </p:txBody>
      </p:sp>
      <p:sp>
        <p:nvSpPr>
          <p:cNvPr id="23581" name="Rectangle 28"/>
          <p:cNvSpPr>
            <a:spLocks noChangeArrowheads="1"/>
          </p:cNvSpPr>
          <p:nvPr/>
        </p:nvSpPr>
        <p:spPr bwMode="auto">
          <a:xfrm>
            <a:off x="4648200" y="41910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20</a:t>
            </a:r>
          </a:p>
        </p:txBody>
      </p:sp>
      <p:sp>
        <p:nvSpPr>
          <p:cNvPr id="23582" name="Line 29"/>
          <p:cNvSpPr>
            <a:spLocks noChangeShapeType="1"/>
          </p:cNvSpPr>
          <p:nvPr/>
        </p:nvSpPr>
        <p:spPr bwMode="auto">
          <a:xfrm>
            <a:off x="4899025" y="4373563"/>
            <a:ext cx="2432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83" name="Line 30"/>
          <p:cNvSpPr>
            <a:spLocks noChangeShapeType="1"/>
          </p:cNvSpPr>
          <p:nvPr/>
        </p:nvSpPr>
        <p:spPr bwMode="auto">
          <a:xfrm>
            <a:off x="6111875" y="4379913"/>
            <a:ext cx="0" cy="6794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84" name="Line 31"/>
          <p:cNvSpPr>
            <a:spLocks noChangeShapeType="1"/>
          </p:cNvSpPr>
          <p:nvPr/>
        </p:nvSpPr>
        <p:spPr bwMode="auto">
          <a:xfrm flipH="1">
            <a:off x="6651625" y="4373563"/>
            <a:ext cx="69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85" name="Line 32"/>
          <p:cNvSpPr>
            <a:spLocks noChangeShapeType="1"/>
          </p:cNvSpPr>
          <p:nvPr/>
        </p:nvSpPr>
        <p:spPr bwMode="auto">
          <a:xfrm>
            <a:off x="6721475" y="4379913"/>
            <a:ext cx="0" cy="6794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86" name="Line 33"/>
          <p:cNvSpPr>
            <a:spLocks noChangeShapeType="1"/>
          </p:cNvSpPr>
          <p:nvPr/>
        </p:nvSpPr>
        <p:spPr bwMode="auto">
          <a:xfrm flipV="1">
            <a:off x="4895850" y="3995738"/>
            <a:ext cx="1974850" cy="1060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87" name="Line 34"/>
          <p:cNvSpPr>
            <a:spLocks noChangeShapeType="1"/>
          </p:cNvSpPr>
          <p:nvPr/>
        </p:nvSpPr>
        <p:spPr bwMode="auto">
          <a:xfrm flipV="1">
            <a:off x="5429250" y="4300538"/>
            <a:ext cx="1441450" cy="7556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88" name="Rectangle 35"/>
          <p:cNvSpPr>
            <a:spLocks noChangeArrowheads="1"/>
          </p:cNvSpPr>
          <p:nvPr/>
        </p:nvSpPr>
        <p:spPr bwMode="auto">
          <a:xfrm>
            <a:off x="6858000" y="4114800"/>
            <a:ext cx="9445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nueva oferta</a:t>
            </a:r>
          </a:p>
        </p:txBody>
      </p:sp>
      <p:sp>
        <p:nvSpPr>
          <p:cNvPr id="23589" name="Rectangle 36"/>
          <p:cNvSpPr>
            <a:spLocks noChangeArrowheads="1"/>
          </p:cNvSpPr>
          <p:nvPr/>
        </p:nvSpPr>
        <p:spPr bwMode="auto">
          <a:xfrm>
            <a:off x="6402388" y="3733800"/>
            <a:ext cx="10556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oferta original</a:t>
            </a:r>
          </a:p>
        </p:txBody>
      </p:sp>
      <p:sp>
        <p:nvSpPr>
          <p:cNvPr id="23590" name="Rectangle 37"/>
          <p:cNvSpPr>
            <a:spLocks noChangeArrowheads="1"/>
          </p:cNvSpPr>
          <p:nvPr/>
        </p:nvSpPr>
        <p:spPr bwMode="auto">
          <a:xfrm>
            <a:off x="6705600" y="4343400"/>
            <a:ext cx="73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demanda</a:t>
            </a:r>
          </a:p>
        </p:txBody>
      </p:sp>
      <p:sp>
        <p:nvSpPr>
          <p:cNvPr id="23591" name="Line 38"/>
          <p:cNvSpPr>
            <a:spLocks noChangeShapeType="1"/>
          </p:cNvSpPr>
          <p:nvPr/>
        </p:nvSpPr>
        <p:spPr bwMode="auto">
          <a:xfrm>
            <a:off x="6721475" y="4075113"/>
            <a:ext cx="0" cy="298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92" name="Line 39"/>
          <p:cNvSpPr>
            <a:spLocks noChangeShapeType="1"/>
          </p:cNvSpPr>
          <p:nvPr/>
        </p:nvSpPr>
        <p:spPr bwMode="auto">
          <a:xfrm>
            <a:off x="5426075" y="4760913"/>
            <a:ext cx="0" cy="298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3593" name="Rectangle 40"/>
          <p:cNvSpPr>
            <a:spLocks noChangeArrowheads="1"/>
          </p:cNvSpPr>
          <p:nvPr/>
        </p:nvSpPr>
        <p:spPr bwMode="auto">
          <a:xfrm>
            <a:off x="5410200" y="4724400"/>
            <a:ext cx="6302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60 cent</a:t>
            </a:r>
          </a:p>
        </p:txBody>
      </p:sp>
      <p:sp>
        <p:nvSpPr>
          <p:cNvPr id="23594" name="Rectangle 41"/>
          <p:cNvSpPr>
            <a:spLocks noChangeArrowheads="1"/>
          </p:cNvSpPr>
          <p:nvPr/>
        </p:nvSpPr>
        <p:spPr bwMode="auto">
          <a:xfrm>
            <a:off x="6111875" y="4068763"/>
            <a:ext cx="7477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60 cent</a:t>
            </a:r>
          </a:p>
        </p:txBody>
      </p:sp>
      <p:sp>
        <p:nvSpPr>
          <p:cNvPr id="23595" name="Rectangle 42"/>
          <p:cNvSpPr>
            <a:spLocks noChangeArrowheads="1"/>
          </p:cNvSpPr>
          <p:nvPr/>
        </p:nvSpPr>
        <p:spPr bwMode="auto">
          <a:xfrm>
            <a:off x="6019800" y="4191000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b</a:t>
            </a:r>
          </a:p>
        </p:txBody>
      </p:sp>
      <p:sp>
        <p:nvSpPr>
          <p:cNvPr id="23596" name="Rectangle 43"/>
          <p:cNvSpPr>
            <a:spLocks noChangeArrowheads="1"/>
          </p:cNvSpPr>
          <p:nvPr/>
        </p:nvSpPr>
        <p:spPr bwMode="auto">
          <a:xfrm>
            <a:off x="4876800" y="4800600"/>
            <a:ext cx="2524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c</a:t>
            </a:r>
          </a:p>
        </p:txBody>
      </p:sp>
      <p:sp>
        <p:nvSpPr>
          <p:cNvPr id="23597" name="Rectangle 44"/>
          <p:cNvSpPr>
            <a:spLocks noChangeArrowheads="1"/>
          </p:cNvSpPr>
          <p:nvPr/>
        </p:nvSpPr>
        <p:spPr bwMode="auto">
          <a:xfrm>
            <a:off x="2057400" y="2667000"/>
            <a:ext cx="2438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Demanda extremadamente inelástica</a:t>
            </a:r>
          </a:p>
        </p:txBody>
      </p:sp>
      <p:sp>
        <p:nvSpPr>
          <p:cNvPr id="23598" name="Rectangle 45"/>
          <p:cNvSpPr>
            <a:spLocks noChangeArrowheads="1"/>
          </p:cNvSpPr>
          <p:nvPr/>
        </p:nvSpPr>
        <p:spPr bwMode="auto">
          <a:xfrm>
            <a:off x="5410200" y="2667000"/>
            <a:ext cx="21748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Demanda extremamente elástica</a:t>
            </a:r>
          </a:p>
        </p:txBody>
      </p:sp>
      <p:sp>
        <p:nvSpPr>
          <p:cNvPr id="23599" name="Rectangle 46"/>
          <p:cNvSpPr>
            <a:spLocks noChangeArrowheads="1"/>
          </p:cNvSpPr>
          <p:nvPr/>
        </p:nvSpPr>
        <p:spPr bwMode="auto">
          <a:xfrm>
            <a:off x="2487613" y="5287963"/>
            <a:ext cx="6953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000">
                <a:latin typeface="Palatino" charset="0"/>
              </a:rPr>
              <a:t>Cantidad</a:t>
            </a:r>
          </a:p>
        </p:txBody>
      </p:sp>
      <p:sp>
        <p:nvSpPr>
          <p:cNvPr id="23600" name="Rectangle 47"/>
          <p:cNvSpPr>
            <a:spLocks noChangeArrowheads="1"/>
          </p:cNvSpPr>
          <p:nvPr/>
        </p:nvSpPr>
        <p:spPr bwMode="auto">
          <a:xfrm>
            <a:off x="5692775" y="5303838"/>
            <a:ext cx="6953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000">
                <a:latin typeface="Palatino" charset="0"/>
              </a:rPr>
              <a:t>Cantidad</a:t>
            </a:r>
          </a:p>
        </p:txBody>
      </p:sp>
      <p:sp>
        <p:nvSpPr>
          <p:cNvPr id="23601" name="Rectangle 48"/>
          <p:cNvSpPr>
            <a:spLocks noChangeArrowheads="1"/>
          </p:cNvSpPr>
          <p:nvPr/>
        </p:nvSpPr>
        <p:spPr bwMode="auto">
          <a:xfrm rot="-5400000">
            <a:off x="611981" y="3979069"/>
            <a:ext cx="115728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000">
                <a:latin typeface="Palatino" charset="0"/>
              </a:rPr>
              <a:t>Precio ($/unidad)</a:t>
            </a:r>
          </a:p>
        </p:txBody>
      </p:sp>
      <p:sp>
        <p:nvSpPr>
          <p:cNvPr id="23602" name="Rectangle 49"/>
          <p:cNvSpPr>
            <a:spLocks noChangeArrowheads="1"/>
          </p:cNvSpPr>
          <p:nvPr/>
        </p:nvSpPr>
        <p:spPr bwMode="auto">
          <a:xfrm rot="-5400000">
            <a:off x="3890169" y="4053682"/>
            <a:ext cx="1157287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000">
                <a:latin typeface="Palatino" charset="0"/>
              </a:rPr>
              <a:t>Precio ($/unidad)</a:t>
            </a:r>
          </a:p>
        </p:txBody>
      </p:sp>
      <p:sp>
        <p:nvSpPr>
          <p:cNvPr id="23603" name="Rectangle 50"/>
          <p:cNvSpPr>
            <a:spLocks noChangeArrowheads="1"/>
          </p:cNvSpPr>
          <p:nvPr/>
        </p:nvSpPr>
        <p:spPr bwMode="auto">
          <a:xfrm>
            <a:off x="2057400" y="4876800"/>
            <a:ext cx="2524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e</a:t>
            </a:r>
          </a:p>
        </p:txBody>
      </p:sp>
      <p:sp>
        <p:nvSpPr>
          <p:cNvPr id="23604" name="Rectangle 51"/>
          <p:cNvSpPr>
            <a:spLocks noChangeArrowheads="1"/>
          </p:cNvSpPr>
          <p:nvPr/>
        </p:nvSpPr>
        <p:spPr bwMode="auto">
          <a:xfrm>
            <a:off x="5181600" y="4876800"/>
            <a:ext cx="2524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e</a:t>
            </a:r>
          </a:p>
        </p:txBody>
      </p:sp>
      <p:sp>
        <p:nvSpPr>
          <p:cNvPr id="23605" name="Rectangle 52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477838"/>
            <a:ext cx="8350250" cy="6477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Elasticidades Precio de la Demanda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41142CF-85AA-49FC-A747-DD38CEF12427}" type="slidenum">
              <a:rPr lang="es-ES" altLang="es-AR"/>
              <a:pPr/>
              <a:t>44</a:t>
            </a:fld>
            <a:endParaRPr lang="es-ES" altLang="es-AR"/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292225" y="-2713038"/>
            <a:ext cx="58293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endParaRPr lang="es-ES" altLang="es-AR">
              <a:latin typeface="Times New Roman" pitchFamily="18" charset="0"/>
            </a:endParaRPr>
          </a:p>
        </p:txBody>
      </p:sp>
      <p:sp>
        <p:nvSpPr>
          <p:cNvPr id="25604" name="Freeform 3"/>
          <p:cNvSpPr>
            <a:spLocks/>
          </p:cNvSpPr>
          <p:nvPr/>
        </p:nvSpPr>
        <p:spPr bwMode="auto">
          <a:xfrm>
            <a:off x="1692275" y="3001963"/>
            <a:ext cx="2287588" cy="1906587"/>
          </a:xfrm>
          <a:custGeom>
            <a:avLst/>
            <a:gdLst>
              <a:gd name="T0" fmla="*/ 0 w 1441"/>
              <a:gd name="T1" fmla="*/ 0 h 1201"/>
              <a:gd name="T2" fmla="*/ 0 w 1441"/>
              <a:gd name="T3" fmla="*/ 2147483646 h 1201"/>
              <a:gd name="T4" fmla="*/ 2147483646 w 1441"/>
              <a:gd name="T5" fmla="*/ 2147483646 h 12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1" h="1201">
                <a:moveTo>
                  <a:pt x="0" y="0"/>
                </a:moveTo>
                <a:lnTo>
                  <a:pt x="0" y="1200"/>
                </a:lnTo>
                <a:lnTo>
                  <a:pt x="1440" y="120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05" name="Freeform 4"/>
          <p:cNvSpPr>
            <a:spLocks/>
          </p:cNvSpPr>
          <p:nvPr/>
        </p:nvSpPr>
        <p:spPr bwMode="auto">
          <a:xfrm>
            <a:off x="4816475" y="3001963"/>
            <a:ext cx="2363788" cy="1906587"/>
          </a:xfrm>
          <a:custGeom>
            <a:avLst/>
            <a:gdLst>
              <a:gd name="T0" fmla="*/ 0 w 1489"/>
              <a:gd name="T1" fmla="*/ 0 h 1201"/>
              <a:gd name="T2" fmla="*/ 0 w 1489"/>
              <a:gd name="T3" fmla="*/ 2147483646 h 1201"/>
              <a:gd name="T4" fmla="*/ 2147483646 w 1489"/>
              <a:gd name="T5" fmla="*/ 2147483646 h 12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9" h="1201">
                <a:moveTo>
                  <a:pt x="0" y="0"/>
                </a:moveTo>
                <a:lnTo>
                  <a:pt x="0" y="1200"/>
                </a:lnTo>
                <a:lnTo>
                  <a:pt x="1488" y="120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1524000" y="4876800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0</a:t>
            </a: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1447800" y="37338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20</a:t>
            </a:r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2667000" y="48768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10</a:t>
            </a:r>
          </a:p>
        </p:txBody>
      </p:sp>
      <p:sp>
        <p:nvSpPr>
          <p:cNvPr id="25609" name="Line 8"/>
          <p:cNvSpPr>
            <a:spLocks noChangeShapeType="1"/>
          </p:cNvSpPr>
          <p:nvPr/>
        </p:nvSpPr>
        <p:spPr bwMode="auto">
          <a:xfrm>
            <a:off x="1698625" y="3916363"/>
            <a:ext cx="11366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10" name="Line 9"/>
          <p:cNvSpPr>
            <a:spLocks noChangeShapeType="1"/>
          </p:cNvSpPr>
          <p:nvPr/>
        </p:nvSpPr>
        <p:spPr bwMode="auto">
          <a:xfrm>
            <a:off x="2835275" y="3313113"/>
            <a:ext cx="0" cy="159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>
            <a:off x="1698625" y="3389313"/>
            <a:ext cx="2051050" cy="984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12" name="Rectangle 11"/>
          <p:cNvSpPr>
            <a:spLocks noChangeArrowheads="1"/>
          </p:cNvSpPr>
          <p:nvPr/>
        </p:nvSpPr>
        <p:spPr bwMode="auto">
          <a:xfrm>
            <a:off x="3429000" y="4343400"/>
            <a:ext cx="73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demanda</a:t>
            </a:r>
          </a:p>
        </p:txBody>
      </p:sp>
      <p:sp>
        <p:nvSpPr>
          <p:cNvPr id="25613" name="Rectangle 12"/>
          <p:cNvSpPr>
            <a:spLocks noChangeArrowheads="1"/>
          </p:cNvSpPr>
          <p:nvPr/>
        </p:nvSpPr>
        <p:spPr bwMode="auto">
          <a:xfrm>
            <a:off x="1676400" y="3200400"/>
            <a:ext cx="2524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a</a:t>
            </a:r>
          </a:p>
        </p:txBody>
      </p:sp>
      <p:sp>
        <p:nvSpPr>
          <p:cNvPr id="25614" name="Rectangle 13"/>
          <p:cNvSpPr>
            <a:spLocks noChangeArrowheads="1"/>
          </p:cNvSpPr>
          <p:nvPr/>
        </p:nvSpPr>
        <p:spPr bwMode="auto">
          <a:xfrm>
            <a:off x="2819400" y="3733800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b</a:t>
            </a:r>
          </a:p>
        </p:txBody>
      </p:sp>
      <p:sp>
        <p:nvSpPr>
          <p:cNvPr id="25615" name="Rectangle 14"/>
          <p:cNvSpPr>
            <a:spLocks noChangeArrowheads="1"/>
          </p:cNvSpPr>
          <p:nvPr/>
        </p:nvSpPr>
        <p:spPr bwMode="auto">
          <a:xfrm>
            <a:off x="2133600" y="3048000"/>
            <a:ext cx="19685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oferta original y nueva oferta</a:t>
            </a:r>
          </a:p>
        </p:txBody>
      </p:sp>
      <p:sp>
        <p:nvSpPr>
          <p:cNvPr id="25616" name="Rectangle 15"/>
          <p:cNvSpPr>
            <a:spLocks noChangeArrowheads="1"/>
          </p:cNvSpPr>
          <p:nvPr/>
        </p:nvSpPr>
        <p:spPr bwMode="auto">
          <a:xfrm>
            <a:off x="4648200" y="4876800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0</a:t>
            </a:r>
          </a:p>
        </p:txBody>
      </p:sp>
      <p:sp>
        <p:nvSpPr>
          <p:cNvPr id="25617" name="Rectangle 16"/>
          <p:cNvSpPr>
            <a:spLocks noChangeArrowheads="1"/>
          </p:cNvSpPr>
          <p:nvPr/>
        </p:nvSpPr>
        <p:spPr bwMode="auto">
          <a:xfrm>
            <a:off x="5562600" y="48768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10</a:t>
            </a:r>
          </a:p>
        </p:txBody>
      </p:sp>
      <p:sp>
        <p:nvSpPr>
          <p:cNvPr id="25618" name="Rectangle 17"/>
          <p:cNvSpPr>
            <a:spLocks noChangeArrowheads="1"/>
          </p:cNvSpPr>
          <p:nvPr/>
        </p:nvSpPr>
        <p:spPr bwMode="auto">
          <a:xfrm>
            <a:off x="6019800" y="48768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11</a:t>
            </a:r>
          </a:p>
        </p:txBody>
      </p:sp>
      <p:sp>
        <p:nvSpPr>
          <p:cNvPr id="25619" name="Rectangle 18"/>
          <p:cNvSpPr>
            <a:spLocks noChangeArrowheads="1"/>
          </p:cNvSpPr>
          <p:nvPr/>
        </p:nvSpPr>
        <p:spPr bwMode="auto">
          <a:xfrm>
            <a:off x="4343400" y="3962400"/>
            <a:ext cx="5270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19.40</a:t>
            </a:r>
          </a:p>
        </p:txBody>
      </p:sp>
      <p:sp>
        <p:nvSpPr>
          <p:cNvPr id="25620" name="Rectangle 19"/>
          <p:cNvSpPr>
            <a:spLocks noChangeArrowheads="1"/>
          </p:cNvSpPr>
          <p:nvPr/>
        </p:nvSpPr>
        <p:spPr bwMode="auto">
          <a:xfrm>
            <a:off x="4495800" y="37338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20</a:t>
            </a:r>
          </a:p>
        </p:txBody>
      </p:sp>
      <p:sp>
        <p:nvSpPr>
          <p:cNvPr id="25621" name="Line 20"/>
          <p:cNvSpPr>
            <a:spLocks noChangeShapeType="1"/>
          </p:cNvSpPr>
          <p:nvPr/>
        </p:nvSpPr>
        <p:spPr bwMode="auto">
          <a:xfrm>
            <a:off x="4822825" y="4068763"/>
            <a:ext cx="21272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22" name="Line 21"/>
          <p:cNvSpPr>
            <a:spLocks noChangeShapeType="1"/>
          </p:cNvSpPr>
          <p:nvPr/>
        </p:nvSpPr>
        <p:spPr bwMode="auto">
          <a:xfrm>
            <a:off x="4822825" y="3840163"/>
            <a:ext cx="2203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23" name="Line 22"/>
          <p:cNvSpPr>
            <a:spLocks noChangeShapeType="1"/>
          </p:cNvSpPr>
          <p:nvPr/>
        </p:nvSpPr>
        <p:spPr bwMode="auto">
          <a:xfrm>
            <a:off x="5730875" y="3846513"/>
            <a:ext cx="0" cy="10604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24" name="Line 23"/>
          <p:cNvSpPr>
            <a:spLocks noChangeShapeType="1"/>
          </p:cNvSpPr>
          <p:nvPr/>
        </p:nvSpPr>
        <p:spPr bwMode="auto">
          <a:xfrm>
            <a:off x="6188075" y="4075113"/>
            <a:ext cx="0" cy="8318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25" name="Line 24"/>
          <p:cNvSpPr>
            <a:spLocks noChangeShapeType="1"/>
          </p:cNvSpPr>
          <p:nvPr/>
        </p:nvSpPr>
        <p:spPr bwMode="auto">
          <a:xfrm>
            <a:off x="4822825" y="3465513"/>
            <a:ext cx="2051050" cy="908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26" name="Line 25"/>
          <p:cNvSpPr>
            <a:spLocks noChangeShapeType="1"/>
          </p:cNvSpPr>
          <p:nvPr/>
        </p:nvSpPr>
        <p:spPr bwMode="auto">
          <a:xfrm>
            <a:off x="5121275" y="3846513"/>
            <a:ext cx="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27" name="Line 26"/>
          <p:cNvSpPr>
            <a:spLocks noChangeShapeType="1"/>
          </p:cNvSpPr>
          <p:nvPr/>
        </p:nvSpPr>
        <p:spPr bwMode="auto">
          <a:xfrm>
            <a:off x="6492875" y="3846513"/>
            <a:ext cx="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/>
          <a:lstStyle/>
          <a:p>
            <a:endParaRPr lang="es-AR"/>
          </a:p>
        </p:txBody>
      </p:sp>
      <p:sp>
        <p:nvSpPr>
          <p:cNvPr id="25628" name="Rectangle 27"/>
          <p:cNvSpPr>
            <a:spLocks noChangeArrowheads="1"/>
          </p:cNvSpPr>
          <p:nvPr/>
        </p:nvSpPr>
        <p:spPr bwMode="auto">
          <a:xfrm>
            <a:off x="5105400" y="3810000"/>
            <a:ext cx="6302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60 cent</a:t>
            </a:r>
          </a:p>
        </p:txBody>
      </p:sp>
      <p:sp>
        <p:nvSpPr>
          <p:cNvPr id="25629" name="Rectangle 28"/>
          <p:cNvSpPr>
            <a:spLocks noChangeArrowheads="1"/>
          </p:cNvSpPr>
          <p:nvPr/>
        </p:nvSpPr>
        <p:spPr bwMode="auto">
          <a:xfrm>
            <a:off x="6477000" y="3810000"/>
            <a:ext cx="6302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60 cent</a:t>
            </a:r>
          </a:p>
        </p:txBody>
      </p:sp>
      <p:sp>
        <p:nvSpPr>
          <p:cNvPr id="25630" name="Rectangle 29"/>
          <p:cNvSpPr>
            <a:spLocks noChangeArrowheads="1"/>
          </p:cNvSpPr>
          <p:nvPr/>
        </p:nvSpPr>
        <p:spPr bwMode="auto">
          <a:xfrm>
            <a:off x="4800600" y="3276600"/>
            <a:ext cx="2524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a</a:t>
            </a:r>
          </a:p>
        </p:txBody>
      </p:sp>
      <p:sp>
        <p:nvSpPr>
          <p:cNvPr id="25631" name="Rectangle 30"/>
          <p:cNvSpPr>
            <a:spLocks noChangeArrowheads="1"/>
          </p:cNvSpPr>
          <p:nvPr/>
        </p:nvSpPr>
        <p:spPr bwMode="auto">
          <a:xfrm>
            <a:off x="5638800" y="3657600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b</a:t>
            </a:r>
          </a:p>
        </p:txBody>
      </p:sp>
      <p:sp>
        <p:nvSpPr>
          <p:cNvPr id="25632" name="Rectangle 31"/>
          <p:cNvSpPr>
            <a:spLocks noChangeArrowheads="1"/>
          </p:cNvSpPr>
          <p:nvPr/>
        </p:nvSpPr>
        <p:spPr bwMode="auto">
          <a:xfrm>
            <a:off x="6326188" y="3581400"/>
            <a:ext cx="10556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oferta original</a:t>
            </a:r>
          </a:p>
        </p:txBody>
      </p:sp>
      <p:sp>
        <p:nvSpPr>
          <p:cNvPr id="25633" name="Rectangle 32"/>
          <p:cNvSpPr>
            <a:spLocks noChangeArrowheads="1"/>
          </p:cNvSpPr>
          <p:nvPr/>
        </p:nvSpPr>
        <p:spPr bwMode="auto">
          <a:xfrm>
            <a:off x="6553200" y="4038600"/>
            <a:ext cx="9445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nueva oferta</a:t>
            </a:r>
          </a:p>
        </p:txBody>
      </p:sp>
      <p:sp>
        <p:nvSpPr>
          <p:cNvPr id="25634" name="Rectangle 33"/>
          <p:cNvSpPr>
            <a:spLocks noChangeArrowheads="1"/>
          </p:cNvSpPr>
          <p:nvPr/>
        </p:nvSpPr>
        <p:spPr bwMode="auto">
          <a:xfrm>
            <a:off x="6477000" y="4343400"/>
            <a:ext cx="73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demanda</a:t>
            </a:r>
          </a:p>
        </p:txBody>
      </p:sp>
      <p:sp>
        <p:nvSpPr>
          <p:cNvPr id="25635" name="Rectangle 34"/>
          <p:cNvSpPr>
            <a:spLocks noChangeArrowheads="1"/>
          </p:cNvSpPr>
          <p:nvPr/>
        </p:nvSpPr>
        <p:spPr bwMode="auto">
          <a:xfrm rot="-5400000">
            <a:off x="688181" y="3675857"/>
            <a:ext cx="1157287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000">
                <a:latin typeface="Palatino" charset="0"/>
              </a:rPr>
              <a:t>Precio ($/unidad)</a:t>
            </a:r>
          </a:p>
        </p:txBody>
      </p:sp>
      <p:sp>
        <p:nvSpPr>
          <p:cNvPr id="25636" name="Rectangle 35"/>
          <p:cNvSpPr>
            <a:spLocks noChangeArrowheads="1"/>
          </p:cNvSpPr>
          <p:nvPr/>
        </p:nvSpPr>
        <p:spPr bwMode="auto">
          <a:xfrm rot="-5400000">
            <a:off x="3801269" y="3664744"/>
            <a:ext cx="1122362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000">
                <a:latin typeface="Palatino" charset="0"/>
              </a:rPr>
              <a:t>Precio ($unidad)</a:t>
            </a:r>
            <a:endParaRPr lang="en-US" altLang="es-AR" sz="1200">
              <a:latin typeface="Palatino" charset="0"/>
            </a:endParaRPr>
          </a:p>
        </p:txBody>
      </p:sp>
      <p:sp>
        <p:nvSpPr>
          <p:cNvPr id="25637" name="Rectangle 36"/>
          <p:cNvSpPr>
            <a:spLocks noChangeArrowheads="1"/>
          </p:cNvSpPr>
          <p:nvPr/>
        </p:nvSpPr>
        <p:spPr bwMode="auto">
          <a:xfrm>
            <a:off x="2484438" y="5257800"/>
            <a:ext cx="6953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000">
                <a:latin typeface="Palatino" charset="0"/>
              </a:rPr>
              <a:t>Cantidad</a:t>
            </a:r>
            <a:endParaRPr lang="en-US" altLang="es-AR" sz="1200">
              <a:latin typeface="Palatino" charset="0"/>
            </a:endParaRPr>
          </a:p>
        </p:txBody>
      </p:sp>
      <p:sp>
        <p:nvSpPr>
          <p:cNvPr id="25638" name="Rectangle 37"/>
          <p:cNvSpPr>
            <a:spLocks noChangeArrowheads="1"/>
          </p:cNvSpPr>
          <p:nvPr/>
        </p:nvSpPr>
        <p:spPr bwMode="auto">
          <a:xfrm>
            <a:off x="5387975" y="5257800"/>
            <a:ext cx="696913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000">
                <a:latin typeface="Palatino" charset="0"/>
              </a:rPr>
              <a:t>Cantidad</a:t>
            </a:r>
            <a:endParaRPr lang="en-US" altLang="es-AR" sz="1200">
              <a:latin typeface="Palatino" charset="0"/>
            </a:endParaRPr>
          </a:p>
        </p:txBody>
      </p:sp>
      <p:sp>
        <p:nvSpPr>
          <p:cNvPr id="25639" name="Rectangle 38"/>
          <p:cNvSpPr>
            <a:spLocks noChangeArrowheads="1"/>
          </p:cNvSpPr>
          <p:nvPr/>
        </p:nvSpPr>
        <p:spPr bwMode="auto">
          <a:xfrm>
            <a:off x="1905000" y="2590800"/>
            <a:ext cx="2209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oferta extremadamente inelástica</a:t>
            </a:r>
          </a:p>
        </p:txBody>
      </p:sp>
      <p:sp>
        <p:nvSpPr>
          <p:cNvPr id="25640" name="Rectangle 39"/>
          <p:cNvSpPr>
            <a:spLocks noChangeArrowheads="1"/>
          </p:cNvSpPr>
          <p:nvPr/>
        </p:nvSpPr>
        <p:spPr bwMode="auto">
          <a:xfrm>
            <a:off x="5257800" y="2590800"/>
            <a:ext cx="21240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en-US" altLang="es-AR" sz="1200">
                <a:latin typeface="Palatino" charset="0"/>
              </a:rPr>
              <a:t>Oferta extremadamente elástica</a:t>
            </a:r>
          </a:p>
        </p:txBody>
      </p:sp>
      <p:sp>
        <p:nvSpPr>
          <p:cNvPr id="25641" name="Rectangle 40"/>
          <p:cNvSpPr>
            <a:spLocks noChangeArrowheads="1"/>
          </p:cNvSpPr>
          <p:nvPr/>
        </p:nvSpPr>
        <p:spPr bwMode="auto">
          <a:xfrm>
            <a:off x="1143000" y="1066800"/>
            <a:ext cx="1841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endParaRPr lang="es-ES" altLang="es-AR" sz="4400">
              <a:latin typeface="Tahoma" pitchFamily="34" charset="0"/>
            </a:endParaRPr>
          </a:p>
        </p:txBody>
      </p:sp>
      <p:sp>
        <p:nvSpPr>
          <p:cNvPr id="25642" name="Rectangle 41"/>
          <p:cNvSpPr>
            <a:spLocks noGrp="1" noChangeArrowheads="1"/>
          </p:cNvSpPr>
          <p:nvPr>
            <p:ph type="title" idx="4294967295"/>
          </p:nvPr>
        </p:nvSpPr>
        <p:spPr>
          <a:xfrm>
            <a:off x="696913" y="466725"/>
            <a:ext cx="8162925" cy="646113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Elasticidades Precio de la Oferta</a:t>
            </a:r>
            <a:endParaRPr lang="es-AR" altLang="es-AR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5B9A5F1-E5C4-4597-95C6-DF69556D8D2C}" type="slidenum">
              <a:rPr lang="es-ES" altLang="es-AR"/>
              <a:pPr/>
              <a:t>45</a:t>
            </a:fld>
            <a:endParaRPr lang="es-ES" altLang="es-AR"/>
          </a:p>
        </p:txBody>
      </p:sp>
      <p:sp>
        <p:nvSpPr>
          <p:cNvPr id="2765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4213" y="428625"/>
            <a:ext cx="8350250" cy="120015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Desplazamiento de Oferta: Impacto del Precio - Resumen</a:t>
            </a:r>
          </a:p>
        </p:txBody>
      </p:sp>
      <p:sp>
        <p:nvSpPr>
          <p:cNvPr id="2765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4213" y="1901825"/>
            <a:ext cx="8339137" cy="41910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2800" dirty="0"/>
              <a:t>el cambio en el precio es menor a la magnitud en la cual se desplaza la oferta</a:t>
            </a:r>
            <a:endParaRPr lang="es-AR" altLang="es-AR" sz="2800" dirty="0">
              <a:cs typeface="Times New Roman" pitchFamily="18" charset="0"/>
            </a:endParaRPr>
          </a:p>
          <a:p>
            <a:pPr eaLnBrk="1" hangingPunct="1"/>
            <a:endParaRPr lang="es-AR" altLang="es-AR" sz="2800" dirty="0">
              <a:cs typeface="Times New Roman" pitchFamily="18" charset="0"/>
            </a:endParaRPr>
          </a:p>
          <a:p>
            <a:pPr eaLnBrk="1" hangingPunct="1"/>
            <a:r>
              <a:rPr lang="es-AR" altLang="es-AR" sz="2800" dirty="0">
                <a:cs typeface="Times New Roman" pitchFamily="18" charset="0"/>
              </a:rPr>
              <a:t>cambio en el precio</a:t>
            </a:r>
          </a:p>
          <a:p>
            <a:pPr lvl="1" eaLnBrk="1" hangingPunct="1"/>
            <a:r>
              <a:rPr lang="es-AR" altLang="es-AR" sz="2400" dirty="0">
                <a:cs typeface="Times New Roman" pitchFamily="18" charset="0"/>
              </a:rPr>
              <a:t>es pequeño si la demanda es más elástica que la oferta</a:t>
            </a:r>
          </a:p>
          <a:p>
            <a:pPr lvl="1" eaLnBrk="1" hangingPunct="1"/>
            <a:r>
              <a:rPr lang="es-AR" altLang="es-AR" sz="2400" dirty="0">
                <a:cs typeface="Times New Roman" pitchFamily="18" charset="0"/>
              </a:rPr>
              <a:t>es más grande si la oferta es más elástica que la demanda</a:t>
            </a:r>
            <a:endParaRPr lang="es-AR" altLang="es-AR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46</a:t>
            </a:fld>
            <a:endParaRPr lang="es-AR"/>
          </a:p>
        </p:txBody>
      </p:sp>
      <p:pic>
        <p:nvPicPr>
          <p:cNvPr id="296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1697038"/>
            <a:ext cx="7153275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3"/>
          <p:cNvSpPr>
            <a:spLocks noChangeShapeType="1"/>
          </p:cNvSpPr>
          <p:nvPr/>
        </p:nvSpPr>
        <p:spPr bwMode="auto">
          <a:xfrm>
            <a:off x="0" y="2071688"/>
            <a:ext cx="8651875" cy="0"/>
          </a:xfrm>
          <a:prstGeom prst="line">
            <a:avLst/>
          </a:prstGeom>
          <a:noFill/>
          <a:ln w="44450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35589" name="Text Box 5"/>
          <p:cNvSpPr txBox="1">
            <a:spLocks noChangeArrowheads="1"/>
          </p:cNvSpPr>
          <p:nvPr/>
        </p:nvSpPr>
        <p:spPr bwMode="auto">
          <a:xfrm>
            <a:off x="609600" y="2819400"/>
            <a:ext cx="8137525" cy="461665"/>
          </a:xfrm>
          <a:prstGeom prst="rect">
            <a:avLst/>
          </a:prstGeom>
          <a:solidFill>
            <a:srgbClr val="0937B7"/>
          </a:solidFill>
          <a:ln w="9525">
            <a:solidFill>
              <a:srgbClr val="0937B7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609600" indent="-609600" algn="ctr">
              <a:spcBef>
                <a:spcPts val="600"/>
              </a:spcBef>
              <a:buFontTx/>
              <a:buNone/>
              <a:defRPr/>
            </a:pPr>
            <a:r>
              <a:rPr lang="es-AR" sz="2400" b="1" dirty="0">
                <a:solidFill>
                  <a:schemeClr val="bg1"/>
                </a:solidFill>
              </a:rPr>
              <a:t>Intervención del gobierno en los mercados </a:t>
            </a:r>
            <a:endParaRPr lang="es-MX" sz="2400" i="1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47</a:t>
            </a:fld>
            <a:endParaRPr lang="es-A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s-AR" dirty="0"/>
              <a:t>Controles de precios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48</a:t>
            </a:fld>
            <a:endParaRPr lang="es-AR"/>
          </a:p>
        </p:txBody>
      </p:sp>
      <p:pic>
        <p:nvPicPr>
          <p:cNvPr id="280577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066800"/>
            <a:ext cx="7381875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914400" y="5029200"/>
            <a:ext cx="6934200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s-AR" sz="2400" dirty="0"/>
              <a:t> Racionamiento (colas)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s-AR" sz="2400" dirty="0"/>
              <a:t> Mercado negro a precios más altos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49</a:t>
            </a:fld>
            <a:endParaRPr lang="es-AR"/>
          </a:p>
        </p:txBody>
      </p:sp>
      <p:pic>
        <p:nvPicPr>
          <p:cNvPr id="2795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833563"/>
            <a:ext cx="701040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Rectángulo"/>
          <p:cNvSpPr/>
          <p:nvPr/>
        </p:nvSpPr>
        <p:spPr>
          <a:xfrm>
            <a:off x="1219200" y="304800"/>
            <a:ext cx="6663555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s-AR" sz="2400" dirty="0"/>
              <a:t>Ejemplo: Control de alquileres. Corto vs. Largo Plazo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50</a:t>
            </a:fld>
            <a:endParaRPr lang="es-AR"/>
          </a:p>
        </p:txBody>
      </p:sp>
      <p:pic>
        <p:nvPicPr>
          <p:cNvPr id="299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4434" y="990600"/>
            <a:ext cx="6970366" cy="4698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3 Rectángulo"/>
          <p:cNvSpPr/>
          <p:nvPr/>
        </p:nvSpPr>
        <p:spPr>
          <a:xfrm>
            <a:off x="1828800" y="191869"/>
            <a:ext cx="502920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AR" dirty="0"/>
              <a:t>Ejemplo: Cargas patronales y aportes personales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539E56F-F3B4-4937-935D-4B81A0164B67}" type="slidenum">
              <a:rPr lang="es-ES" altLang="es-AR"/>
              <a:pPr/>
              <a:t>51</a:t>
            </a:fld>
            <a:endParaRPr lang="es-ES" altLang="es-AR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Excedente del Consumidor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73238"/>
            <a:ext cx="8110537" cy="41910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Excedente bruto del consumidor: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Monto que el consumidor esta dispuesto a </a:t>
            </a:r>
            <a:r>
              <a:rPr lang="es-AR" altLang="es-AR" sz="2400" u="sng" dirty="0"/>
              <a:t>gastar</a:t>
            </a:r>
            <a:r>
              <a:rPr lang="es-AR" altLang="es-AR" sz="2400" dirty="0"/>
              <a:t> por X unidades de un bien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Excedente neto del consumidor: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Diferencia entre el excedente bruto del consumidor y el gasto que efectivamente realiza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59805BC-7D52-45E5-B9C9-84739E0B1383}" type="slidenum">
              <a:rPr lang="es-ES" altLang="es-AR"/>
              <a:pPr/>
              <a:t>52</a:t>
            </a:fld>
            <a:endParaRPr lang="es-ES" altLang="es-AR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Excedente del Productor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Excedente individual del productor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ingreso que obtiene el productor por un producto – costos variables de producción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Excedente de mercado del productor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suma de los excedentes individuales de los productores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Beneficios = Excedente del productor – costo fijo</a:t>
            </a:r>
            <a:endParaRPr lang="es-AR" altLang="es-AR" sz="4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53</a:t>
            </a:fld>
            <a:endParaRPr lang="es-AR"/>
          </a:p>
        </p:txBody>
      </p:sp>
      <p:pic>
        <p:nvPicPr>
          <p:cNvPr id="300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8375" y="1666875"/>
            <a:ext cx="466725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54</a:t>
            </a:fld>
            <a:endParaRPr lang="es-AR"/>
          </a:p>
        </p:txBody>
      </p:sp>
      <p:pic>
        <p:nvPicPr>
          <p:cNvPr id="27852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947738"/>
            <a:ext cx="6858000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55</a:t>
            </a:fld>
            <a:endParaRPr lang="es-AR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2400"/>
            <a:ext cx="7324155" cy="641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347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3"/>
          <p:cNvSpPr>
            <a:spLocks noChangeShapeType="1"/>
          </p:cNvSpPr>
          <p:nvPr/>
        </p:nvSpPr>
        <p:spPr bwMode="auto">
          <a:xfrm>
            <a:off x="0" y="2071688"/>
            <a:ext cx="8651875" cy="0"/>
          </a:xfrm>
          <a:prstGeom prst="line">
            <a:avLst/>
          </a:prstGeom>
          <a:noFill/>
          <a:ln w="44450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35589" name="Text Box 5"/>
          <p:cNvSpPr txBox="1">
            <a:spLocks noChangeArrowheads="1"/>
          </p:cNvSpPr>
          <p:nvPr/>
        </p:nvSpPr>
        <p:spPr bwMode="auto">
          <a:xfrm>
            <a:off x="609600" y="2819400"/>
            <a:ext cx="8137525" cy="461665"/>
          </a:xfrm>
          <a:prstGeom prst="rect">
            <a:avLst/>
          </a:prstGeom>
          <a:solidFill>
            <a:srgbClr val="0937B7"/>
          </a:solidFill>
          <a:ln w="9525">
            <a:solidFill>
              <a:srgbClr val="0937B7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609600" indent="-609600" algn="ctr">
              <a:spcBef>
                <a:spcPts val="600"/>
              </a:spcBef>
              <a:buFontTx/>
              <a:buNone/>
              <a:defRPr/>
            </a:pPr>
            <a:r>
              <a:rPr lang="es-MX" sz="2400" b="1" dirty="0">
                <a:solidFill>
                  <a:schemeClr val="bg1"/>
                </a:solidFill>
                <a:latin typeface="Times New Roman" charset="0"/>
              </a:rPr>
              <a:t>Monopolio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56</a:t>
            </a:fld>
            <a:endParaRPr lang="es-A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963B78-2741-49C2-89AE-F48030768384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s-ES" altLang="es-AR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n-US" altLang="es-AR" b="1" dirty="0" err="1">
                <a:solidFill>
                  <a:schemeClr val="tx1"/>
                </a:solidFill>
              </a:rPr>
              <a:t>Monopolio</a:t>
            </a:r>
            <a:endParaRPr lang="en-US" altLang="es-AR" b="1" dirty="0">
              <a:solidFill>
                <a:schemeClr val="tx1"/>
              </a:solidFill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Fuentes de poder de mercado</a:t>
            </a:r>
          </a:p>
          <a:p>
            <a:pPr eaLnBrk="1" hangingPunct="1"/>
            <a:r>
              <a:rPr lang="es-AR" altLang="es-AR" sz="2800" dirty="0"/>
              <a:t>Fijación de precios</a:t>
            </a:r>
          </a:p>
          <a:p>
            <a:pPr eaLnBrk="1" hangingPunct="1"/>
            <a:r>
              <a:rPr lang="es-AR" altLang="es-AR" sz="2800" dirty="0"/>
              <a:t>Publicidad</a:t>
            </a:r>
          </a:p>
          <a:p>
            <a:pPr eaLnBrk="1" hangingPunct="1"/>
            <a:r>
              <a:rPr lang="es-AR" altLang="es-AR" sz="2800" dirty="0"/>
              <a:t>Monopsonio </a:t>
            </a:r>
          </a:p>
          <a:p>
            <a:pPr eaLnBrk="1" hangingPunct="1"/>
            <a:r>
              <a:rPr lang="es-AR" altLang="es-AR" sz="2800" dirty="0"/>
              <a:t>Monopolio vs competencia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10FD7F-923E-426E-96C3-ACECA2F6D3DB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s-ES" altLang="es-AR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615950"/>
            <a:ext cx="8162925" cy="5842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Poder de Mercado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1825"/>
            <a:ext cx="8339137" cy="4551363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s-AR" altLang="es-AR" sz="2800" i="1" dirty="0"/>
              <a:t>Definición</a:t>
            </a:r>
            <a:r>
              <a:rPr lang="es-AR" altLang="es-AR" sz="2800" dirty="0"/>
              <a:t>: posibilidad de influir sobre el precio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monopolio – único oferente de un bien o servicio sin sustitutos cercanos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oligopolio – pocos oferentes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monopsonio – único comprador 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oligopsonio – pocos compradores</a:t>
            </a:r>
          </a:p>
          <a:p>
            <a:pPr lvl="1" eaLnBrk="1" hangingPunct="1">
              <a:lnSpc>
                <a:spcPct val="90000"/>
              </a:lnSpc>
              <a:buNone/>
            </a:pPr>
            <a:endParaRPr lang="es-AR" altLang="es-AR" sz="2400" dirty="0"/>
          </a:p>
          <a:p>
            <a:pPr eaLnBrk="1" hangingPunct="1">
              <a:lnSpc>
                <a:spcPct val="90000"/>
              </a:lnSpc>
            </a:pPr>
            <a:r>
              <a:rPr lang="es-AR" altLang="es-AR" sz="2800" dirty="0"/>
              <a:t>Poder de mercado vs. poder de monopolio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B06F06-2633-4D7D-B3E2-33868A5E230E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s-ES" altLang="es-AR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60400"/>
            <a:ext cx="7772400" cy="5842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Fuentes de Poder de Mercado (I)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7772400" cy="43688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s-AR" altLang="es-AR" sz="2800" dirty="0"/>
              <a:t>Factores de Oferta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dirty="0"/>
              <a:t>Recursos específicos</a:t>
            </a:r>
          </a:p>
          <a:p>
            <a:pPr lvl="2" eaLnBrk="1" hangingPunct="1">
              <a:lnSpc>
                <a:spcPct val="90000"/>
              </a:lnSpc>
            </a:pPr>
            <a:r>
              <a:rPr lang="es-AR" altLang="es-AR" dirty="0"/>
              <a:t>humanos </a:t>
            </a:r>
          </a:p>
          <a:p>
            <a:pPr lvl="2" eaLnBrk="1" hangingPunct="1">
              <a:lnSpc>
                <a:spcPct val="90000"/>
              </a:lnSpc>
            </a:pPr>
            <a:r>
              <a:rPr lang="es-AR" altLang="es-AR" dirty="0"/>
              <a:t>naturales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dirty="0"/>
              <a:t>Propiedad intelectual </a:t>
            </a:r>
          </a:p>
          <a:p>
            <a:pPr lvl="2" eaLnBrk="1" hangingPunct="1">
              <a:lnSpc>
                <a:spcPct val="90000"/>
              </a:lnSpc>
            </a:pPr>
            <a:r>
              <a:rPr lang="es-AR" altLang="es-AR" dirty="0"/>
              <a:t>patentes</a:t>
            </a:r>
          </a:p>
          <a:p>
            <a:pPr lvl="2" eaLnBrk="1" hangingPunct="1">
              <a:lnSpc>
                <a:spcPct val="90000"/>
              </a:lnSpc>
            </a:pPr>
            <a:r>
              <a:rPr lang="es-AR" altLang="es-AR" dirty="0"/>
              <a:t>Copyright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dirty="0"/>
              <a:t>Economías de escala / alcance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dirty="0"/>
              <a:t>Regulación del gobierno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B03CF9-EAED-4BB5-957B-F117AA7B2505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s-ES" altLang="es-AR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615950"/>
            <a:ext cx="8162925" cy="5842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n-US" altLang="es-AR" sz="3200" dirty="0">
                <a:solidFill>
                  <a:schemeClr val="tx1"/>
                </a:solidFill>
              </a:rPr>
              <a:t>Fuentes de </a:t>
            </a:r>
            <a:r>
              <a:rPr lang="es-AR" altLang="es-AR" sz="3200" dirty="0">
                <a:solidFill>
                  <a:schemeClr val="tx1"/>
                </a:solidFill>
              </a:rPr>
              <a:t>Poder</a:t>
            </a:r>
            <a:r>
              <a:rPr lang="en-US" altLang="es-AR" sz="3200" dirty="0">
                <a:solidFill>
                  <a:schemeClr val="tx1"/>
                </a:solidFill>
              </a:rPr>
              <a:t> de Mercado (II)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548188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Factores de demanda:</a:t>
            </a:r>
          </a:p>
          <a:p>
            <a:pPr lvl="1" eaLnBrk="1" hangingPunct="1"/>
            <a:r>
              <a:rPr lang="es-AR" altLang="es-AR" sz="2400" dirty="0"/>
              <a:t>Elasticidad-precio de la demanda</a:t>
            </a:r>
          </a:p>
          <a:p>
            <a:pPr lvl="1" eaLnBrk="1" hangingPunct="1"/>
            <a:r>
              <a:rPr lang="es-AR" altLang="es-AR" sz="2400" dirty="0"/>
              <a:t>Diferenciación de productos</a:t>
            </a:r>
          </a:p>
          <a:p>
            <a:pPr eaLnBrk="1" hangingPunct="1"/>
            <a:endParaRPr lang="es-AR" altLang="es-AR" sz="2800" dirty="0"/>
          </a:p>
          <a:p>
            <a:pPr eaLnBrk="1" hangingPunct="1"/>
            <a:r>
              <a:rPr lang="es-AR" altLang="es-AR" sz="2800" dirty="0"/>
              <a:t>Conducta</a:t>
            </a:r>
          </a:p>
          <a:p>
            <a:pPr lvl="1" eaLnBrk="1" hangingPunct="1"/>
            <a:r>
              <a:rPr lang="es-AR" altLang="es-AR" sz="2400" dirty="0"/>
              <a:t>Barreras a la entrada</a:t>
            </a:r>
          </a:p>
          <a:p>
            <a:pPr lvl="1" eaLnBrk="1" hangingPunct="1"/>
            <a:r>
              <a:rPr lang="es-AR" altLang="es-AR" sz="2400" dirty="0"/>
              <a:t>Relación entre empresas</a:t>
            </a:r>
          </a:p>
          <a:p>
            <a:pPr eaLnBrk="1" hangingPunct="1"/>
            <a:endParaRPr lang="es-AR" altLang="es-AR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1224F3-2030-4F2A-9C32-3C65E0FBCE23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s-ES" altLang="es-AR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41338"/>
            <a:ext cx="8162925" cy="5842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Monopolio: Demanda – </a:t>
            </a:r>
            <a:r>
              <a:rPr lang="es-AR" altLang="es-AR" sz="3200" u="sng" dirty="0">
                <a:solidFill>
                  <a:schemeClr val="tx1"/>
                </a:solidFill>
              </a:rPr>
              <a:t>Precio lineal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16113"/>
            <a:ext cx="4202113" cy="43815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AR" altLang="es-AR" sz="2800" dirty="0"/>
              <a:t>La empresa elige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precios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cantidades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b="1" dirty="0">
                <a:solidFill>
                  <a:srgbClr val="FF0000"/>
                </a:solidFill>
              </a:rPr>
              <a:t>pero no puede elegir ambos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s-AR" altLang="es-AR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AR" altLang="es-AR" sz="2800" dirty="0"/>
              <a:t>	Importante: mismo precio a todas las unidades vendidas</a:t>
            </a:r>
          </a:p>
        </p:txBody>
      </p:sp>
      <p:sp>
        <p:nvSpPr>
          <p:cNvPr id="17413" name="Line 4"/>
          <p:cNvSpPr>
            <a:spLocks noChangeShapeType="1"/>
          </p:cNvSpPr>
          <p:nvPr/>
        </p:nvSpPr>
        <p:spPr bwMode="auto">
          <a:xfrm>
            <a:off x="5257800" y="213360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4" name="Line 5"/>
          <p:cNvSpPr>
            <a:spLocks noChangeShapeType="1"/>
          </p:cNvSpPr>
          <p:nvPr/>
        </p:nvSpPr>
        <p:spPr bwMode="auto">
          <a:xfrm>
            <a:off x="5257800" y="55626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5" name="Line 6"/>
          <p:cNvSpPr>
            <a:spLocks noChangeShapeType="1"/>
          </p:cNvSpPr>
          <p:nvPr/>
        </p:nvSpPr>
        <p:spPr bwMode="auto">
          <a:xfrm>
            <a:off x="5257800" y="2590800"/>
            <a:ext cx="2286000" cy="297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6" name="Line 7"/>
          <p:cNvSpPr>
            <a:spLocks noChangeShapeType="1"/>
          </p:cNvSpPr>
          <p:nvPr/>
        </p:nvSpPr>
        <p:spPr bwMode="auto">
          <a:xfrm>
            <a:off x="5257800" y="45720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7" name="Line 10"/>
          <p:cNvSpPr>
            <a:spLocks noChangeShapeType="1"/>
          </p:cNvSpPr>
          <p:nvPr/>
        </p:nvSpPr>
        <p:spPr bwMode="auto">
          <a:xfrm>
            <a:off x="6781800" y="45720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8" name="Line 11"/>
          <p:cNvSpPr>
            <a:spLocks noChangeShapeType="1"/>
          </p:cNvSpPr>
          <p:nvPr/>
        </p:nvSpPr>
        <p:spPr bwMode="auto">
          <a:xfrm>
            <a:off x="5257800" y="36576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19" name="Line 12"/>
          <p:cNvSpPr>
            <a:spLocks noChangeShapeType="1"/>
          </p:cNvSpPr>
          <p:nvPr/>
        </p:nvSpPr>
        <p:spPr bwMode="auto">
          <a:xfrm>
            <a:off x="6096000" y="36576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7420" name="Text Box 13"/>
          <p:cNvSpPr txBox="1">
            <a:spLocks noChangeArrowheads="1"/>
          </p:cNvSpPr>
          <p:nvPr/>
        </p:nvSpPr>
        <p:spPr bwMode="auto">
          <a:xfrm>
            <a:off x="4860925" y="1936750"/>
            <a:ext cx="374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AR" sz="2400"/>
              <a:t>p</a:t>
            </a:r>
          </a:p>
        </p:txBody>
      </p:sp>
      <p:sp>
        <p:nvSpPr>
          <p:cNvPr id="17421" name="Text Box 14"/>
          <p:cNvSpPr txBox="1">
            <a:spLocks noChangeArrowheads="1"/>
          </p:cNvSpPr>
          <p:nvPr/>
        </p:nvSpPr>
        <p:spPr bwMode="auto">
          <a:xfrm>
            <a:off x="7772400" y="5486400"/>
            <a:ext cx="365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AR" sz="2400"/>
              <a:t>x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919FD1-ABD7-4128-9A6F-CE18A0DF386D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s-ES" altLang="es-AR" sz="1400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1063625" y="-200025"/>
            <a:ext cx="582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s-ES" altLang="es-AR" sz="2400">
              <a:latin typeface="Tahoma" panose="020B0604030504040204" pitchFamily="34" charset="0"/>
            </a:endParaRPr>
          </a:p>
        </p:txBody>
      </p:sp>
      <p:sp>
        <p:nvSpPr>
          <p:cNvPr id="19460" name="Line 3"/>
          <p:cNvSpPr>
            <a:spLocks noChangeShapeType="1"/>
          </p:cNvSpPr>
          <p:nvPr/>
        </p:nvSpPr>
        <p:spPr bwMode="auto">
          <a:xfrm>
            <a:off x="2149475" y="2043113"/>
            <a:ext cx="0" cy="3802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9461" name="Line 4"/>
          <p:cNvSpPr>
            <a:spLocks noChangeShapeType="1"/>
          </p:cNvSpPr>
          <p:nvPr/>
        </p:nvSpPr>
        <p:spPr bwMode="auto">
          <a:xfrm>
            <a:off x="2157413" y="5235575"/>
            <a:ext cx="4640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1828800" y="44958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50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1828800" y="41148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70</a:t>
            </a: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1752600" y="3213100"/>
            <a:ext cx="5270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 b="1">
                <a:latin typeface="Tahoma" panose="020B0604030504040204" pitchFamily="34" charset="0"/>
              </a:rPr>
              <a:t>135</a:t>
            </a:r>
          </a:p>
        </p:txBody>
      </p:sp>
      <p:sp>
        <p:nvSpPr>
          <p:cNvPr id="19465" name="Rectangle 10"/>
          <p:cNvSpPr>
            <a:spLocks noChangeArrowheads="1"/>
          </p:cNvSpPr>
          <p:nvPr/>
        </p:nvSpPr>
        <p:spPr bwMode="auto">
          <a:xfrm>
            <a:off x="1752600" y="2400300"/>
            <a:ext cx="4794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200</a:t>
            </a:r>
          </a:p>
        </p:txBody>
      </p:sp>
      <p:sp>
        <p:nvSpPr>
          <p:cNvPr id="19466" name="Rectangle 11"/>
          <p:cNvSpPr>
            <a:spLocks noChangeArrowheads="1"/>
          </p:cNvSpPr>
          <p:nvPr/>
        </p:nvSpPr>
        <p:spPr bwMode="auto">
          <a:xfrm>
            <a:off x="2590800" y="5257800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0.4</a:t>
            </a:r>
          </a:p>
        </p:txBody>
      </p:sp>
      <p:sp>
        <p:nvSpPr>
          <p:cNvPr id="19467" name="Rectangle 12"/>
          <p:cNvSpPr>
            <a:spLocks noChangeArrowheads="1"/>
          </p:cNvSpPr>
          <p:nvPr/>
        </p:nvSpPr>
        <p:spPr bwMode="auto">
          <a:xfrm>
            <a:off x="3429000" y="5257800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0.8</a:t>
            </a:r>
          </a:p>
        </p:txBody>
      </p:sp>
      <p:sp>
        <p:nvSpPr>
          <p:cNvPr id="19468" name="Rectangle 13"/>
          <p:cNvSpPr>
            <a:spLocks noChangeArrowheads="1"/>
          </p:cNvSpPr>
          <p:nvPr/>
        </p:nvSpPr>
        <p:spPr bwMode="auto">
          <a:xfrm>
            <a:off x="4284663" y="5257800"/>
            <a:ext cx="4683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 b="1">
                <a:latin typeface="Tahoma" panose="020B0604030504040204" pitchFamily="34" charset="0"/>
              </a:rPr>
              <a:t>1.3</a:t>
            </a:r>
          </a:p>
        </p:txBody>
      </p:sp>
      <p:sp>
        <p:nvSpPr>
          <p:cNvPr id="19469" name="Rectangle 14"/>
          <p:cNvSpPr>
            <a:spLocks noChangeArrowheads="1"/>
          </p:cNvSpPr>
          <p:nvPr/>
        </p:nvSpPr>
        <p:spPr bwMode="auto">
          <a:xfrm>
            <a:off x="4876800" y="5257800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1.4</a:t>
            </a:r>
          </a:p>
        </p:txBody>
      </p:sp>
      <p:sp>
        <p:nvSpPr>
          <p:cNvPr id="19470" name="Rectangle 15"/>
          <p:cNvSpPr>
            <a:spLocks noChangeArrowheads="1"/>
          </p:cNvSpPr>
          <p:nvPr/>
        </p:nvSpPr>
        <p:spPr bwMode="auto">
          <a:xfrm>
            <a:off x="5410200" y="5257800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1.6</a:t>
            </a:r>
          </a:p>
        </p:txBody>
      </p:sp>
      <p:sp>
        <p:nvSpPr>
          <p:cNvPr id="19471" name="Rectangle 16"/>
          <p:cNvSpPr>
            <a:spLocks noChangeArrowheads="1"/>
          </p:cNvSpPr>
          <p:nvPr/>
        </p:nvSpPr>
        <p:spPr bwMode="auto">
          <a:xfrm>
            <a:off x="6248400" y="52578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9472" name="Line 18"/>
          <p:cNvSpPr>
            <a:spLocks noChangeShapeType="1"/>
          </p:cNvSpPr>
          <p:nvPr/>
        </p:nvSpPr>
        <p:spPr bwMode="auto">
          <a:xfrm>
            <a:off x="2309813" y="2652713"/>
            <a:ext cx="4259262" cy="1439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9473" name="Line 20"/>
          <p:cNvSpPr>
            <a:spLocks noChangeShapeType="1"/>
          </p:cNvSpPr>
          <p:nvPr/>
        </p:nvSpPr>
        <p:spPr bwMode="auto">
          <a:xfrm>
            <a:off x="2286000" y="2667000"/>
            <a:ext cx="403860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9474" name="Rectangle 23"/>
          <p:cNvSpPr>
            <a:spLocks noChangeArrowheads="1"/>
          </p:cNvSpPr>
          <p:nvPr/>
        </p:nvSpPr>
        <p:spPr bwMode="auto">
          <a:xfrm>
            <a:off x="5867400" y="3505200"/>
            <a:ext cx="30321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demanda  (valoración marginal</a:t>
            </a:r>
            <a:r>
              <a:rPr lang="en-US" altLang="es-AR" sz="140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9475" name="Rectangle 24"/>
          <p:cNvSpPr>
            <a:spLocks noChangeArrowheads="1"/>
          </p:cNvSpPr>
          <p:nvPr/>
        </p:nvSpPr>
        <p:spPr bwMode="auto">
          <a:xfrm>
            <a:off x="5562600" y="4343400"/>
            <a:ext cx="1704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Ingreso marginal</a:t>
            </a:r>
          </a:p>
        </p:txBody>
      </p:sp>
      <p:sp>
        <p:nvSpPr>
          <p:cNvPr id="19476" name="Rectangle 27"/>
          <p:cNvSpPr>
            <a:spLocks noChangeArrowheads="1"/>
          </p:cNvSpPr>
          <p:nvPr/>
        </p:nvSpPr>
        <p:spPr bwMode="auto">
          <a:xfrm>
            <a:off x="3276600" y="5715000"/>
            <a:ext cx="3806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Cantidad (Millones de unidades por año)</a:t>
            </a:r>
          </a:p>
        </p:txBody>
      </p:sp>
      <p:sp>
        <p:nvSpPr>
          <p:cNvPr id="19477" name="Rectangle 28"/>
          <p:cNvSpPr>
            <a:spLocks noChangeArrowheads="1"/>
          </p:cNvSpPr>
          <p:nvPr/>
        </p:nvSpPr>
        <p:spPr bwMode="auto">
          <a:xfrm rot="-5340000">
            <a:off x="350044" y="3521869"/>
            <a:ext cx="2084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Precio ($ por unidad)</a:t>
            </a:r>
          </a:p>
        </p:txBody>
      </p:sp>
      <p:sp>
        <p:nvSpPr>
          <p:cNvPr id="19478" name="Rectangle 29"/>
          <p:cNvSpPr>
            <a:spLocks noGrp="1" noChangeArrowheads="1"/>
          </p:cNvSpPr>
          <p:nvPr>
            <p:ph type="title" idx="4294967295"/>
          </p:nvPr>
        </p:nvSpPr>
        <p:spPr>
          <a:xfrm>
            <a:off x="663575" y="584200"/>
            <a:ext cx="8424863" cy="585788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Monopolio: Ingreso Marginal y Precio</a:t>
            </a:r>
            <a:endParaRPr lang="es-AR" altLang="es-AR" sz="3200" dirty="0"/>
          </a:p>
        </p:txBody>
      </p:sp>
      <p:sp>
        <p:nvSpPr>
          <p:cNvPr id="19479" name="Text Box 30"/>
          <p:cNvSpPr txBox="1">
            <a:spLocks noChangeArrowheads="1"/>
          </p:cNvSpPr>
          <p:nvPr/>
        </p:nvSpPr>
        <p:spPr bwMode="auto">
          <a:xfrm>
            <a:off x="3429000" y="2362200"/>
            <a:ext cx="2362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2000" i="1">
                <a:latin typeface="Tahoma" panose="020B0604030504040204" pitchFamily="34" charset="0"/>
              </a:rPr>
              <a:t>Unidades infra-marginales</a:t>
            </a:r>
            <a:endParaRPr lang="en-US" altLang="es-AR" sz="2000" i="1">
              <a:latin typeface="Times New Roman" panose="02020603050405020304" pitchFamily="18" charset="0"/>
            </a:endParaRPr>
          </a:p>
        </p:txBody>
      </p:sp>
      <p:sp>
        <p:nvSpPr>
          <p:cNvPr id="19480" name="Line 31"/>
          <p:cNvSpPr>
            <a:spLocks noChangeShapeType="1"/>
          </p:cNvSpPr>
          <p:nvPr/>
        </p:nvSpPr>
        <p:spPr bwMode="auto">
          <a:xfrm>
            <a:off x="2133600" y="33528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9481" name="Line 32"/>
          <p:cNvSpPr>
            <a:spLocks noChangeShapeType="1"/>
          </p:cNvSpPr>
          <p:nvPr/>
        </p:nvSpPr>
        <p:spPr bwMode="auto">
          <a:xfrm>
            <a:off x="4495800" y="33528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6F7982-A87F-43A1-9862-14AA92442226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s-ES" altLang="es-AR" sz="1400"/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522288"/>
            <a:ext cx="8162925" cy="5842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Demanda e Ingreso Marginal</a:t>
            </a:r>
            <a:endParaRPr lang="es-AR" altLang="es-AR" sz="3200" dirty="0"/>
          </a:p>
        </p:txBody>
      </p:sp>
      <p:sp>
        <p:nvSpPr>
          <p:cNvPr id="2150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916113"/>
            <a:ext cx="8339137" cy="41910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2800" dirty="0"/>
              <a:t>Ingreso marginal = cambio en el ingreso total ante un aumento en una unidad vendida.</a:t>
            </a:r>
          </a:p>
          <a:p>
            <a:pPr eaLnBrk="1" hangingPunct="1"/>
            <a:r>
              <a:rPr lang="es-AR" altLang="es-AR" sz="2800" dirty="0"/>
              <a:t>Diferencia entre precio e ingreso marginal</a:t>
            </a:r>
          </a:p>
          <a:p>
            <a:pPr eaLnBrk="1" hangingPunct="1"/>
            <a:r>
              <a:rPr lang="es-AR" altLang="es-AR" sz="2800" dirty="0"/>
              <a:t>Usualmente p &gt; </a:t>
            </a:r>
            <a:r>
              <a:rPr lang="es-AR" altLang="es-AR" sz="2800" dirty="0" err="1"/>
              <a:t>IMa</a:t>
            </a:r>
            <a:endParaRPr lang="es-AR" altLang="es-AR" sz="2800" dirty="0"/>
          </a:p>
          <a:p>
            <a:pPr eaLnBrk="1" hangingPunct="1"/>
            <a:r>
              <a:rPr lang="es-AR" altLang="es-AR" sz="2800" dirty="0"/>
              <a:t>Diferencia (p-</a:t>
            </a:r>
            <a:r>
              <a:rPr lang="es-AR" altLang="es-AR" sz="2800" dirty="0" err="1"/>
              <a:t>Ima</a:t>
            </a:r>
            <a:r>
              <a:rPr lang="es-AR" altLang="es-AR" sz="2800" dirty="0"/>
              <a:t>) depende de la elasticidad-precio de la demanda.</a:t>
            </a:r>
          </a:p>
          <a:p>
            <a:pPr eaLnBrk="1" hangingPunct="1"/>
            <a:endParaRPr lang="es-AR" altLang="es-AR" sz="2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17A9E9-2A32-4A32-9B38-003F8A976BCC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s-ES" altLang="es-AR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69888"/>
            <a:ext cx="8162925" cy="1076325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Monopolio: Maximización del Beneficio (I)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16113"/>
            <a:ext cx="8339137" cy="41910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/>
              <a:t>Operar a una escala en la cual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s-AR" altLang="es-AR" sz="2400" b="1" dirty="0"/>
              <a:t>Ingreso marginal = Costo marginal</a:t>
            </a:r>
          </a:p>
          <a:p>
            <a:pPr eaLnBrk="1" hangingPunct="1"/>
            <a:endParaRPr lang="es-AR" altLang="es-AR" sz="2400" dirty="0"/>
          </a:p>
          <a:p>
            <a:pPr eaLnBrk="1" hangingPunct="1"/>
            <a:r>
              <a:rPr lang="es-AR" altLang="es-AR" sz="2800" dirty="0"/>
              <a:t>Espacio para obtener más beneficios si ingreso marginal es mayor (menor) que el costo marginal aumentando (disminuyendo) cantidades.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6D17D1-7332-4D22-BE20-9F57E7A3FB6F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s-ES" altLang="es-AR" sz="1400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063625" y="-200025"/>
            <a:ext cx="582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s-ES" altLang="es-AR" sz="2400">
              <a:latin typeface="Tahoma" panose="020B0604030504040204" pitchFamily="34" charset="0"/>
            </a:endParaRPr>
          </a:p>
        </p:txBody>
      </p:sp>
      <p:sp>
        <p:nvSpPr>
          <p:cNvPr id="27652" name="Line 3"/>
          <p:cNvSpPr>
            <a:spLocks noChangeShapeType="1"/>
          </p:cNvSpPr>
          <p:nvPr/>
        </p:nvSpPr>
        <p:spPr bwMode="auto">
          <a:xfrm>
            <a:off x="2149475" y="2043113"/>
            <a:ext cx="0" cy="3802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53" name="Line 4"/>
          <p:cNvSpPr>
            <a:spLocks noChangeShapeType="1"/>
          </p:cNvSpPr>
          <p:nvPr/>
        </p:nvSpPr>
        <p:spPr bwMode="auto">
          <a:xfrm>
            <a:off x="2157413" y="5235575"/>
            <a:ext cx="4640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1752600" y="5638800"/>
            <a:ext cx="442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-50</a:t>
            </a:r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1828800" y="485775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50</a:t>
            </a:r>
          </a:p>
        </p:txBody>
      </p:sp>
      <p:sp>
        <p:nvSpPr>
          <p:cNvPr id="27656" name="Rectangle 7"/>
          <p:cNvSpPr>
            <a:spLocks noChangeArrowheads="1"/>
          </p:cNvSpPr>
          <p:nvPr/>
        </p:nvSpPr>
        <p:spPr bwMode="auto">
          <a:xfrm>
            <a:off x="1828800" y="41148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70</a:t>
            </a:r>
          </a:p>
        </p:txBody>
      </p:sp>
      <p:sp>
        <p:nvSpPr>
          <p:cNvPr id="27657" name="Rectangle 8"/>
          <p:cNvSpPr>
            <a:spLocks noChangeArrowheads="1"/>
          </p:cNvSpPr>
          <p:nvPr/>
        </p:nvSpPr>
        <p:spPr bwMode="auto">
          <a:xfrm>
            <a:off x="1752600" y="3429000"/>
            <a:ext cx="4794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135</a:t>
            </a: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1752600" y="1981200"/>
            <a:ext cx="474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250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2590800" y="5257800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0.4</a:t>
            </a: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3429000" y="5257800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0.8</a:t>
            </a:r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4343400" y="5257800"/>
            <a:ext cx="43656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1.2</a:t>
            </a:r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4876800" y="5257800"/>
            <a:ext cx="43656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1.3</a:t>
            </a:r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5410200" y="5257800"/>
            <a:ext cx="43656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1.4</a:t>
            </a: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6248400" y="52578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27665" name="Freeform 17"/>
          <p:cNvSpPr>
            <a:spLocks/>
          </p:cNvSpPr>
          <p:nvPr/>
        </p:nvSpPr>
        <p:spPr bwMode="auto">
          <a:xfrm>
            <a:off x="2149475" y="3559175"/>
            <a:ext cx="2897188" cy="1677988"/>
          </a:xfrm>
          <a:custGeom>
            <a:avLst/>
            <a:gdLst>
              <a:gd name="T0" fmla="*/ 0 w 1825"/>
              <a:gd name="T1" fmla="*/ 0 h 1057"/>
              <a:gd name="T2" fmla="*/ 2147483646 w 1825"/>
              <a:gd name="T3" fmla="*/ 0 h 1057"/>
              <a:gd name="T4" fmla="*/ 2147483646 w 1825"/>
              <a:gd name="T5" fmla="*/ 2147483646 h 10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25" h="1057">
                <a:moveTo>
                  <a:pt x="0" y="0"/>
                </a:moveTo>
                <a:lnTo>
                  <a:pt x="1824" y="0"/>
                </a:lnTo>
                <a:lnTo>
                  <a:pt x="1824" y="105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2309813" y="2652713"/>
            <a:ext cx="4259262" cy="1439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 flipV="1">
            <a:off x="2154238" y="3716338"/>
            <a:ext cx="4411662" cy="1516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2462213" y="2728913"/>
            <a:ext cx="4106862" cy="2430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flipV="1">
            <a:off x="4511675" y="3944938"/>
            <a:ext cx="0" cy="128746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 flipV="1">
            <a:off x="5578475" y="4097338"/>
            <a:ext cx="0" cy="113506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3886200" y="2819400"/>
            <a:ext cx="26892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demanda  (valoración marginal)</a:t>
            </a:r>
          </a:p>
        </p:txBody>
      </p: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5562600" y="4343400"/>
            <a:ext cx="15160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Ingreso marginal</a:t>
            </a: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2324100" y="4457700"/>
            <a:ext cx="13573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Costo marginal</a:t>
            </a:r>
          </a:p>
        </p:txBody>
      </p:sp>
      <p:sp>
        <p:nvSpPr>
          <p:cNvPr id="27674" name="Line 26"/>
          <p:cNvSpPr>
            <a:spLocks noChangeShapeType="1"/>
          </p:cNvSpPr>
          <p:nvPr/>
        </p:nvSpPr>
        <p:spPr bwMode="auto">
          <a:xfrm flipH="1">
            <a:off x="2157413" y="4244975"/>
            <a:ext cx="28876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675" name="Rectangle 27"/>
          <p:cNvSpPr>
            <a:spLocks noChangeArrowheads="1"/>
          </p:cNvSpPr>
          <p:nvPr/>
        </p:nvSpPr>
        <p:spPr bwMode="auto">
          <a:xfrm>
            <a:off x="4500563" y="5715000"/>
            <a:ext cx="117951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Cantidades</a:t>
            </a:r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 rot="-5340000">
            <a:off x="348456" y="3440907"/>
            <a:ext cx="20843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Precio ($ por unidad)</a:t>
            </a:r>
          </a:p>
        </p:txBody>
      </p:sp>
      <p:sp>
        <p:nvSpPr>
          <p:cNvPr id="27677" name="Rectangle 30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404813"/>
            <a:ext cx="8350250" cy="1076325"/>
          </a:xfrm>
        </p:spPr>
        <p:txBody>
          <a:bodyPr/>
          <a:lstStyle/>
          <a:p>
            <a:pPr eaLnBrk="1" hangingPunct="1"/>
            <a:r>
              <a:rPr lang="es-AR" altLang="es-AR" sz="3200">
                <a:solidFill>
                  <a:schemeClr val="tx1"/>
                </a:solidFill>
              </a:rPr>
              <a:t>Monopolio: Maximización del Beneficio (II)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EEBBE4-585D-41CB-BBF7-29046468276A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s-ES" altLang="es-AR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8350250" cy="1076325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Monopolio: Maximización del Beneficio (III)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2800" dirty="0"/>
              <a:t>margen de ganancia = ingresos totales menos costos variables </a:t>
            </a:r>
          </a:p>
          <a:p>
            <a:pPr eaLnBrk="1" hangingPunct="1"/>
            <a:r>
              <a:rPr lang="es-AR" altLang="es-AR" sz="2800" dirty="0"/>
              <a:t>escala </a:t>
            </a:r>
            <a:r>
              <a:rPr lang="es-AR" altLang="es-AR" sz="2800" dirty="0" err="1"/>
              <a:t>maximizadora</a:t>
            </a:r>
            <a:r>
              <a:rPr lang="es-AR" altLang="es-AR" sz="2800" dirty="0"/>
              <a:t> de beneficios: vender una unidad adicional no cambia el margen de ganancia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853980-F8B1-4D63-B5BD-BFD5CEC3D4FE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s-ES" altLang="es-AR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96888"/>
            <a:ext cx="8162925" cy="585787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Cambio en la Demanda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1825"/>
            <a:ext cx="8339137" cy="4191000"/>
          </a:xfrm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s-AR" altLang="es-AR" sz="2800" dirty="0"/>
              <a:t>Hallar la </a:t>
            </a:r>
            <a:r>
              <a:rPr lang="es-AR" altLang="es-AR" sz="2800" i="1" dirty="0"/>
              <a:t>nueva</a:t>
            </a:r>
            <a:r>
              <a:rPr lang="es-AR" altLang="es-AR" sz="2800" dirty="0"/>
              <a:t> escala en la cual ingreso marginal = costo marginal </a:t>
            </a:r>
          </a:p>
          <a:p>
            <a:pPr marL="400050" lvl="1" indent="0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s-AR" altLang="es-AR" sz="2400" dirty="0"/>
              <a:t> debería cambiar el precio</a:t>
            </a:r>
          </a:p>
          <a:p>
            <a:pPr lvl="1" indent="-342900"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s-AR" altLang="es-AR" sz="2400" dirty="0"/>
              <a:t>la nueva escala y el nuevo precio dependen tanto de la nueva demanda como de los costos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E01CE4-E51A-4F3F-A01F-B6C9EE33E770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s-ES" altLang="es-AR" sz="1400"/>
          </a:p>
        </p:txBody>
      </p:sp>
      <p:sp>
        <p:nvSpPr>
          <p:cNvPr id="24591" name="Freeform 15"/>
          <p:cNvSpPr>
            <a:spLocks/>
          </p:cNvSpPr>
          <p:nvPr/>
        </p:nvSpPr>
        <p:spPr bwMode="auto">
          <a:xfrm>
            <a:off x="2133600" y="4724400"/>
            <a:ext cx="2209800" cy="685800"/>
          </a:xfrm>
          <a:custGeom>
            <a:avLst/>
            <a:gdLst>
              <a:gd name="T0" fmla="*/ 0 w 1777"/>
              <a:gd name="T1" fmla="*/ 0 h 1057"/>
              <a:gd name="T2" fmla="*/ 2147483646 w 1777"/>
              <a:gd name="T3" fmla="*/ 0 h 1057"/>
              <a:gd name="T4" fmla="*/ 2147483646 w 1777"/>
              <a:gd name="T5" fmla="*/ 2147483646 h 10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77" h="1057">
                <a:moveTo>
                  <a:pt x="0" y="0"/>
                </a:moveTo>
                <a:lnTo>
                  <a:pt x="1776" y="0"/>
                </a:lnTo>
                <a:lnTo>
                  <a:pt x="1776" y="1056"/>
                </a:lnTo>
              </a:path>
            </a:pathLst>
          </a:custGeom>
          <a:noFill/>
          <a:ln w="12700" cap="rnd" cmpd="sng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2133600" y="3200400"/>
            <a:ext cx="6615113" cy="2698750"/>
            <a:chOff x="1344" y="2016"/>
            <a:chExt cx="4167" cy="1700"/>
          </a:xfrm>
        </p:grpSpPr>
        <p:grpSp>
          <p:nvGrpSpPr>
            <p:cNvPr id="3" name="Group 37"/>
            <p:cNvGrpSpPr>
              <a:grpSpLocks/>
            </p:cNvGrpSpPr>
            <p:nvPr/>
          </p:nvGrpSpPr>
          <p:grpSpPr bwMode="auto">
            <a:xfrm>
              <a:off x="1344" y="2016"/>
              <a:ext cx="2732" cy="1532"/>
              <a:chOff x="1344" y="2016"/>
              <a:chExt cx="2732" cy="1532"/>
            </a:xfrm>
          </p:grpSpPr>
          <p:sp>
            <p:nvSpPr>
              <p:cNvPr id="33826" name="Line 16"/>
              <p:cNvSpPr>
                <a:spLocks noChangeShapeType="1"/>
              </p:cNvSpPr>
              <p:nvPr/>
            </p:nvSpPr>
            <p:spPr bwMode="auto">
              <a:xfrm>
                <a:off x="1344" y="2016"/>
                <a:ext cx="2732" cy="110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3827" name="Line 18"/>
              <p:cNvSpPr>
                <a:spLocks noChangeShapeType="1"/>
              </p:cNvSpPr>
              <p:nvPr/>
            </p:nvSpPr>
            <p:spPr bwMode="auto">
              <a:xfrm>
                <a:off x="1344" y="2016"/>
                <a:ext cx="2252" cy="1532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</p:grpSp>
        <p:sp>
          <p:nvSpPr>
            <p:cNvPr id="33824" name="Rectangle 21"/>
            <p:cNvSpPr>
              <a:spLocks noChangeArrowheads="1"/>
            </p:cNvSpPr>
            <p:nvPr/>
          </p:nvSpPr>
          <p:spPr bwMode="auto">
            <a:xfrm>
              <a:off x="4032" y="3120"/>
              <a:ext cx="101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s-AR" sz="1600">
                  <a:latin typeface="Tahoma" panose="020B0604030504040204" pitchFamily="34" charset="0"/>
                </a:rPr>
                <a:t>nueva demanda</a:t>
              </a:r>
            </a:p>
          </p:txBody>
        </p:sp>
        <p:sp>
          <p:nvSpPr>
            <p:cNvPr id="33825" name="Rectangle 25"/>
            <p:cNvSpPr>
              <a:spLocks noChangeArrowheads="1"/>
            </p:cNvSpPr>
            <p:nvPr/>
          </p:nvSpPr>
          <p:spPr bwMode="auto">
            <a:xfrm>
              <a:off x="3600" y="3504"/>
              <a:ext cx="191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s-AR" sz="1600">
                  <a:latin typeface="Tahoma" panose="020B0604030504040204" pitchFamily="34" charset="0"/>
                </a:rPr>
                <a:t>nuevo ingreso marginal</a:t>
              </a:r>
            </a:p>
          </p:txBody>
        </p:sp>
      </p:grpSp>
      <p:sp>
        <p:nvSpPr>
          <p:cNvPr id="24606" name="Rectangle 30"/>
          <p:cNvSpPr>
            <a:spLocks noGrp="1" noChangeArrowheads="1"/>
          </p:cNvSpPr>
          <p:nvPr>
            <p:ph type="title" idx="4294967295"/>
          </p:nvPr>
        </p:nvSpPr>
        <p:spPr>
          <a:xfrm>
            <a:off x="715963" y="571500"/>
            <a:ext cx="8062912" cy="584200"/>
          </a:xfrm>
        </p:spPr>
        <p:txBody>
          <a:bodyPr/>
          <a:lstStyle/>
          <a:p>
            <a:pPr eaLnBrk="1" hangingPunct="1"/>
            <a:r>
              <a:rPr lang="es-AR" altLang="es-AR" sz="3200">
                <a:solidFill>
                  <a:schemeClr val="tx1"/>
                </a:solidFill>
              </a:rPr>
              <a:t>Reducción de la Demanda</a:t>
            </a:r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1368425" y="1730375"/>
            <a:ext cx="6745288" cy="4530725"/>
            <a:chOff x="862" y="1090"/>
            <a:chExt cx="4249" cy="2854"/>
          </a:xfrm>
        </p:grpSpPr>
        <p:sp>
          <p:nvSpPr>
            <p:cNvPr id="33799" name="Line 32"/>
            <p:cNvSpPr>
              <a:spLocks noChangeShapeType="1"/>
            </p:cNvSpPr>
            <p:nvPr/>
          </p:nvSpPr>
          <p:spPr bwMode="auto">
            <a:xfrm>
              <a:off x="1344" y="1824"/>
              <a:ext cx="2252" cy="1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/>
            </a:p>
          </p:txBody>
        </p:sp>
        <p:grpSp>
          <p:nvGrpSpPr>
            <p:cNvPr id="5" name="Group 38"/>
            <p:cNvGrpSpPr>
              <a:grpSpLocks/>
            </p:cNvGrpSpPr>
            <p:nvPr/>
          </p:nvGrpSpPr>
          <p:grpSpPr bwMode="auto">
            <a:xfrm>
              <a:off x="862" y="1090"/>
              <a:ext cx="4249" cy="2854"/>
              <a:chOff x="862" y="1090"/>
              <a:chExt cx="4249" cy="2854"/>
            </a:xfrm>
          </p:grpSpPr>
          <p:sp>
            <p:nvSpPr>
              <p:cNvPr id="33801" name="Line 17"/>
              <p:cNvSpPr>
                <a:spLocks noChangeShapeType="1"/>
              </p:cNvSpPr>
              <p:nvPr/>
            </p:nvSpPr>
            <p:spPr bwMode="auto">
              <a:xfrm>
                <a:off x="1344" y="1814"/>
                <a:ext cx="2636" cy="10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grpSp>
            <p:nvGrpSpPr>
              <p:cNvPr id="6" name="Group 36"/>
              <p:cNvGrpSpPr>
                <a:grpSpLocks/>
              </p:cNvGrpSpPr>
              <p:nvPr/>
            </p:nvGrpSpPr>
            <p:grpSpPr bwMode="auto">
              <a:xfrm>
                <a:off x="862" y="1090"/>
                <a:ext cx="4249" cy="2854"/>
                <a:chOff x="862" y="1090"/>
                <a:chExt cx="4249" cy="2854"/>
              </a:xfrm>
            </p:grpSpPr>
            <p:sp>
              <p:nvSpPr>
                <p:cNvPr id="33803" name="Freeform 33"/>
                <p:cNvSpPr>
                  <a:spLocks/>
                </p:cNvSpPr>
                <p:nvPr/>
              </p:nvSpPr>
              <p:spPr bwMode="auto">
                <a:xfrm>
                  <a:off x="1344" y="2880"/>
                  <a:ext cx="1584" cy="528"/>
                </a:xfrm>
                <a:custGeom>
                  <a:avLst/>
                  <a:gdLst>
                    <a:gd name="T0" fmla="*/ 0 w 1777"/>
                    <a:gd name="T1" fmla="*/ 0 h 1057"/>
                    <a:gd name="T2" fmla="*/ 999 w 1777"/>
                    <a:gd name="T3" fmla="*/ 0 h 1057"/>
                    <a:gd name="T4" fmla="*/ 999 w 1777"/>
                    <a:gd name="T5" fmla="*/ 33 h 105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77" h="1057">
                      <a:moveTo>
                        <a:pt x="0" y="0"/>
                      </a:moveTo>
                      <a:lnTo>
                        <a:pt x="1776" y="0"/>
                      </a:lnTo>
                      <a:lnTo>
                        <a:pt x="1776" y="1056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AR"/>
                </a:p>
              </p:txBody>
            </p:sp>
            <p:grpSp>
              <p:nvGrpSpPr>
                <p:cNvPr id="7" name="Group 35"/>
                <p:cNvGrpSpPr>
                  <a:grpSpLocks/>
                </p:cNvGrpSpPr>
                <p:nvPr/>
              </p:nvGrpSpPr>
              <p:grpSpPr bwMode="auto">
                <a:xfrm>
                  <a:off x="862" y="1090"/>
                  <a:ext cx="4249" cy="2854"/>
                  <a:chOff x="862" y="1090"/>
                  <a:chExt cx="4249" cy="2854"/>
                </a:xfrm>
              </p:grpSpPr>
              <p:sp>
                <p:nvSpPr>
                  <p:cNvPr id="33805" name="Freeform 3"/>
                  <p:cNvSpPr>
                    <a:spLocks/>
                  </p:cNvSpPr>
                  <p:nvPr/>
                </p:nvSpPr>
                <p:spPr bwMode="auto">
                  <a:xfrm>
                    <a:off x="1354" y="1090"/>
                    <a:ext cx="2545" cy="2305"/>
                  </a:xfrm>
                  <a:custGeom>
                    <a:avLst/>
                    <a:gdLst>
                      <a:gd name="T0" fmla="*/ 0 w 2545"/>
                      <a:gd name="T1" fmla="*/ 0 h 2305"/>
                      <a:gd name="T2" fmla="*/ 0 w 2545"/>
                      <a:gd name="T3" fmla="*/ 2304 h 2305"/>
                      <a:gd name="T4" fmla="*/ 2544 w 2545"/>
                      <a:gd name="T5" fmla="*/ 2304 h 230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545" h="2305">
                        <a:moveTo>
                          <a:pt x="0" y="0"/>
                        </a:moveTo>
                        <a:lnTo>
                          <a:pt x="0" y="2304"/>
                        </a:lnTo>
                        <a:lnTo>
                          <a:pt x="2544" y="2304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s-AR"/>
                  </a:p>
                </p:txBody>
              </p:sp>
              <p:sp>
                <p:nvSpPr>
                  <p:cNvPr id="33806" name="Rectangle 4"/>
                  <p:cNvSpPr>
                    <a:spLocks noChangeArrowheads="1"/>
                  </p:cNvSpPr>
                  <p:nvPr/>
                </p:nvSpPr>
                <p:spPr bwMode="auto">
                  <a:xfrm>
                    <a:off x="1248" y="3360"/>
                    <a:ext cx="17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0</a:t>
                    </a:r>
                  </a:p>
                </p:txBody>
              </p:sp>
              <p:sp>
                <p:nvSpPr>
                  <p:cNvPr id="33807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1122" y="2935"/>
                    <a:ext cx="23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50</a:t>
                    </a:r>
                  </a:p>
                </p:txBody>
              </p:sp>
              <p:sp>
                <p:nvSpPr>
                  <p:cNvPr id="33808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2448"/>
                    <a:ext cx="299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100</a:t>
                    </a:r>
                  </a:p>
                </p:txBody>
              </p:sp>
              <p:sp>
                <p:nvSpPr>
                  <p:cNvPr id="33809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1041" y="1924"/>
                    <a:ext cx="362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150</a:t>
                    </a:r>
                  </a:p>
                </p:txBody>
              </p:sp>
              <p:sp>
                <p:nvSpPr>
                  <p:cNvPr id="33810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1728"/>
                    <a:ext cx="299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200</a:t>
                    </a:r>
                  </a:p>
                </p:txBody>
              </p:sp>
              <p:sp>
                <p:nvSpPr>
                  <p:cNvPr id="33811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1296"/>
                    <a:ext cx="299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250</a:t>
                    </a:r>
                  </a:p>
                </p:txBody>
              </p:sp>
              <p:sp>
                <p:nvSpPr>
                  <p:cNvPr id="33812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3408"/>
                    <a:ext cx="2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0.4</a:t>
                    </a:r>
                  </a:p>
                </p:txBody>
              </p:sp>
              <p:sp>
                <p:nvSpPr>
                  <p:cNvPr id="3381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3408"/>
                    <a:ext cx="2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0.8</a:t>
                    </a:r>
                  </a:p>
                </p:txBody>
              </p:sp>
              <p:sp>
                <p:nvSpPr>
                  <p:cNvPr id="33814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2592" y="3408"/>
                    <a:ext cx="468" cy="19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1.0 1.3</a:t>
                    </a:r>
                  </a:p>
                </p:txBody>
              </p:sp>
              <p:sp>
                <p:nvSpPr>
                  <p:cNvPr id="33815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3408"/>
                    <a:ext cx="27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1.6</a:t>
                    </a:r>
                  </a:p>
                </p:txBody>
              </p:sp>
              <p:sp>
                <p:nvSpPr>
                  <p:cNvPr id="33816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408"/>
                    <a:ext cx="177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2</a:t>
                    </a:r>
                  </a:p>
                </p:txBody>
              </p:sp>
              <p:sp>
                <p:nvSpPr>
                  <p:cNvPr id="33817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96" y="2436"/>
                    <a:ext cx="2588" cy="95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s-AR"/>
                  </a:p>
                </p:txBody>
              </p:sp>
              <p:sp>
                <p:nvSpPr>
                  <p:cNvPr id="33818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128" y="2352"/>
                    <a:ext cx="98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600">
                        <a:latin typeface="Tahoma" panose="020B0604030504040204" pitchFamily="34" charset="0"/>
                      </a:rPr>
                      <a:t>costo marginal </a:t>
                    </a:r>
                  </a:p>
                </p:txBody>
              </p:sp>
              <p:sp>
                <p:nvSpPr>
                  <p:cNvPr id="3381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984" y="2736"/>
                    <a:ext cx="1090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600">
                        <a:latin typeface="Tahoma" panose="020B0604030504040204" pitchFamily="34" charset="0"/>
                      </a:rPr>
                      <a:t>demanda original</a:t>
                    </a:r>
                  </a:p>
                </p:txBody>
              </p:sp>
              <p:sp>
                <p:nvSpPr>
                  <p:cNvPr id="33820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00" y="3732"/>
                    <a:ext cx="2398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600">
                        <a:latin typeface="Tahoma" panose="020B0604030504040204" pitchFamily="34" charset="0"/>
                      </a:rPr>
                      <a:t>Cantidad (Millones de unidades por año)</a:t>
                    </a:r>
                  </a:p>
                </p:txBody>
              </p:sp>
              <p:sp>
                <p:nvSpPr>
                  <p:cNvPr id="33821" name="Rectangle 2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11" y="1954"/>
                    <a:ext cx="131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600">
                        <a:latin typeface="Tahoma" panose="020B0604030504040204" pitchFamily="34" charset="0"/>
                      </a:rPr>
                      <a:t>Precio ($ por unidad)</a:t>
                    </a:r>
                  </a:p>
                </p:txBody>
              </p:sp>
              <p:sp>
                <p:nvSpPr>
                  <p:cNvPr id="33822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112" y="2784"/>
                    <a:ext cx="23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75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2"/>
                      </a:buClr>
                      <a:buChar char="•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5000"/>
                      <a:buChar char="•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s-AR" sz="1400">
                        <a:latin typeface="Tahoma" panose="020B0604030504040204" pitchFamily="34" charset="0"/>
                      </a:rPr>
                      <a:t>70</a:t>
                    </a:r>
                  </a:p>
                </p:txBody>
              </p:sp>
            </p:grp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06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BB4B2E-02F1-4446-86C3-53C96E9D417B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s-ES" altLang="es-AR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611188"/>
            <a:ext cx="8162925" cy="585787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200">
                <a:solidFill>
                  <a:schemeClr val="tx1"/>
                </a:solidFill>
              </a:rPr>
              <a:t>Cambio en los Costos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978025"/>
            <a:ext cx="8137525" cy="41148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Hallar la </a:t>
            </a:r>
            <a:r>
              <a:rPr lang="es-AR" altLang="es-AR" sz="2800" i="1" dirty="0"/>
              <a:t>nueva</a:t>
            </a:r>
            <a:r>
              <a:rPr lang="es-AR" altLang="es-AR" sz="2800" dirty="0"/>
              <a:t> escala en la cual ingreso marginal = costo marginal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endParaRPr lang="es-AR" altLang="es-AR" sz="2800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Cambio en </a:t>
            </a:r>
            <a:r>
              <a:rPr lang="es-AR" altLang="es-AR" sz="2400" dirty="0" err="1"/>
              <a:t>CMa</a:t>
            </a:r>
            <a:r>
              <a:rPr lang="es-AR" altLang="es-AR" sz="2400" dirty="0"/>
              <a:t> --&gt; debería cambiar el precio (pero menos que el cambio en </a:t>
            </a:r>
            <a:r>
              <a:rPr lang="es-AR" altLang="es-AR" sz="2400" dirty="0" err="1"/>
              <a:t>CMg</a:t>
            </a:r>
            <a:r>
              <a:rPr lang="es-AR" altLang="es-AR" sz="2400" dirty="0"/>
              <a:t>).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s-AR" altLang="es-AR" sz="2400" dirty="0"/>
              <a:t>	Por qué?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400" dirty="0"/>
              <a:t>Cambio en los costos fijos --&gt; </a:t>
            </a:r>
            <a:r>
              <a:rPr lang="es-AR" altLang="es-AR" sz="2400" i="1" dirty="0"/>
              <a:t>no</a:t>
            </a:r>
            <a:r>
              <a:rPr lang="es-AR" altLang="es-AR" sz="2400" dirty="0"/>
              <a:t> debería cambiar el precio ni la escala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436A20-BAD6-42F8-8234-C8B04EFFC11A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s-ES" altLang="es-AR" sz="1400"/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987425" y="-200025"/>
            <a:ext cx="582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s-ES" altLang="es-AR" sz="2400">
              <a:latin typeface="Tahoma" panose="020B0604030504040204" pitchFamily="34" charset="0"/>
            </a:endParaRPr>
          </a:p>
        </p:txBody>
      </p:sp>
      <p:sp>
        <p:nvSpPr>
          <p:cNvPr id="41988" name="Line 3"/>
          <p:cNvSpPr>
            <a:spLocks noChangeShapeType="1"/>
          </p:cNvSpPr>
          <p:nvPr/>
        </p:nvSpPr>
        <p:spPr bwMode="auto">
          <a:xfrm>
            <a:off x="2073275" y="2041525"/>
            <a:ext cx="0" cy="3803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1989" name="Line 4"/>
          <p:cNvSpPr>
            <a:spLocks noChangeShapeType="1"/>
          </p:cNvSpPr>
          <p:nvPr/>
        </p:nvSpPr>
        <p:spPr bwMode="auto">
          <a:xfrm>
            <a:off x="2079625" y="5235575"/>
            <a:ext cx="4641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1647825" y="4164013"/>
            <a:ext cx="482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70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s-AR" sz="1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50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1571625" y="3606800"/>
            <a:ext cx="569913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125</a:t>
            </a: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1601788" y="3195638"/>
            <a:ext cx="479425" cy="3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135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1676400" y="2133600"/>
            <a:ext cx="474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200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2667000" y="5257800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0.4</a:t>
            </a: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3581400" y="5257800"/>
            <a:ext cx="431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0.8</a:t>
            </a:r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4872038" y="5226050"/>
            <a:ext cx="43656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1.3</a:t>
            </a:r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5649913" y="5226050"/>
            <a:ext cx="43497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1.5</a:t>
            </a:r>
          </a:p>
        </p:txBody>
      </p:sp>
      <p:sp>
        <p:nvSpPr>
          <p:cNvPr id="41998" name="Rectangle 14"/>
          <p:cNvSpPr>
            <a:spLocks noChangeArrowheads="1"/>
          </p:cNvSpPr>
          <p:nvPr/>
        </p:nvSpPr>
        <p:spPr bwMode="auto">
          <a:xfrm>
            <a:off x="6172200" y="52578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41999" name="Freeform 15"/>
          <p:cNvSpPr>
            <a:spLocks/>
          </p:cNvSpPr>
          <p:nvPr/>
        </p:nvSpPr>
        <p:spPr bwMode="auto">
          <a:xfrm>
            <a:off x="2073275" y="3711575"/>
            <a:ext cx="3811588" cy="1525588"/>
          </a:xfrm>
          <a:custGeom>
            <a:avLst/>
            <a:gdLst>
              <a:gd name="T0" fmla="*/ 0 w 2401"/>
              <a:gd name="T1" fmla="*/ 0 h 961"/>
              <a:gd name="T2" fmla="*/ 2147483646 w 2401"/>
              <a:gd name="T3" fmla="*/ 0 h 961"/>
              <a:gd name="T4" fmla="*/ 2147483646 w 2401"/>
              <a:gd name="T5" fmla="*/ 2147483646 h 96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01" h="961">
                <a:moveTo>
                  <a:pt x="0" y="0"/>
                </a:moveTo>
                <a:lnTo>
                  <a:pt x="2400" y="0"/>
                </a:lnTo>
                <a:lnTo>
                  <a:pt x="2400" y="960"/>
                </a:lnTo>
              </a:path>
            </a:pathLst>
          </a:custGeom>
          <a:noFill/>
          <a:ln w="12700" cap="rnd" cmpd="sng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2000" name="Line 16"/>
          <p:cNvSpPr>
            <a:spLocks noChangeShapeType="1"/>
          </p:cNvSpPr>
          <p:nvPr/>
        </p:nvSpPr>
        <p:spPr bwMode="auto">
          <a:xfrm>
            <a:off x="2155825" y="2117725"/>
            <a:ext cx="4489450" cy="189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2001" name="Line 17"/>
          <p:cNvSpPr>
            <a:spLocks noChangeShapeType="1"/>
          </p:cNvSpPr>
          <p:nvPr/>
        </p:nvSpPr>
        <p:spPr bwMode="auto">
          <a:xfrm flipV="1">
            <a:off x="2609850" y="3790950"/>
            <a:ext cx="4108450" cy="1212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2002" name="Line 18"/>
          <p:cNvSpPr>
            <a:spLocks noChangeShapeType="1"/>
          </p:cNvSpPr>
          <p:nvPr/>
        </p:nvSpPr>
        <p:spPr bwMode="auto">
          <a:xfrm>
            <a:off x="2536825" y="2346325"/>
            <a:ext cx="4260850" cy="304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3810000" y="2590800"/>
            <a:ext cx="11318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demanda </a:t>
            </a:r>
            <a:r>
              <a:rPr lang="en-US" altLang="es-AR" sz="14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42004" name="Rectangle 20"/>
          <p:cNvSpPr>
            <a:spLocks noChangeArrowheads="1"/>
          </p:cNvSpPr>
          <p:nvPr/>
        </p:nvSpPr>
        <p:spPr bwMode="auto">
          <a:xfrm>
            <a:off x="3124200" y="5791200"/>
            <a:ext cx="3806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Cantidad (Millones de unidades por año)</a:t>
            </a:r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 rot="-5340000">
            <a:off x="346869" y="3329782"/>
            <a:ext cx="20843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Precio ($ por unidad)</a:t>
            </a:r>
          </a:p>
        </p:txBody>
      </p:sp>
      <p:sp>
        <p:nvSpPr>
          <p:cNvPr id="42006" name="Line 22"/>
          <p:cNvSpPr>
            <a:spLocks noChangeShapeType="1"/>
          </p:cNvSpPr>
          <p:nvPr/>
        </p:nvSpPr>
        <p:spPr bwMode="auto">
          <a:xfrm flipV="1">
            <a:off x="2686050" y="4629150"/>
            <a:ext cx="4032250" cy="4508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42007" name="Rectangle 24"/>
          <p:cNvSpPr>
            <a:spLocks noChangeArrowheads="1"/>
          </p:cNvSpPr>
          <p:nvPr/>
        </p:nvSpPr>
        <p:spPr bwMode="auto">
          <a:xfrm>
            <a:off x="2286000" y="2895600"/>
            <a:ext cx="16748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ingreso marginal</a:t>
            </a:r>
          </a:p>
        </p:txBody>
      </p:sp>
      <p:sp>
        <p:nvSpPr>
          <p:cNvPr id="42008" name="Rectangle 25"/>
          <p:cNvSpPr>
            <a:spLocks noChangeArrowheads="1"/>
          </p:cNvSpPr>
          <p:nvPr/>
        </p:nvSpPr>
        <p:spPr bwMode="auto">
          <a:xfrm>
            <a:off x="6400800" y="3429000"/>
            <a:ext cx="22145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costo marginal original</a:t>
            </a:r>
          </a:p>
        </p:txBody>
      </p:sp>
      <p:sp>
        <p:nvSpPr>
          <p:cNvPr id="42009" name="Rectangle 26"/>
          <p:cNvSpPr>
            <a:spLocks noChangeArrowheads="1"/>
          </p:cNvSpPr>
          <p:nvPr/>
        </p:nvSpPr>
        <p:spPr bwMode="auto">
          <a:xfrm>
            <a:off x="6477000" y="4267200"/>
            <a:ext cx="2105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nuevo costo marginal</a:t>
            </a:r>
          </a:p>
        </p:txBody>
      </p:sp>
      <p:sp>
        <p:nvSpPr>
          <p:cNvPr id="42010" name="Rectangle 28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565150"/>
            <a:ext cx="8162925" cy="585788"/>
          </a:xfrm>
        </p:spPr>
        <p:txBody>
          <a:bodyPr/>
          <a:lstStyle/>
          <a:p>
            <a:pPr eaLnBrk="1" hangingPunct="1"/>
            <a:r>
              <a:rPr lang="es-AR" altLang="es-AR" sz="3200">
                <a:solidFill>
                  <a:schemeClr val="tx1"/>
                </a:solidFill>
              </a:rPr>
              <a:t>Reducción en el Costo Marginal</a:t>
            </a:r>
            <a:endParaRPr lang="es-AR" altLang="es-AR" sz="3200"/>
          </a:p>
        </p:txBody>
      </p:sp>
      <p:sp>
        <p:nvSpPr>
          <p:cNvPr id="42011" name="Line 29"/>
          <p:cNvSpPr>
            <a:spLocks noChangeShapeType="1"/>
          </p:cNvSpPr>
          <p:nvPr/>
        </p:nvSpPr>
        <p:spPr bwMode="auto">
          <a:xfrm>
            <a:off x="5181600" y="3429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42012" name="Line 30"/>
          <p:cNvSpPr>
            <a:spLocks noChangeShapeType="1"/>
          </p:cNvSpPr>
          <p:nvPr/>
        </p:nvSpPr>
        <p:spPr bwMode="auto">
          <a:xfrm flipH="1">
            <a:off x="2057400" y="3429000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F4C162-AFA3-4CD0-AEE5-2A6C36AD3767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s-ES" altLang="es-AR" sz="14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69888"/>
            <a:ext cx="8162925" cy="1076325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Maximización de beneficios: elección de precios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1825"/>
            <a:ext cx="8339137" cy="41910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/>
            <a:r>
              <a:rPr lang="es-AR" altLang="es-AR" sz="2800" dirty="0" err="1"/>
              <a:t>IMg</a:t>
            </a:r>
            <a:r>
              <a:rPr lang="es-AR" altLang="es-AR" sz="2800" dirty="0"/>
              <a:t> = </a:t>
            </a:r>
            <a:r>
              <a:rPr lang="es-AR" altLang="es-AR" sz="2800" dirty="0" err="1"/>
              <a:t>CMg</a:t>
            </a:r>
            <a:endParaRPr lang="es-AR" altLang="es-AR" sz="2800" dirty="0"/>
          </a:p>
          <a:p>
            <a:pPr eaLnBrk="1" hangingPunct="1"/>
            <a:r>
              <a:rPr lang="es-AR" altLang="es-AR" sz="2800" dirty="0"/>
              <a:t>Alternativamente, se fija el </a:t>
            </a:r>
            <a:r>
              <a:rPr lang="es-AR" altLang="es-AR" sz="2800" dirty="0" err="1"/>
              <a:t>mark</a:t>
            </a:r>
            <a:r>
              <a:rPr lang="es-AR" altLang="es-AR" sz="2800" dirty="0"/>
              <a:t>-up igual a la inversa del valor absoluto de la elasticidad precio de la demanda</a:t>
            </a: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s-AR" altLang="es-AR" dirty="0"/>
              <a:t>(precio - </a:t>
            </a:r>
            <a:r>
              <a:rPr lang="es-AR" altLang="es-AR" dirty="0" err="1"/>
              <a:t>CMg</a:t>
            </a:r>
            <a:r>
              <a:rPr lang="es-AR" altLang="es-AR" dirty="0"/>
              <a:t>) / precio = 1/</a:t>
            </a:r>
            <a:r>
              <a:rPr lang="es-AR" altLang="es-AR" sz="3200" dirty="0">
                <a:latin typeface="Symbol" panose="05050102010706020507" pitchFamily="18" charset="2"/>
              </a:rPr>
              <a:t>h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6DFD03-4730-4B54-8BF8-A015907CFB54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s-ES" altLang="es-AR" sz="14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84200"/>
            <a:ext cx="8350250" cy="6477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Elasticidad precio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Siempre se fija el precio de manera que la demanda sea elástica. Por qué?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s-AR" altLang="es-AR" sz="2800" dirty="0"/>
              <a:t>A mayor elasticidad-precio de la demanda, se reduce el margen incremental de ganancia (</a:t>
            </a:r>
            <a:r>
              <a:rPr lang="es-AR" altLang="es-AR" sz="2800" dirty="0" err="1"/>
              <a:t>MkUp</a:t>
            </a:r>
            <a:r>
              <a:rPr lang="es-AR" altLang="es-AR" sz="2800" dirty="0"/>
              <a:t>) </a:t>
            </a:r>
          </a:p>
          <a:p>
            <a:pPr algn="ctr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s-AR" altLang="es-AR" dirty="0">
                <a:latin typeface="Symbol" panose="05050102010706020507" pitchFamily="18" charset="2"/>
              </a:rPr>
              <a:t>h</a:t>
            </a:r>
            <a:r>
              <a:rPr lang="es-AR" altLang="es-AR" dirty="0"/>
              <a:t> = 2 </a:t>
            </a:r>
            <a:r>
              <a:rPr lang="es-AR" altLang="es-AR" dirty="0">
                <a:sym typeface="Wingdings" panose="05000000000000000000" pitchFamily="2" charset="2"/>
              </a:rPr>
              <a:t></a:t>
            </a:r>
            <a:r>
              <a:rPr lang="es-AR" altLang="es-AR" dirty="0"/>
              <a:t> </a:t>
            </a:r>
            <a:r>
              <a:rPr lang="es-AR" altLang="es-AR" dirty="0" err="1"/>
              <a:t>Markup</a:t>
            </a:r>
            <a:r>
              <a:rPr lang="es-AR" altLang="es-AR" dirty="0"/>
              <a:t> = 1/2</a:t>
            </a:r>
          </a:p>
          <a:p>
            <a:pPr algn="ctr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s-AR" altLang="es-AR" dirty="0">
                <a:latin typeface="Mathematica1" panose="05000502060100000001" pitchFamily="2" charset="2"/>
              </a:rPr>
              <a:t> </a:t>
            </a:r>
            <a:r>
              <a:rPr lang="es-AR" altLang="es-AR" dirty="0">
                <a:latin typeface="Symbol" panose="05050102010706020507" pitchFamily="18" charset="2"/>
              </a:rPr>
              <a:t>h</a:t>
            </a:r>
            <a:r>
              <a:rPr lang="es-AR" altLang="es-AR" dirty="0"/>
              <a:t> = 3 </a:t>
            </a:r>
            <a:r>
              <a:rPr lang="es-AR" altLang="es-AR" dirty="0">
                <a:sym typeface="Wingdings" panose="05000000000000000000" pitchFamily="2" charset="2"/>
              </a:rPr>
              <a:t></a:t>
            </a:r>
            <a:r>
              <a:rPr lang="es-AR" altLang="es-AR" dirty="0"/>
              <a:t> </a:t>
            </a:r>
            <a:r>
              <a:rPr lang="es-AR" altLang="es-AR" dirty="0" err="1"/>
              <a:t>Markup</a:t>
            </a:r>
            <a:r>
              <a:rPr lang="es-AR" altLang="es-AR" dirty="0"/>
              <a:t> = 1/3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2F08DB-B419-4748-BD14-50B629BE5E1F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s-ES" altLang="es-AR" sz="1400"/>
          </a:p>
        </p:txBody>
      </p:sp>
      <p:sp>
        <p:nvSpPr>
          <p:cNvPr id="68611" name="Rectangle 2"/>
          <p:cNvSpPr>
            <a:spLocks noChangeArrowheads="1"/>
          </p:cNvSpPr>
          <p:nvPr/>
        </p:nvSpPr>
        <p:spPr bwMode="auto">
          <a:xfrm>
            <a:off x="1216025" y="-581025"/>
            <a:ext cx="582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s-ES" altLang="es-AR" sz="2400">
              <a:latin typeface="Tahoma" panose="020B0604030504040204" pitchFamily="34" charset="0"/>
            </a:endParaRPr>
          </a:p>
        </p:txBody>
      </p:sp>
      <p:sp>
        <p:nvSpPr>
          <p:cNvPr id="68612" name="Freeform 3"/>
          <p:cNvSpPr>
            <a:spLocks/>
          </p:cNvSpPr>
          <p:nvPr/>
        </p:nvSpPr>
        <p:spPr bwMode="auto">
          <a:xfrm>
            <a:off x="1920875" y="2187575"/>
            <a:ext cx="1754188" cy="2897188"/>
          </a:xfrm>
          <a:custGeom>
            <a:avLst/>
            <a:gdLst>
              <a:gd name="T0" fmla="*/ 0 w 1105"/>
              <a:gd name="T1" fmla="*/ 0 h 1825"/>
              <a:gd name="T2" fmla="*/ 0 w 1105"/>
              <a:gd name="T3" fmla="*/ 2147483646 h 1825"/>
              <a:gd name="T4" fmla="*/ 2147483646 w 1105"/>
              <a:gd name="T5" fmla="*/ 2147483646 h 18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5" h="1825">
                <a:moveTo>
                  <a:pt x="0" y="0"/>
                </a:moveTo>
                <a:lnTo>
                  <a:pt x="0" y="1824"/>
                </a:lnTo>
                <a:lnTo>
                  <a:pt x="1104" y="1824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13" name="Rectangle 4"/>
          <p:cNvSpPr>
            <a:spLocks noChangeArrowheads="1"/>
          </p:cNvSpPr>
          <p:nvPr/>
        </p:nvSpPr>
        <p:spPr bwMode="auto">
          <a:xfrm>
            <a:off x="1752600" y="51054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68614" name="Rectangle 5"/>
          <p:cNvSpPr>
            <a:spLocks noChangeArrowheads="1"/>
          </p:cNvSpPr>
          <p:nvPr/>
        </p:nvSpPr>
        <p:spPr bwMode="auto">
          <a:xfrm>
            <a:off x="1600200" y="38862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30</a:t>
            </a:r>
          </a:p>
        </p:txBody>
      </p:sp>
      <p:sp>
        <p:nvSpPr>
          <p:cNvPr id="68615" name="Rectangle 6"/>
          <p:cNvSpPr>
            <a:spLocks noChangeArrowheads="1"/>
          </p:cNvSpPr>
          <p:nvPr/>
        </p:nvSpPr>
        <p:spPr bwMode="auto">
          <a:xfrm>
            <a:off x="3276600" y="5105400"/>
            <a:ext cx="474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300</a:t>
            </a:r>
          </a:p>
        </p:txBody>
      </p:sp>
      <p:sp>
        <p:nvSpPr>
          <p:cNvPr id="68616" name="Rectangle 7"/>
          <p:cNvSpPr>
            <a:spLocks noChangeArrowheads="1"/>
          </p:cNvSpPr>
          <p:nvPr/>
        </p:nvSpPr>
        <p:spPr bwMode="auto">
          <a:xfrm>
            <a:off x="1104900" y="5715000"/>
            <a:ext cx="33575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Cantidad (Millones de unidades por año)</a:t>
            </a:r>
          </a:p>
        </p:txBody>
      </p:sp>
      <p:sp>
        <p:nvSpPr>
          <p:cNvPr id="68617" name="Rectangle 8"/>
          <p:cNvSpPr>
            <a:spLocks noChangeArrowheads="1"/>
          </p:cNvSpPr>
          <p:nvPr/>
        </p:nvSpPr>
        <p:spPr bwMode="auto">
          <a:xfrm rot="-5400000">
            <a:off x="150812" y="3349626"/>
            <a:ext cx="2466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Precio (Centavos por unidad)</a:t>
            </a:r>
          </a:p>
        </p:txBody>
      </p:sp>
      <p:sp>
        <p:nvSpPr>
          <p:cNvPr id="68618" name="Freeform 9"/>
          <p:cNvSpPr>
            <a:spLocks/>
          </p:cNvSpPr>
          <p:nvPr/>
        </p:nvSpPr>
        <p:spPr bwMode="auto">
          <a:xfrm>
            <a:off x="5197475" y="2187575"/>
            <a:ext cx="1754188" cy="2897188"/>
          </a:xfrm>
          <a:custGeom>
            <a:avLst/>
            <a:gdLst>
              <a:gd name="T0" fmla="*/ 0 w 1105"/>
              <a:gd name="T1" fmla="*/ 0 h 1825"/>
              <a:gd name="T2" fmla="*/ 0 w 1105"/>
              <a:gd name="T3" fmla="*/ 2147483646 h 1825"/>
              <a:gd name="T4" fmla="*/ 2147483646 w 1105"/>
              <a:gd name="T5" fmla="*/ 2147483646 h 18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5" h="1825">
                <a:moveTo>
                  <a:pt x="0" y="0"/>
                </a:moveTo>
                <a:lnTo>
                  <a:pt x="0" y="1824"/>
                </a:lnTo>
                <a:lnTo>
                  <a:pt x="1104" y="1824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19" name="Rectangle 10"/>
          <p:cNvSpPr>
            <a:spLocks noChangeArrowheads="1"/>
          </p:cNvSpPr>
          <p:nvPr/>
        </p:nvSpPr>
        <p:spPr bwMode="auto">
          <a:xfrm>
            <a:off x="5029200" y="51054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68620" name="Rectangle 11"/>
          <p:cNvSpPr>
            <a:spLocks noChangeArrowheads="1"/>
          </p:cNvSpPr>
          <p:nvPr/>
        </p:nvSpPr>
        <p:spPr bwMode="auto">
          <a:xfrm>
            <a:off x="4876800" y="38862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30</a:t>
            </a:r>
          </a:p>
        </p:txBody>
      </p:sp>
      <p:sp>
        <p:nvSpPr>
          <p:cNvPr id="68621" name="Rectangle 12"/>
          <p:cNvSpPr>
            <a:spLocks noChangeArrowheads="1"/>
          </p:cNvSpPr>
          <p:nvPr/>
        </p:nvSpPr>
        <p:spPr bwMode="auto">
          <a:xfrm>
            <a:off x="4857750" y="5715000"/>
            <a:ext cx="33575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Cantidad (Millones de unidades por año)</a:t>
            </a:r>
          </a:p>
        </p:txBody>
      </p:sp>
      <p:sp>
        <p:nvSpPr>
          <p:cNvPr id="68622" name="Line 14"/>
          <p:cNvSpPr>
            <a:spLocks noChangeShapeType="1"/>
          </p:cNvSpPr>
          <p:nvPr/>
        </p:nvSpPr>
        <p:spPr bwMode="auto">
          <a:xfrm>
            <a:off x="1927225" y="4016375"/>
            <a:ext cx="174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23" name="Line 15"/>
          <p:cNvSpPr>
            <a:spLocks noChangeShapeType="1"/>
          </p:cNvSpPr>
          <p:nvPr/>
        </p:nvSpPr>
        <p:spPr bwMode="auto">
          <a:xfrm flipV="1">
            <a:off x="3444875" y="4019550"/>
            <a:ext cx="0" cy="1060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24" name="Line 16"/>
          <p:cNvSpPr>
            <a:spLocks noChangeShapeType="1"/>
          </p:cNvSpPr>
          <p:nvPr/>
        </p:nvSpPr>
        <p:spPr bwMode="auto">
          <a:xfrm>
            <a:off x="1927225" y="2346325"/>
            <a:ext cx="1746250" cy="189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2133600" y="3962400"/>
            <a:ext cx="7143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oferta</a:t>
            </a:r>
          </a:p>
        </p:txBody>
      </p:sp>
      <p:sp>
        <p:nvSpPr>
          <p:cNvPr id="68626" name="Rectangle 18"/>
          <p:cNvSpPr>
            <a:spLocks noChangeArrowheads="1"/>
          </p:cNvSpPr>
          <p:nvPr/>
        </p:nvSpPr>
        <p:spPr bwMode="auto">
          <a:xfrm>
            <a:off x="2514600" y="2895600"/>
            <a:ext cx="1012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demanda</a:t>
            </a:r>
          </a:p>
        </p:txBody>
      </p:sp>
      <p:sp>
        <p:nvSpPr>
          <p:cNvPr id="68627" name="Rectangle 19"/>
          <p:cNvSpPr>
            <a:spLocks noChangeArrowheads="1"/>
          </p:cNvSpPr>
          <p:nvPr/>
        </p:nvSpPr>
        <p:spPr bwMode="auto">
          <a:xfrm>
            <a:off x="5715000" y="5105400"/>
            <a:ext cx="474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150</a:t>
            </a:r>
          </a:p>
        </p:txBody>
      </p:sp>
      <p:sp>
        <p:nvSpPr>
          <p:cNvPr id="68628" name="Rectangle 20"/>
          <p:cNvSpPr>
            <a:spLocks noChangeArrowheads="1"/>
          </p:cNvSpPr>
          <p:nvPr/>
        </p:nvSpPr>
        <p:spPr bwMode="auto">
          <a:xfrm>
            <a:off x="4876800" y="28956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60</a:t>
            </a:r>
          </a:p>
        </p:txBody>
      </p:sp>
      <p:sp>
        <p:nvSpPr>
          <p:cNvPr id="68629" name="Freeform 21"/>
          <p:cNvSpPr>
            <a:spLocks/>
          </p:cNvSpPr>
          <p:nvPr/>
        </p:nvSpPr>
        <p:spPr bwMode="auto">
          <a:xfrm>
            <a:off x="5197475" y="3025775"/>
            <a:ext cx="763588" cy="2058988"/>
          </a:xfrm>
          <a:custGeom>
            <a:avLst/>
            <a:gdLst>
              <a:gd name="T0" fmla="*/ 0 w 481"/>
              <a:gd name="T1" fmla="*/ 0 h 1297"/>
              <a:gd name="T2" fmla="*/ 2147483646 w 481"/>
              <a:gd name="T3" fmla="*/ 0 h 1297"/>
              <a:gd name="T4" fmla="*/ 2147483646 w 481"/>
              <a:gd name="T5" fmla="*/ 2147483646 h 12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1" h="1297">
                <a:moveTo>
                  <a:pt x="0" y="0"/>
                </a:moveTo>
                <a:lnTo>
                  <a:pt x="480" y="0"/>
                </a:lnTo>
                <a:lnTo>
                  <a:pt x="480" y="129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30" name="Line 22"/>
          <p:cNvSpPr>
            <a:spLocks noChangeShapeType="1"/>
          </p:cNvSpPr>
          <p:nvPr/>
        </p:nvSpPr>
        <p:spPr bwMode="auto">
          <a:xfrm>
            <a:off x="5181600" y="40386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31" name="Line 23"/>
          <p:cNvSpPr>
            <a:spLocks noChangeShapeType="1"/>
          </p:cNvSpPr>
          <p:nvPr/>
        </p:nvSpPr>
        <p:spPr bwMode="auto">
          <a:xfrm>
            <a:off x="5203825" y="2270125"/>
            <a:ext cx="1822450" cy="182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32" name="Line 24"/>
          <p:cNvSpPr>
            <a:spLocks noChangeShapeType="1"/>
          </p:cNvSpPr>
          <p:nvPr/>
        </p:nvSpPr>
        <p:spPr bwMode="auto">
          <a:xfrm>
            <a:off x="5203825" y="2346325"/>
            <a:ext cx="984250" cy="2203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8633" name="Rectangle 25"/>
          <p:cNvSpPr>
            <a:spLocks noChangeArrowheads="1"/>
          </p:cNvSpPr>
          <p:nvPr/>
        </p:nvSpPr>
        <p:spPr bwMode="auto">
          <a:xfrm>
            <a:off x="6096000" y="4572000"/>
            <a:ext cx="16748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ingreso marginal</a:t>
            </a:r>
          </a:p>
        </p:txBody>
      </p:sp>
      <p:sp>
        <p:nvSpPr>
          <p:cNvPr id="68634" name="Rectangle 26"/>
          <p:cNvSpPr>
            <a:spLocks noChangeArrowheads="1"/>
          </p:cNvSpPr>
          <p:nvPr/>
        </p:nvSpPr>
        <p:spPr bwMode="auto">
          <a:xfrm>
            <a:off x="7162800" y="3733800"/>
            <a:ext cx="1552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costo marginal</a:t>
            </a:r>
            <a:r>
              <a:rPr lang="en-US" altLang="es-AR" sz="14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8635" name="Rectangle 27"/>
          <p:cNvSpPr>
            <a:spLocks noChangeArrowheads="1"/>
          </p:cNvSpPr>
          <p:nvPr/>
        </p:nvSpPr>
        <p:spPr bwMode="auto">
          <a:xfrm>
            <a:off x="5486400" y="2362200"/>
            <a:ext cx="1012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demanda</a:t>
            </a:r>
          </a:p>
        </p:txBody>
      </p:sp>
      <p:sp>
        <p:nvSpPr>
          <p:cNvPr id="68636" name="Rectangle 28"/>
          <p:cNvSpPr>
            <a:spLocks noChangeArrowheads="1"/>
          </p:cNvSpPr>
          <p:nvPr/>
        </p:nvSpPr>
        <p:spPr bwMode="auto">
          <a:xfrm>
            <a:off x="1828800" y="1752600"/>
            <a:ext cx="19685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 b="1">
                <a:latin typeface="Tahoma" panose="020B0604030504040204" pitchFamily="34" charset="0"/>
              </a:rPr>
              <a:t>(a) Competencia Perfecta</a:t>
            </a:r>
          </a:p>
        </p:txBody>
      </p:sp>
      <p:sp>
        <p:nvSpPr>
          <p:cNvPr id="68637" name="Rectangle 29"/>
          <p:cNvSpPr>
            <a:spLocks noChangeArrowheads="1"/>
          </p:cNvSpPr>
          <p:nvPr/>
        </p:nvSpPr>
        <p:spPr bwMode="auto">
          <a:xfrm>
            <a:off x="5257800" y="1828800"/>
            <a:ext cx="2079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 b="1">
                <a:latin typeface="Tahoma" panose="020B0604030504040204" pitchFamily="34" charset="0"/>
              </a:rPr>
              <a:t>(b) Monopolio</a:t>
            </a:r>
          </a:p>
        </p:txBody>
      </p:sp>
      <p:sp>
        <p:nvSpPr>
          <p:cNvPr id="68638" name="Rectangle 31"/>
          <p:cNvSpPr>
            <a:spLocks noGrp="1" noChangeArrowheads="1"/>
          </p:cNvSpPr>
          <p:nvPr>
            <p:ph type="title" idx="4294967295"/>
          </p:nvPr>
        </p:nvSpPr>
        <p:spPr>
          <a:xfrm>
            <a:off x="682625" y="438150"/>
            <a:ext cx="8350250" cy="1076325"/>
          </a:xfrm>
        </p:spPr>
        <p:txBody>
          <a:bodyPr/>
          <a:lstStyle/>
          <a:p>
            <a:pPr eaLnBrk="1" hangingPunct="1"/>
            <a:r>
              <a:rPr lang="es-AR" altLang="es-AR" sz="3200">
                <a:solidFill>
                  <a:schemeClr val="tx1"/>
                </a:solidFill>
              </a:rPr>
              <a:t>Estructura de Mercado, Monopolio vs Competencia</a:t>
            </a:r>
            <a:endParaRPr lang="es-AR" altLang="es-AR" sz="3200"/>
          </a:p>
        </p:txBody>
      </p:sp>
      <p:sp>
        <p:nvSpPr>
          <p:cNvPr id="68639" name="Rectangle 32"/>
          <p:cNvSpPr>
            <a:spLocks noChangeArrowheads="1"/>
          </p:cNvSpPr>
          <p:nvPr/>
        </p:nvSpPr>
        <p:spPr bwMode="auto">
          <a:xfrm rot="-5400000">
            <a:off x="3402012" y="3357563"/>
            <a:ext cx="2466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Precio (Centavos por unidad)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51CC29-AA00-4B2E-BF70-48C23D7DB348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s-ES" altLang="es-AR" sz="1400"/>
          </a:p>
        </p:txBody>
      </p:sp>
      <p:sp>
        <p:nvSpPr>
          <p:cNvPr id="7065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8162925" cy="585788"/>
          </a:xfrm>
        </p:spPr>
        <p:txBody>
          <a:bodyPr/>
          <a:lstStyle/>
          <a:p>
            <a:pPr eaLnBrk="1" hangingPunct="1"/>
            <a:r>
              <a:rPr lang="es-AR" altLang="es-AR" sz="3200">
                <a:solidFill>
                  <a:schemeClr val="tx1"/>
                </a:solidFill>
              </a:rPr>
              <a:t>Estructura de Mercado (II)</a:t>
            </a:r>
            <a:endParaRPr lang="es-AR" altLang="es-AR" sz="3200"/>
          </a:p>
        </p:txBody>
      </p:sp>
      <p:sp>
        <p:nvSpPr>
          <p:cNvPr id="7066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4213" y="1901825"/>
            <a:ext cx="8339137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 sz="2800" dirty="0"/>
              <a:t>En relación a un mercado competitivo, el monopolio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 fija precios mayores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 produce menos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 dirty="0"/>
              <a:t> gana mayores beneficios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s-AR" altLang="es-AR" sz="2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E7156F-E5A7-44BA-864E-1B298AE83297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s-ES" altLang="es-AR" sz="1400"/>
          </a:p>
        </p:txBody>
      </p:sp>
      <p:sp>
        <p:nvSpPr>
          <p:cNvPr id="72707" name="Rectangle 2"/>
          <p:cNvSpPr>
            <a:spLocks noChangeArrowheads="1"/>
          </p:cNvSpPr>
          <p:nvPr/>
        </p:nvSpPr>
        <p:spPr bwMode="auto">
          <a:xfrm>
            <a:off x="1216025" y="-581025"/>
            <a:ext cx="582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s-ES" altLang="es-AR" sz="2400">
              <a:latin typeface="Tahoma" panose="020B0604030504040204" pitchFamily="34" charset="0"/>
            </a:endParaRPr>
          </a:p>
        </p:txBody>
      </p:sp>
      <p:sp>
        <p:nvSpPr>
          <p:cNvPr id="72708" name="Freeform 3"/>
          <p:cNvSpPr>
            <a:spLocks/>
          </p:cNvSpPr>
          <p:nvPr/>
        </p:nvSpPr>
        <p:spPr bwMode="auto">
          <a:xfrm>
            <a:off x="1920875" y="2187575"/>
            <a:ext cx="1754188" cy="2897188"/>
          </a:xfrm>
          <a:custGeom>
            <a:avLst/>
            <a:gdLst>
              <a:gd name="T0" fmla="*/ 0 w 1105"/>
              <a:gd name="T1" fmla="*/ 0 h 1825"/>
              <a:gd name="T2" fmla="*/ 0 w 1105"/>
              <a:gd name="T3" fmla="*/ 2147483646 h 1825"/>
              <a:gd name="T4" fmla="*/ 2147483646 w 1105"/>
              <a:gd name="T5" fmla="*/ 2147483646 h 18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5" h="1825">
                <a:moveTo>
                  <a:pt x="0" y="0"/>
                </a:moveTo>
                <a:lnTo>
                  <a:pt x="0" y="1824"/>
                </a:lnTo>
                <a:lnTo>
                  <a:pt x="1104" y="1824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09" name="Rectangle 4"/>
          <p:cNvSpPr>
            <a:spLocks noChangeArrowheads="1"/>
          </p:cNvSpPr>
          <p:nvPr/>
        </p:nvSpPr>
        <p:spPr bwMode="auto">
          <a:xfrm>
            <a:off x="1752600" y="51054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72710" name="Rectangle 5"/>
          <p:cNvSpPr>
            <a:spLocks noChangeArrowheads="1"/>
          </p:cNvSpPr>
          <p:nvPr/>
        </p:nvSpPr>
        <p:spPr bwMode="auto">
          <a:xfrm>
            <a:off x="1600200" y="38862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30</a:t>
            </a:r>
          </a:p>
        </p:txBody>
      </p:sp>
      <p:sp>
        <p:nvSpPr>
          <p:cNvPr id="72711" name="Rectangle 6"/>
          <p:cNvSpPr>
            <a:spLocks noChangeArrowheads="1"/>
          </p:cNvSpPr>
          <p:nvPr/>
        </p:nvSpPr>
        <p:spPr bwMode="auto">
          <a:xfrm>
            <a:off x="3276600" y="5105400"/>
            <a:ext cx="474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300</a:t>
            </a:r>
          </a:p>
        </p:txBody>
      </p:sp>
      <p:sp>
        <p:nvSpPr>
          <p:cNvPr id="72712" name="Rectangle 7"/>
          <p:cNvSpPr>
            <a:spLocks noChangeArrowheads="1"/>
          </p:cNvSpPr>
          <p:nvPr/>
        </p:nvSpPr>
        <p:spPr bwMode="auto">
          <a:xfrm>
            <a:off x="2249488" y="5715000"/>
            <a:ext cx="8826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Cantidad</a:t>
            </a:r>
          </a:p>
        </p:txBody>
      </p:sp>
      <p:sp>
        <p:nvSpPr>
          <p:cNvPr id="72713" name="Rectangle 8"/>
          <p:cNvSpPr>
            <a:spLocks noChangeArrowheads="1"/>
          </p:cNvSpPr>
          <p:nvPr/>
        </p:nvSpPr>
        <p:spPr bwMode="auto">
          <a:xfrm rot="-5400000">
            <a:off x="604838" y="3348038"/>
            <a:ext cx="15589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Precio ($/unidad)</a:t>
            </a:r>
          </a:p>
        </p:txBody>
      </p:sp>
      <p:sp>
        <p:nvSpPr>
          <p:cNvPr id="72714" name="Freeform 9"/>
          <p:cNvSpPr>
            <a:spLocks/>
          </p:cNvSpPr>
          <p:nvPr/>
        </p:nvSpPr>
        <p:spPr bwMode="auto">
          <a:xfrm>
            <a:off x="5197475" y="2187575"/>
            <a:ext cx="1754188" cy="2897188"/>
          </a:xfrm>
          <a:custGeom>
            <a:avLst/>
            <a:gdLst>
              <a:gd name="T0" fmla="*/ 0 w 1105"/>
              <a:gd name="T1" fmla="*/ 0 h 1825"/>
              <a:gd name="T2" fmla="*/ 0 w 1105"/>
              <a:gd name="T3" fmla="*/ 2147483646 h 1825"/>
              <a:gd name="T4" fmla="*/ 2147483646 w 1105"/>
              <a:gd name="T5" fmla="*/ 2147483646 h 18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5" h="1825">
                <a:moveTo>
                  <a:pt x="0" y="0"/>
                </a:moveTo>
                <a:lnTo>
                  <a:pt x="0" y="1824"/>
                </a:lnTo>
                <a:lnTo>
                  <a:pt x="1104" y="1824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15" name="Rectangle 10"/>
          <p:cNvSpPr>
            <a:spLocks noChangeArrowheads="1"/>
          </p:cNvSpPr>
          <p:nvPr/>
        </p:nvSpPr>
        <p:spPr bwMode="auto">
          <a:xfrm>
            <a:off x="5029200" y="5105400"/>
            <a:ext cx="280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72716" name="Rectangle 11"/>
          <p:cNvSpPr>
            <a:spLocks noChangeArrowheads="1"/>
          </p:cNvSpPr>
          <p:nvPr/>
        </p:nvSpPr>
        <p:spPr bwMode="auto">
          <a:xfrm>
            <a:off x="4876800" y="38862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30</a:t>
            </a:r>
          </a:p>
        </p:txBody>
      </p:sp>
      <p:sp>
        <p:nvSpPr>
          <p:cNvPr id="72717" name="Rectangle 12"/>
          <p:cNvSpPr>
            <a:spLocks noChangeArrowheads="1"/>
          </p:cNvSpPr>
          <p:nvPr/>
        </p:nvSpPr>
        <p:spPr bwMode="auto">
          <a:xfrm>
            <a:off x="5562600" y="5715000"/>
            <a:ext cx="88106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Cantidad</a:t>
            </a:r>
          </a:p>
        </p:txBody>
      </p:sp>
      <p:sp>
        <p:nvSpPr>
          <p:cNvPr id="72718" name="Line 13"/>
          <p:cNvSpPr>
            <a:spLocks noChangeShapeType="1"/>
          </p:cNvSpPr>
          <p:nvPr/>
        </p:nvSpPr>
        <p:spPr bwMode="auto">
          <a:xfrm>
            <a:off x="1927225" y="4016375"/>
            <a:ext cx="174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19" name="Line 14"/>
          <p:cNvSpPr>
            <a:spLocks noChangeShapeType="1"/>
          </p:cNvSpPr>
          <p:nvPr/>
        </p:nvSpPr>
        <p:spPr bwMode="auto">
          <a:xfrm flipV="1">
            <a:off x="3444875" y="4019550"/>
            <a:ext cx="0" cy="1060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20" name="Line 15"/>
          <p:cNvSpPr>
            <a:spLocks noChangeShapeType="1"/>
          </p:cNvSpPr>
          <p:nvPr/>
        </p:nvSpPr>
        <p:spPr bwMode="auto">
          <a:xfrm>
            <a:off x="1927225" y="2346325"/>
            <a:ext cx="1746250" cy="189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21" name="Rectangle 16"/>
          <p:cNvSpPr>
            <a:spLocks noChangeArrowheads="1"/>
          </p:cNvSpPr>
          <p:nvPr/>
        </p:nvSpPr>
        <p:spPr bwMode="auto">
          <a:xfrm>
            <a:off x="2133600" y="3962400"/>
            <a:ext cx="7143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oferta</a:t>
            </a:r>
          </a:p>
        </p:txBody>
      </p:sp>
      <p:sp>
        <p:nvSpPr>
          <p:cNvPr id="72722" name="Rectangle 17"/>
          <p:cNvSpPr>
            <a:spLocks noChangeArrowheads="1"/>
          </p:cNvSpPr>
          <p:nvPr/>
        </p:nvSpPr>
        <p:spPr bwMode="auto">
          <a:xfrm>
            <a:off x="2514600" y="2895600"/>
            <a:ext cx="1012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demanda</a:t>
            </a:r>
          </a:p>
        </p:txBody>
      </p:sp>
      <p:sp>
        <p:nvSpPr>
          <p:cNvPr id="72723" name="Rectangle 18"/>
          <p:cNvSpPr>
            <a:spLocks noChangeArrowheads="1"/>
          </p:cNvSpPr>
          <p:nvPr/>
        </p:nvSpPr>
        <p:spPr bwMode="auto">
          <a:xfrm>
            <a:off x="5715000" y="5105400"/>
            <a:ext cx="4746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150</a:t>
            </a:r>
          </a:p>
        </p:txBody>
      </p:sp>
      <p:sp>
        <p:nvSpPr>
          <p:cNvPr id="72724" name="Rectangle 19"/>
          <p:cNvSpPr>
            <a:spLocks noChangeArrowheads="1"/>
          </p:cNvSpPr>
          <p:nvPr/>
        </p:nvSpPr>
        <p:spPr bwMode="auto">
          <a:xfrm>
            <a:off x="4876800" y="2895600"/>
            <a:ext cx="377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60</a:t>
            </a:r>
          </a:p>
        </p:txBody>
      </p:sp>
      <p:sp>
        <p:nvSpPr>
          <p:cNvPr id="72725" name="Freeform 20"/>
          <p:cNvSpPr>
            <a:spLocks/>
          </p:cNvSpPr>
          <p:nvPr/>
        </p:nvSpPr>
        <p:spPr bwMode="auto">
          <a:xfrm>
            <a:off x="5197475" y="3025775"/>
            <a:ext cx="763588" cy="2058988"/>
          </a:xfrm>
          <a:custGeom>
            <a:avLst/>
            <a:gdLst>
              <a:gd name="T0" fmla="*/ 0 w 481"/>
              <a:gd name="T1" fmla="*/ 0 h 1297"/>
              <a:gd name="T2" fmla="*/ 2147483646 w 481"/>
              <a:gd name="T3" fmla="*/ 0 h 1297"/>
              <a:gd name="T4" fmla="*/ 2147483646 w 481"/>
              <a:gd name="T5" fmla="*/ 2147483646 h 12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1" h="1297">
                <a:moveTo>
                  <a:pt x="0" y="0"/>
                </a:moveTo>
                <a:lnTo>
                  <a:pt x="480" y="0"/>
                </a:lnTo>
                <a:lnTo>
                  <a:pt x="480" y="129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26" name="Line 21"/>
          <p:cNvSpPr>
            <a:spLocks noChangeShapeType="1"/>
          </p:cNvSpPr>
          <p:nvPr/>
        </p:nvSpPr>
        <p:spPr bwMode="auto">
          <a:xfrm>
            <a:off x="5181600" y="40386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27" name="Line 22"/>
          <p:cNvSpPr>
            <a:spLocks noChangeShapeType="1"/>
          </p:cNvSpPr>
          <p:nvPr/>
        </p:nvSpPr>
        <p:spPr bwMode="auto">
          <a:xfrm>
            <a:off x="5203825" y="2270125"/>
            <a:ext cx="1822450" cy="1822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28" name="Line 23"/>
          <p:cNvSpPr>
            <a:spLocks noChangeShapeType="1"/>
          </p:cNvSpPr>
          <p:nvPr/>
        </p:nvSpPr>
        <p:spPr bwMode="auto">
          <a:xfrm>
            <a:off x="5203825" y="2346325"/>
            <a:ext cx="984250" cy="2203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72729" name="Rectangle 24"/>
          <p:cNvSpPr>
            <a:spLocks noChangeArrowheads="1"/>
          </p:cNvSpPr>
          <p:nvPr/>
        </p:nvSpPr>
        <p:spPr bwMode="auto">
          <a:xfrm>
            <a:off x="6096000" y="4572000"/>
            <a:ext cx="16748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ingreso marginal</a:t>
            </a:r>
          </a:p>
        </p:txBody>
      </p:sp>
      <p:sp>
        <p:nvSpPr>
          <p:cNvPr id="72730" name="Rectangle 25"/>
          <p:cNvSpPr>
            <a:spLocks noChangeArrowheads="1"/>
          </p:cNvSpPr>
          <p:nvPr/>
        </p:nvSpPr>
        <p:spPr bwMode="auto">
          <a:xfrm>
            <a:off x="7162800" y="3733800"/>
            <a:ext cx="1552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costo marginal</a:t>
            </a:r>
            <a:r>
              <a:rPr lang="en-US" altLang="es-AR" sz="14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72731" name="Rectangle 26"/>
          <p:cNvSpPr>
            <a:spLocks noChangeArrowheads="1"/>
          </p:cNvSpPr>
          <p:nvPr/>
        </p:nvSpPr>
        <p:spPr bwMode="auto">
          <a:xfrm>
            <a:off x="5486400" y="2362200"/>
            <a:ext cx="10128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>
                <a:latin typeface="Tahoma" panose="020B0604030504040204" pitchFamily="34" charset="0"/>
              </a:rPr>
              <a:t>demanda</a:t>
            </a:r>
          </a:p>
        </p:txBody>
      </p:sp>
      <p:sp>
        <p:nvSpPr>
          <p:cNvPr id="72732" name="Rectangle 27"/>
          <p:cNvSpPr>
            <a:spLocks noChangeArrowheads="1"/>
          </p:cNvSpPr>
          <p:nvPr/>
        </p:nvSpPr>
        <p:spPr bwMode="auto">
          <a:xfrm>
            <a:off x="1828800" y="1752600"/>
            <a:ext cx="19685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 b="1">
                <a:latin typeface="Tahoma" panose="020B0604030504040204" pitchFamily="34" charset="0"/>
              </a:rPr>
              <a:t>(a) Competencia Perfecta</a:t>
            </a:r>
          </a:p>
        </p:txBody>
      </p:sp>
      <p:sp>
        <p:nvSpPr>
          <p:cNvPr id="72733" name="Rectangle 28"/>
          <p:cNvSpPr>
            <a:spLocks noChangeArrowheads="1"/>
          </p:cNvSpPr>
          <p:nvPr/>
        </p:nvSpPr>
        <p:spPr bwMode="auto">
          <a:xfrm>
            <a:off x="5257800" y="1828800"/>
            <a:ext cx="2079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600" b="1">
                <a:latin typeface="Tahoma" panose="020B0604030504040204" pitchFamily="34" charset="0"/>
              </a:rPr>
              <a:t>(b) Monopolio</a:t>
            </a:r>
          </a:p>
        </p:txBody>
      </p:sp>
      <p:sp>
        <p:nvSpPr>
          <p:cNvPr id="72734" name="Rectangle 29"/>
          <p:cNvSpPr>
            <a:spLocks noGrp="1" noChangeArrowheads="1"/>
          </p:cNvSpPr>
          <p:nvPr>
            <p:ph type="title" idx="4294967295"/>
          </p:nvPr>
        </p:nvSpPr>
        <p:spPr>
          <a:xfrm>
            <a:off x="682625" y="487363"/>
            <a:ext cx="8350250" cy="584200"/>
          </a:xfrm>
        </p:spPr>
        <p:txBody>
          <a:bodyPr/>
          <a:lstStyle/>
          <a:p>
            <a:pPr eaLnBrk="1" hangingPunct="1"/>
            <a:r>
              <a:rPr lang="es-AR" altLang="es-AR" sz="3200" dirty="0">
                <a:solidFill>
                  <a:schemeClr val="tx1"/>
                </a:solidFill>
              </a:rPr>
              <a:t>Estructura de Mercado, Inflación?</a:t>
            </a:r>
            <a:endParaRPr lang="es-AR" altLang="es-AR" sz="3200" dirty="0"/>
          </a:p>
        </p:txBody>
      </p:sp>
      <p:sp>
        <p:nvSpPr>
          <p:cNvPr id="72735" name="Rectangle 30"/>
          <p:cNvSpPr>
            <a:spLocks noChangeArrowheads="1"/>
          </p:cNvSpPr>
          <p:nvPr/>
        </p:nvSpPr>
        <p:spPr bwMode="auto">
          <a:xfrm rot="-5400000">
            <a:off x="3856038" y="3355975"/>
            <a:ext cx="15589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s-AR" sz="1400">
                <a:latin typeface="Tahoma" panose="020B0604030504040204" pitchFamily="34" charset="0"/>
              </a:rPr>
              <a:t>Precio ($/unidad)</a:t>
            </a:r>
          </a:p>
        </p:txBody>
      </p:sp>
      <p:sp>
        <p:nvSpPr>
          <p:cNvPr id="72736" name="Line 31"/>
          <p:cNvSpPr>
            <a:spLocks noChangeShapeType="1"/>
          </p:cNvSpPr>
          <p:nvPr/>
        </p:nvSpPr>
        <p:spPr bwMode="auto">
          <a:xfrm>
            <a:off x="1905000" y="3733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72737" name="Line 32"/>
          <p:cNvSpPr>
            <a:spLocks noChangeShapeType="1"/>
          </p:cNvSpPr>
          <p:nvPr/>
        </p:nvSpPr>
        <p:spPr bwMode="auto">
          <a:xfrm>
            <a:off x="5181600" y="3657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72738" name="Text Box 33"/>
          <p:cNvSpPr txBox="1">
            <a:spLocks noChangeArrowheads="1"/>
          </p:cNvSpPr>
          <p:nvPr/>
        </p:nvSpPr>
        <p:spPr bwMode="auto">
          <a:xfrm>
            <a:off x="1524000" y="3581400"/>
            <a:ext cx="3778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AR" sz="1200"/>
              <a:t>40</a:t>
            </a:r>
          </a:p>
        </p:txBody>
      </p:sp>
      <p:sp>
        <p:nvSpPr>
          <p:cNvPr id="72739" name="Text Box 34"/>
          <p:cNvSpPr txBox="1">
            <a:spLocks noChangeArrowheads="1"/>
          </p:cNvSpPr>
          <p:nvPr/>
        </p:nvSpPr>
        <p:spPr bwMode="auto">
          <a:xfrm>
            <a:off x="4800600" y="3530600"/>
            <a:ext cx="3778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AR" sz="1200"/>
              <a:t>40</a:t>
            </a:r>
          </a:p>
        </p:txBody>
      </p:sp>
      <p:sp>
        <p:nvSpPr>
          <p:cNvPr id="72740" name="Text Box 36"/>
          <p:cNvSpPr txBox="1">
            <a:spLocks noChangeArrowheads="1"/>
          </p:cNvSpPr>
          <p:nvPr/>
        </p:nvSpPr>
        <p:spPr bwMode="auto">
          <a:xfrm>
            <a:off x="4860925" y="2622550"/>
            <a:ext cx="3778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AR" sz="1200"/>
              <a:t>65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5181600" y="2819400"/>
            <a:ext cx="533400" cy="2286000"/>
            <a:chOff x="3264" y="1776"/>
            <a:chExt cx="336" cy="1440"/>
          </a:xfrm>
        </p:grpSpPr>
        <p:sp>
          <p:nvSpPr>
            <p:cNvPr id="72742" name="Line 35"/>
            <p:cNvSpPr>
              <a:spLocks noChangeShapeType="1"/>
            </p:cNvSpPr>
            <p:nvPr/>
          </p:nvSpPr>
          <p:spPr bwMode="auto">
            <a:xfrm flipH="1">
              <a:off x="3264" y="1776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AR"/>
            </a:p>
          </p:txBody>
        </p:sp>
        <p:sp>
          <p:nvSpPr>
            <p:cNvPr id="72743" name="Line 37"/>
            <p:cNvSpPr>
              <a:spLocks noChangeShapeType="1"/>
            </p:cNvSpPr>
            <p:nvPr/>
          </p:nvSpPr>
          <p:spPr bwMode="auto">
            <a:xfrm>
              <a:off x="3600" y="1776"/>
              <a:ext cx="0" cy="144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AR"/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FBE0F9-27A5-4B4D-B2E1-F6B7D0719982}" type="slidenum">
              <a:rPr lang="es-ES" altLang="es-A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s-ES" altLang="es-AR" sz="140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611188"/>
            <a:ext cx="8350250" cy="585787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s-AR" altLang="es-AR" sz="3200" dirty="0"/>
              <a:t>Discriminación de precios</a:t>
            </a:r>
            <a:endParaRPr lang="es-AR" altLang="es-AR" sz="3200" dirty="0">
              <a:solidFill>
                <a:schemeClr val="tx1"/>
              </a:solidFill>
            </a:endParaRP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00175"/>
            <a:ext cx="8110537" cy="4695825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s-AR" altLang="es-AR" sz="2800" dirty="0"/>
              <a:t>Ejemplo en </a:t>
            </a:r>
            <a:r>
              <a:rPr lang="es-AR" altLang="es-AR" sz="2800" dirty="0" err="1"/>
              <a:t>Mankiw</a:t>
            </a:r>
            <a:r>
              <a:rPr lang="es-AR" altLang="es-AR" sz="2800" dirty="0"/>
              <a:t>. Autor cobra 2.000.000 pesos por escribir un libro.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 dirty="0"/>
              <a:t>Editorial detecta que hay 100.000 lectores dispuestos a pagar hasta 30$ por ejemplar y 500.000 que pagarían como máximo 5$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 dirty="0"/>
              <a:t>La empresa tiene dos opciones: Fijar precio de 30 o de 5. El beneficio es mayor en la primera (1 millón vs. 0.5 millón) 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 dirty="0"/>
              <a:t>Pero ¿qué ocurre si los grupos de lectores están separados y no hay riesgo de reventa? Editorial obtendría 3.5 millones de beneficios y los consumidores estarían Mejor y se elimina la ineficiencia del monopolio</a:t>
            </a:r>
          </a:p>
          <a:p>
            <a:pPr eaLnBrk="1" hangingPunct="1">
              <a:lnSpc>
                <a:spcPct val="90000"/>
              </a:lnSpc>
            </a:pPr>
            <a:endParaRPr lang="es-AR" altLang="es-AR" sz="2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D287490-52BC-4FD0-8E4C-68A8A341B056}" type="slidenum">
              <a:rPr lang="es-ES" altLang="es-AR"/>
              <a:pPr/>
              <a:t>77</a:t>
            </a:fld>
            <a:endParaRPr lang="es-ES" altLang="es-AR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4800"/>
            <a:ext cx="8162925" cy="9906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>
            <a:normAutofit/>
          </a:bodyPr>
          <a:lstStyle/>
          <a:p>
            <a:pPr eaLnBrk="1" hangingPunct="1"/>
            <a:r>
              <a:rPr lang="es-AR" altLang="es-AR" sz="3600" dirty="0">
                <a:solidFill>
                  <a:schemeClr val="tx1"/>
                </a:solidFill>
              </a:rPr>
              <a:t>Ejemplos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lang="es-AR" altLang="es-AR" sz="2800" dirty="0"/>
              <a:t>Política de precios de las aerolíneas / hoteles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altLang="es-AR" sz="2800" dirty="0"/>
              <a:t>Costo total vs Costo variable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altLang="es-AR" sz="2800" dirty="0"/>
              <a:t>Pasajeros con diferente elasticidad de demanda</a:t>
            </a:r>
          </a:p>
          <a:p>
            <a:pPr lvl="1">
              <a:lnSpc>
                <a:spcPct val="90000"/>
              </a:lnSpc>
              <a:spcAft>
                <a:spcPts val="600"/>
              </a:spcAft>
            </a:pPr>
            <a:r>
              <a:rPr lang="es-AR" altLang="es-AR" sz="2400" dirty="0"/>
              <a:t>¿Cómo detectarlos? Ejemplo vuelos directos vs vuelos con escalas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altLang="es-AR" sz="2800" dirty="0"/>
              <a:t>Paquetes de cantidades a menor precio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altLang="es-AR" sz="2800" dirty="0"/>
              <a:t>Cupones de descuento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endParaRPr lang="es-AR" altLang="es-AR" sz="2400" dirty="0"/>
          </a:p>
          <a:p>
            <a:pPr>
              <a:lnSpc>
                <a:spcPct val="90000"/>
              </a:lnSpc>
            </a:pPr>
            <a:endParaRPr lang="es-AR" altLang="es-AR" sz="2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09B18AB-1689-4B7C-8D58-9777F7E52CAE}" type="slidenum">
              <a:rPr lang="es-ES" altLang="es-AR" sz="1400"/>
              <a:pPr/>
              <a:t>78</a:t>
            </a:fld>
            <a:endParaRPr lang="es-ES" altLang="es-AR" sz="1400"/>
          </a:p>
        </p:txBody>
      </p:sp>
      <p:sp>
        <p:nvSpPr>
          <p:cNvPr id="3789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4213" y="615950"/>
            <a:ext cx="8162925" cy="5842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 anchor="ctr"/>
          <a:lstStyle/>
          <a:p>
            <a:pPr eaLnBrk="1" hangingPunct="1"/>
            <a:r>
              <a:rPr lang="es-AR" altLang="es-AR" sz="3200" dirty="0"/>
              <a:t>Cartel</a:t>
            </a:r>
            <a:endParaRPr lang="en-US" altLang="es-AR" sz="3200" dirty="0">
              <a:solidFill>
                <a:schemeClr val="tx1"/>
              </a:solidFill>
            </a:endParaRPr>
          </a:p>
        </p:txBody>
      </p:sp>
      <p:sp>
        <p:nvSpPr>
          <p:cNvPr id="3789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4213" y="1905000"/>
            <a:ext cx="8339137" cy="4191000"/>
          </a:xfrm>
          <a:noFill/>
          <a:ln>
            <a:solidFill>
              <a:schemeClr val="tx1"/>
            </a:solidFill>
          </a:ln>
        </p:spPr>
        <p:txBody>
          <a:bodyPr lIns="92075" tIns="46038" rIns="92075" bIns="46038"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s-AR" altLang="es-AR" sz="2800" dirty="0"/>
              <a:t> Su efectividad depende de</a:t>
            </a:r>
          </a:p>
          <a:p>
            <a:pPr lvl="1" eaLnBrk="1" hangingPunct="1"/>
            <a:r>
              <a:rPr lang="es-AR" altLang="es-AR" sz="2400" dirty="0"/>
              <a:t>Número de vendedores en el mercado</a:t>
            </a:r>
          </a:p>
          <a:p>
            <a:pPr lvl="1" eaLnBrk="1" hangingPunct="1"/>
            <a:r>
              <a:rPr lang="es-AR" altLang="es-AR" sz="2400" dirty="0"/>
              <a:t>Capacidad de la industria vs demanda del mercado</a:t>
            </a:r>
          </a:p>
          <a:p>
            <a:pPr lvl="1" eaLnBrk="1" hangingPunct="1"/>
            <a:r>
              <a:rPr lang="es-AR" altLang="es-AR" sz="2400" dirty="0"/>
              <a:t>Monto de costos hundidos</a:t>
            </a:r>
          </a:p>
          <a:p>
            <a:pPr lvl="1" eaLnBrk="1" hangingPunct="1"/>
            <a:r>
              <a:rPr lang="es-AR" altLang="es-AR" sz="2400" dirty="0"/>
              <a:t>Barreras a la entrada y a la salida</a:t>
            </a:r>
          </a:p>
          <a:p>
            <a:pPr lvl="1" eaLnBrk="1" hangingPunct="1"/>
            <a:r>
              <a:rPr lang="es-AR" altLang="es-AR" sz="2400" dirty="0"/>
              <a:t>Naturaleza (homogeneidad) del producto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3"/>
          <p:cNvSpPr>
            <a:spLocks noChangeShapeType="1"/>
          </p:cNvSpPr>
          <p:nvPr/>
        </p:nvSpPr>
        <p:spPr bwMode="auto">
          <a:xfrm>
            <a:off x="0" y="2071688"/>
            <a:ext cx="8651875" cy="0"/>
          </a:xfrm>
          <a:prstGeom prst="line">
            <a:avLst/>
          </a:prstGeom>
          <a:noFill/>
          <a:ln w="44450">
            <a:solidFill>
              <a:srgbClr val="33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835589" name="Text Box 5"/>
          <p:cNvSpPr txBox="1">
            <a:spLocks noChangeArrowheads="1"/>
          </p:cNvSpPr>
          <p:nvPr/>
        </p:nvSpPr>
        <p:spPr bwMode="auto">
          <a:xfrm>
            <a:off x="609600" y="2819400"/>
            <a:ext cx="8137525" cy="461665"/>
          </a:xfrm>
          <a:prstGeom prst="rect">
            <a:avLst/>
          </a:prstGeom>
          <a:solidFill>
            <a:srgbClr val="0937B7"/>
          </a:solidFill>
          <a:ln w="9525">
            <a:solidFill>
              <a:srgbClr val="0937B7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609600" indent="-609600" algn="ctr">
              <a:spcBef>
                <a:spcPts val="600"/>
              </a:spcBef>
              <a:buFontTx/>
              <a:buNone/>
              <a:defRPr/>
            </a:pPr>
            <a:r>
              <a:rPr lang="es-MX" sz="2400" b="1" dirty="0">
                <a:solidFill>
                  <a:schemeClr val="bg1"/>
                </a:solidFill>
                <a:latin typeface="Times New Roman" charset="0"/>
              </a:rPr>
              <a:t>Cómo se utiliza la micro en la práctica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960A-F05D-419B-B699-494D53EC5C2E}" type="slidenum">
              <a:rPr lang="es-AR" smtClean="0"/>
              <a:pPr/>
              <a:t>79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60470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FB58C-5F29-4DAD-9D02-B4004D1CD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5206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br>
              <a:rPr lang="es-AR" sz="2800" dirty="0"/>
            </a:br>
            <a:r>
              <a:rPr lang="es-AR" sz="2800" dirty="0"/>
              <a:t>Algunos ejemplos de cómo se utiliza la microeconomía</a:t>
            </a:r>
            <a:br>
              <a:rPr lang="es-AR" sz="2800" dirty="0"/>
            </a:br>
            <a:endParaRPr lang="es-AR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C31950-EB75-4EAD-AA14-708A857CA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dirty="0"/>
              <a:t>•	Política Tributaria</a:t>
            </a:r>
          </a:p>
          <a:p>
            <a:pPr marL="857250" lvl="1" indent="-457200">
              <a:spcBef>
                <a:spcPts val="600"/>
              </a:spcBef>
              <a:spcAft>
                <a:spcPts val="600"/>
              </a:spcAft>
            </a:pPr>
            <a:r>
              <a:rPr lang="es-AR" dirty="0"/>
              <a:t>Distorsiones que generan los impuestos</a:t>
            </a:r>
          </a:p>
          <a:p>
            <a:pPr marL="857250" lvl="1" indent="-457200">
              <a:spcBef>
                <a:spcPts val="600"/>
              </a:spcBef>
              <a:spcAft>
                <a:spcPts val="600"/>
              </a:spcAft>
            </a:pPr>
            <a:r>
              <a:rPr lang="es-AR" dirty="0"/>
              <a:t>Impacto sobre la distribución del ingreso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</a:pPr>
            <a:r>
              <a:rPr lang="es-AR" dirty="0"/>
              <a:t>Diseño de seguros sociales (desempleo, accidentes de trabajo, retiro, salud, programas alimentarios)</a:t>
            </a:r>
          </a:p>
          <a:p>
            <a:pPr marL="857250" lvl="1" indent="-457200">
              <a:spcBef>
                <a:spcPts val="600"/>
              </a:spcBef>
              <a:spcAft>
                <a:spcPts val="600"/>
              </a:spcAft>
            </a:pPr>
            <a:r>
              <a:rPr lang="es-AR" dirty="0"/>
              <a:t>Atender problemas de incentivos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</a:pPr>
            <a:r>
              <a:rPr lang="es-AR" dirty="0"/>
              <a:t>Defensa de la competencia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C69986-DAC4-4430-ABD0-712E72E4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C6D85-4EBE-4711-BDAA-8F7336D1DD42}" type="slidenum">
              <a:rPr lang="es-AR" smtClean="0"/>
              <a:pPr/>
              <a:t>80</a:t>
            </a:fld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DA4E2D-A2E7-478F-AE1D-30ED3108694F}"/>
              </a:ext>
            </a:extLst>
          </p:cNvPr>
          <p:cNvSpPr/>
          <p:nvPr/>
        </p:nvSpPr>
        <p:spPr>
          <a:xfrm>
            <a:off x="457200" y="889844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696755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4569</TotalTime>
  <Words>5369</Words>
  <Application>Microsoft Office PowerPoint</Application>
  <PresentationFormat>On-screen Show (4:3)</PresentationFormat>
  <Paragraphs>945</Paragraphs>
  <Slides>80</Slides>
  <Notes>60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90" baseType="lpstr">
      <vt:lpstr>Arial</vt:lpstr>
      <vt:lpstr>Calibri</vt:lpstr>
      <vt:lpstr>Mathematica1</vt:lpstr>
      <vt:lpstr>Palatino</vt:lpstr>
      <vt:lpstr>Symbol</vt:lpstr>
      <vt:lpstr>Tahoma</vt:lpstr>
      <vt:lpstr>Times New Roman</vt:lpstr>
      <vt:lpstr>Wingdings</vt:lpstr>
      <vt:lpstr>Tema de Office</vt:lpstr>
      <vt:lpstr>EViews</vt:lpstr>
      <vt:lpstr>Economía de los Negocios   Profesores Daniel Artana y Ramiro Moya  Ayudante: Marcos Chaluh </vt:lpstr>
      <vt:lpstr>PowerPoint Presentation</vt:lpstr>
      <vt:lpstr>¿Qué estudiamos en economía?</vt:lpstr>
      <vt:lpstr>Diez principios generales</vt:lpstr>
      <vt:lpstr>Diez principios generales (cont.)</vt:lpstr>
      <vt:lpstr>¿Qué buscamos explicar en macro?</vt:lpstr>
      <vt:lpstr>PowerPoint Presentation</vt:lpstr>
      <vt:lpstr>Mercados: Competencia Perfecta - supuestos</vt:lpstr>
      <vt:lpstr>Información</vt:lpstr>
      <vt:lpstr>Equilibrio de Mercado (I)</vt:lpstr>
      <vt:lpstr>Equilibrio de Mercado (II)</vt:lpstr>
      <vt:lpstr>Demanda</vt:lpstr>
      <vt:lpstr>Demanda Individual (I)</vt:lpstr>
      <vt:lpstr>Demanda Individual (II)</vt:lpstr>
      <vt:lpstr>Curva de Demanda - La Pendiente</vt:lpstr>
      <vt:lpstr>Diferencias entre Consumidores (heterogeneidad)</vt:lpstr>
      <vt:lpstr>Demanda e Ingreso</vt:lpstr>
      <vt:lpstr>Otros factores que afectan la demanda</vt:lpstr>
      <vt:lpstr>Demanda por bienes durables</vt:lpstr>
      <vt:lpstr>PowerPoint Presentation</vt:lpstr>
      <vt:lpstr>Cómo se estima la demanda por métodos econométricos </vt:lpstr>
      <vt:lpstr>Cómo se estima la demanda por métodos econométricos </vt:lpstr>
      <vt:lpstr>Cómo se estima la demanda por métodos econométricos </vt:lpstr>
      <vt:lpstr>Cómo se estima la demanda por métodos econométricos </vt:lpstr>
      <vt:lpstr>PowerPoint Presentation</vt:lpstr>
      <vt:lpstr>Desplazamiento de Demanda (I)</vt:lpstr>
      <vt:lpstr>Desplazamiento de Demanda (II)</vt:lpstr>
      <vt:lpstr>PowerPoint Presentation</vt:lpstr>
      <vt:lpstr>PowerPoint Presentation</vt:lpstr>
      <vt:lpstr>Oferta</vt:lpstr>
      <vt:lpstr>Costo Fijo/Variable</vt:lpstr>
      <vt:lpstr>Costo de Oportunidad</vt:lpstr>
      <vt:lpstr>PowerPoint Presentation</vt:lpstr>
      <vt:lpstr>Tiempo de Ajuste</vt:lpstr>
      <vt:lpstr>Decisiones de Largo Plazo</vt:lpstr>
      <vt:lpstr>Oferta Individual</vt:lpstr>
      <vt:lpstr>Oferta de mercado</vt:lpstr>
      <vt:lpstr>Curva de Oferta de Mercado</vt:lpstr>
      <vt:lpstr>Oferta de Largo Plazo</vt:lpstr>
      <vt:lpstr>Curva de Oferta de Largo Plazo</vt:lpstr>
      <vt:lpstr>Elasticidad Precio de la Oferta</vt:lpstr>
      <vt:lpstr>Variación de Precios / Variación en beneficios</vt:lpstr>
      <vt:lpstr>Elasticidades Precio de la Demanda</vt:lpstr>
      <vt:lpstr>Elasticidades Precio de la Oferta</vt:lpstr>
      <vt:lpstr>Desplazamiento de Oferta: Impacto del Precio - Resumen</vt:lpstr>
      <vt:lpstr>PowerPoint Presentation</vt:lpstr>
      <vt:lpstr>PowerPoint Presentation</vt:lpstr>
      <vt:lpstr>Controles de precios</vt:lpstr>
      <vt:lpstr>PowerPoint Presentation</vt:lpstr>
      <vt:lpstr>PowerPoint Presentation</vt:lpstr>
      <vt:lpstr>Excedente del Consumidor</vt:lpstr>
      <vt:lpstr>Excedente del Productor</vt:lpstr>
      <vt:lpstr>PowerPoint Presentation</vt:lpstr>
      <vt:lpstr>PowerPoint Presentation</vt:lpstr>
      <vt:lpstr>PowerPoint Presentation</vt:lpstr>
      <vt:lpstr>PowerPoint Presentation</vt:lpstr>
      <vt:lpstr>Monopolio</vt:lpstr>
      <vt:lpstr>Poder de Mercado</vt:lpstr>
      <vt:lpstr>Fuentes de Poder de Mercado (I)</vt:lpstr>
      <vt:lpstr>Fuentes de Poder de Mercado (II)</vt:lpstr>
      <vt:lpstr>Monopolio: Demanda – Precio lineal</vt:lpstr>
      <vt:lpstr>Monopolio: Ingreso Marginal y Precio</vt:lpstr>
      <vt:lpstr>Demanda e Ingreso Marginal</vt:lpstr>
      <vt:lpstr>Monopolio: Maximización del Beneficio (I)</vt:lpstr>
      <vt:lpstr>Monopolio: Maximización del Beneficio (II)</vt:lpstr>
      <vt:lpstr>Monopolio: Maximización del Beneficio (III)</vt:lpstr>
      <vt:lpstr>Cambio en la Demanda</vt:lpstr>
      <vt:lpstr>Reducción de la Demanda</vt:lpstr>
      <vt:lpstr>Cambio en los Costos</vt:lpstr>
      <vt:lpstr>Reducción en el Costo Marginal</vt:lpstr>
      <vt:lpstr>Maximización de beneficios: elección de precios</vt:lpstr>
      <vt:lpstr>Elasticidad precio</vt:lpstr>
      <vt:lpstr>Estructura de Mercado, Monopolio vs Competencia</vt:lpstr>
      <vt:lpstr>Estructura de Mercado (II)</vt:lpstr>
      <vt:lpstr>Estructura de Mercado, Inflación?</vt:lpstr>
      <vt:lpstr>Discriminación de precios</vt:lpstr>
      <vt:lpstr>Ejemplos</vt:lpstr>
      <vt:lpstr>Cartel</vt:lpstr>
      <vt:lpstr>PowerPoint Presentation</vt:lpstr>
      <vt:lpstr> Algunos ejemplos de cómo se utiliza la microeconomía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MACROECONOMIA (MBA)  Daniel Artana</dc:title>
  <dc:creator>artana</dc:creator>
  <cp:lastModifiedBy>Serrizuela, Federico</cp:lastModifiedBy>
  <cp:revision>219</cp:revision>
  <dcterms:created xsi:type="dcterms:W3CDTF">2016-08-18T20:11:31Z</dcterms:created>
  <dcterms:modified xsi:type="dcterms:W3CDTF">2025-10-27T03:22:19Z</dcterms:modified>
</cp:coreProperties>
</file>